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괴산증평3 관리사무소입니다. 주민이 먼저 문제를 발견하고 제안해 주신 '민원소외세대 쪽지함 설치' 사례를 10분 이내로 발표드리겠습니다.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단지명, 활동 분야, 제안자와 참여자를 먼저 소개하고, 문제점 제안부터 효과 검증까지 4단계로 진행했음을 설명한다. 제안자가 관리사무소가 아닌 입주민이라는 점을 강조한다.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민원창구가 대면과 유선 중심이다 보니 직접 만나기 어렵거나 언어장애 등으로 대면 의사표현이 어려운 분들은 의견을 낼 수단이 없었다. 관리사무소는 이를 스스로 알기 어려웠고, 노인회장·이장·요양보호사와의 대화에서 처음 확인했다.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사례의 핵심은 주민주도입니다. 문제 발견, 문제 제기, 해결 아이디어 제안은 주민이 했고, 관리사무소는 그 의견을 정리해 제작·설치하고 접수 쪽지를 처리했습니다. 설치 후에도 약 30명의 주민이 실제 이용하며 정착했습니다.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법령상 제한이 없고 관리소 보유 소모품으로 간단히 만들 수 있어 즉시 개선 가능하다고 판단했습니다. 목표는 직원을 만나거나 전화하지 않고도 의견을 낼 수 있는 창구 마련이며, 소요 예산은 0원입니다.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 의견 수렴부터 매일 아침 쪽지함 확인까지 7단계로 진행했습니다. 제작과 설치는 9월 중순에 모두 이뤄졌고, 하순부터 현재까지 이용 안내와 모니터링을 이어가고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중순 관리사무소 외부 1개소에 쪽지함을 설치했습니다. 휴지곽과 종이박스로 직원이 직접 만들었고, 매일 아침 개방·확인하여 업무에 반영합니다. 대면민원 불편세대뿐 아니라 일반 입주민까지 약 30명이 이용했습니다.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1은 관리사무소 외부에 설치한 민원쪽지함입니다. 위쪽 표지판은 괴산증평3관리소임을 보여주고, 아래에 휴지곽으로 만든 쪽지함과 종이박스 쪽지통이 나란히 놓여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2는 쪽지함에 부착한 안내문입니다. '시설물 개선 바라는 점을 남겨주세요'라는 쉬운 문구와 그림으로 누구나 쉽게 참여하도록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주민 3명, 직원 4명이 함께했고 설치비는 0원이며 약 30명이 이용했습니다. 개선 전에는 대면·유선만 가능해 의견 전달이 어려웠지만 이제는 쪽지로도 민원을 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직원은 대면이 어려운 소외계층에게 별도 창구를 마련한 좋은 기회였다고 평가했고, 입주민은 관리소가 신경을 많이 쓴다고 말씀해 주셨습니다. 종합 검증 결과 목표는 달성, 효과성 우수, 확대 적용 가능성 매우 높음, 만족도 만족입니다.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 평가는 사각지대 도출, 원인에 맞춘 해결, 무예산 신속 개선, 현장 정착, 주민 인식 제고입니다. 미흡한 점은 설치 장소가 1개소뿐이라는 점이며, 각 동 등으로 확대하고 규격과 디자인 표준화를 검토하겠습니다.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주민이 발견하고 제안한 문제를 주민과 관리사무소가 함께 해결한 사례입니다. 앞으로 설치 장소를 넓히고 표준화하여 다른 단지로도 확산하겠습니다.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glass-dark"/>
          <p:cNvSpPr/>
          <p:nvPr/>
        </p:nvSpPr>
        <p:spPr>
          <a:xfrm>
            <a:off x="822960" y="914400"/>
            <a:ext cx="7680960" cy="5029200"/>
          </a:xfrm>
          <a:prstGeom prst="roundRect">
            <a:avLst>
              <a:gd name="adj" fmla="val 5455"/>
            </a:avLst>
          </a:prstGeom>
          <a:solidFill>
            <a:srgbClr val="FFFFFF">
              <a:alpha val="14000"/>
            </a:srgbClr>
          </a:solidFill>
          <a:ln w="15875">
            <a:solidFill>
              <a:srgbClr val="FFFFFF">
                <a:alpha val="45000"/>
              </a:srgbClr>
            </a:solidFill>
            <a:prstDash val="solid"/>
          </a:ln>
        </p:spPr>
      </p:sp>
      <p:sp>
        <p:nvSpPr>
          <p:cNvPr id="3" name="x"/>
          <p:cNvSpPr txBox="1"/>
          <p:nvPr/>
        </p:nvSpPr>
        <p:spPr>
          <a:xfrm>
            <a:off x="1371600" y="1417320"/>
            <a:ext cx="6858000" cy="365760"/>
          </a:xfrm>
          <a:prstGeom prst="rect">
            <a:avLst/>
          </a:prstGeom>
          <a:noFill/>
          <a:ln/>
        </p:spPr>
        <p:txBody>
          <a:bodyPr wrap="square" lIns="0" tIns="0" rIns="0" bIns="0" rtlCol="0" anchor="ctr"/>
          <a:lstStyle/>
          <a:p>
            <a:pPr indent="0" marL="0">
              <a:lnSpc>
                <a:spcPct val="113000"/>
              </a:lnSpc>
              <a:buNone/>
            </a:pPr>
            <a:r>
              <a:rPr lang="en-US" sz="1600" b="1" spc="200" kern="0" dirty="0">
                <a:solidFill>
                  <a:srgbClr val="C9F0C2"/>
                </a:solidFill>
              </a:rPr>
              <a:t>2026 주민주도 문제해결 대표 사례</a:t>
            </a:r>
            <a:endParaRPr lang="en-US" sz="1600" dirty="0"/>
          </a:p>
        </p:txBody>
      </p:sp>
      <p:sp>
        <p:nvSpPr>
          <p:cNvPr id="4" name="title"/>
          <p:cNvSpPr txBox="1"/>
          <p:nvPr/>
        </p:nvSpPr>
        <p:spPr>
          <a:xfrm>
            <a:off x="1371600" y="1920240"/>
            <a:ext cx="6858000" cy="1737360"/>
          </a:xfrm>
          <a:prstGeom prst="rect">
            <a:avLst/>
          </a:prstGeom>
          <a:noFill/>
          <a:ln/>
        </p:spPr>
        <p:txBody>
          <a:bodyPr wrap="square" lIns="0" tIns="0" rIns="0" bIns="0" rtlCol="0" anchor="t"/>
          <a:lstStyle/>
          <a:p>
            <a:pPr indent="0" marL="0">
              <a:lnSpc>
                <a:spcPct val="106000"/>
              </a:lnSpc>
              <a:buNone/>
            </a:pPr>
            <a:r>
              <a:rPr lang="en-US" sz="5200" b="1" spc="-120" kern="0" dirty="0">
                <a:solidFill>
                  <a:schemeClr val="bg1"/>
                </a:solidFill>
              </a:rPr>
              <a:t>민원소외세대</a:t>
            </a:r>
            <a:endParaRPr lang="en-US" sz="5200" dirty="0"/>
          </a:p>
          <a:p>
            <a:pPr indent="0" marL="0">
              <a:lnSpc>
                <a:spcPct val="106000"/>
              </a:lnSpc>
              <a:buNone/>
            </a:pPr>
            <a:r>
              <a:rPr lang="en-US" sz="5200" b="1" spc="-120" kern="0" dirty="0">
                <a:solidFill>
                  <a:schemeClr val="bg1"/>
                </a:solidFill>
              </a:rPr>
              <a:t>쪽지함 설치</a:t>
            </a:r>
            <a:endParaRPr lang="en-US" sz="5200" dirty="0"/>
          </a:p>
        </p:txBody>
      </p:sp>
      <p:sp>
        <p:nvSpPr>
          <p:cNvPr id="5" name="x"/>
          <p:cNvSpPr txBox="1"/>
          <p:nvPr/>
        </p:nvSpPr>
        <p:spPr>
          <a:xfrm>
            <a:off x="1371600" y="3794760"/>
            <a:ext cx="6858000" cy="777240"/>
          </a:xfrm>
          <a:prstGeom prst="rect">
            <a:avLst/>
          </a:prstGeom>
          <a:noFill/>
          <a:ln/>
        </p:spPr>
        <p:txBody>
          <a:bodyPr wrap="square" lIns="0" tIns="0" rIns="0" bIns="0" rtlCol="0" anchor="t"/>
          <a:lstStyle/>
          <a:p>
            <a:pPr indent="0" marL="0">
              <a:lnSpc>
                <a:spcPct val="113000"/>
              </a:lnSpc>
              <a:buNone/>
            </a:pPr>
            <a:r>
              <a:rPr lang="en-US" sz="1800" spc="-20" kern="0" dirty="0">
                <a:solidFill>
                  <a:srgbClr val="E3EEF9"/>
                </a:solidFill>
              </a:rPr>
              <a:t>만나지 않아도, 말하지 않아도</a:t>
            </a:r>
            <a:endParaRPr lang="en-US" sz="1800" dirty="0"/>
          </a:p>
          <a:p>
            <a:pPr indent="0" marL="0">
              <a:lnSpc>
                <a:spcPct val="113000"/>
              </a:lnSpc>
              <a:buNone/>
            </a:pPr>
            <a:r>
              <a:rPr lang="en-US" sz="1800" spc="-20" kern="0" dirty="0">
                <a:solidFill>
                  <a:srgbClr val="E3EEF9"/>
                </a:solidFill>
              </a:rPr>
              <a:t>이웃의 불편이 관리사무소에 닿는 길</a:t>
            </a:r>
            <a:endParaRPr lang="en-US" sz="1800" dirty="0"/>
          </a:p>
        </p:txBody>
      </p:sp>
      <p:sp>
        <p:nvSpPr>
          <p:cNvPr id="6" name="x"/>
          <p:cNvSpPr txBox="1"/>
          <p:nvPr/>
        </p:nvSpPr>
        <p:spPr>
          <a:xfrm>
            <a:off x="1371600" y="4617720"/>
            <a:ext cx="6858000" cy="365760"/>
          </a:xfrm>
          <a:prstGeom prst="rect">
            <a:avLst/>
          </a:prstGeom>
          <a:noFill/>
          <a:ln/>
        </p:spPr>
        <p:txBody>
          <a:bodyPr wrap="square" lIns="0" tIns="0" rIns="0" bIns="0" rtlCol="0" anchor="ctr"/>
          <a:lstStyle/>
          <a:p>
            <a:pPr indent="0" marL="0">
              <a:lnSpc>
                <a:spcPct val="113000"/>
              </a:lnSpc>
              <a:buNone/>
            </a:pPr>
            <a:r>
              <a:rPr lang="en-US" sz="1400" dirty="0">
                <a:solidFill>
                  <a:srgbClr val="C9F0C2"/>
                </a:solidFill>
              </a:rPr>
              <a:t>주민이 발견하고  ·  주민이 제안하고  ·  주민과 함께 만든 비대면 민원창구</a:t>
            </a:r>
            <a:endParaRPr lang="en-US" sz="1400" dirty="0"/>
          </a:p>
        </p:txBody>
      </p:sp>
      <p:sp>
        <p:nvSpPr>
          <p:cNvPr id="7" name="x"/>
          <p:cNvSpPr txBox="1"/>
          <p:nvPr/>
        </p:nvSpPr>
        <p:spPr>
          <a:xfrm>
            <a:off x="1371600" y="5166360"/>
            <a:ext cx="6858000" cy="640080"/>
          </a:xfrm>
          <a:prstGeom prst="rect">
            <a:avLst/>
          </a:prstGeom>
          <a:noFill/>
          <a:ln/>
        </p:spPr>
        <p:txBody>
          <a:bodyPr wrap="square" lIns="0" tIns="0" rIns="0" bIns="0" rtlCol="0" anchor="ctr"/>
          <a:lstStyle/>
          <a:p>
            <a:pPr indent="0" marL="0">
              <a:lnSpc>
                <a:spcPct val="113000"/>
              </a:lnSpc>
              <a:spcAft>
                <a:spcPts val="300"/>
              </a:spcAft>
              <a:buNone/>
            </a:pPr>
            <a:r>
              <a:rPr lang="en-US" sz="1400" b="1" dirty="0">
                <a:solidFill>
                  <a:schemeClr val="bg1"/>
                </a:solidFill>
              </a:rPr>
              <a:t>주택관리공단  괴산증평3</a:t>
            </a:r>
            <a:endParaRPr lang="en-US" sz="1400" dirty="0"/>
          </a:p>
          <a:p>
            <a:pPr indent="0" marL="0">
              <a:lnSpc>
                <a:spcPct val="113000"/>
              </a:lnSpc>
              <a:spcAft>
                <a:spcPts val="300"/>
              </a:spcAft>
              <a:buNone/>
            </a:pPr>
            <a:r>
              <a:rPr lang="en-US" sz="1400" dirty="0">
                <a:solidFill>
                  <a:schemeClr val="bg1"/>
                </a:solidFill>
              </a:rPr>
              <a:t>시설물 개선   |   2026. 9. 중순 ~ 현재</a:t>
            </a:r>
            <a:endParaRPr lang="en-US" sz="1400" dirty="0"/>
          </a:p>
        </p:txBody>
      </p:sp>
      <p:sp>
        <p:nvSpPr>
          <p:cNvPr id="8" name="glass-dark"/>
          <p:cNvSpPr/>
          <p:nvPr/>
        </p:nvSpPr>
        <p:spPr>
          <a:xfrm>
            <a:off x="9052560" y="2011680"/>
            <a:ext cx="2468880" cy="2468880"/>
          </a:xfrm>
          <a:prstGeom prst="roundRect">
            <a:avLst>
              <a:gd name="adj" fmla="val 12963"/>
            </a:avLst>
          </a:prstGeom>
          <a:solidFill>
            <a:srgbClr val="FFFFFF">
              <a:alpha val="14000"/>
            </a:srgbClr>
          </a:solidFill>
          <a:ln w="15875">
            <a:solidFill>
              <a:srgbClr val="FFFFFF">
                <a:alpha val="45000"/>
              </a:srgbClr>
            </a:solidFill>
            <a:prstDash val="solid"/>
          </a:ln>
        </p:spPr>
      </p:sp>
      <p:pic>
        <p:nvPicPr>
          <p:cNvPr id="9" name="x" descr="쪽지함">    </p:cNvPr>
          <p:cNvPicPr>
            <a:picLocks noChangeAspect="1"/>
          </p:cNvPicPr>
          <p:nvPr/>
        </p:nvPicPr>
        <p:blipFill>
          <a:blip r:embed="rId2"/>
          <a:stretch>
            <a:fillRect/>
          </a:stretch>
        </p:blipFill>
        <p:spPr>
          <a:xfrm>
            <a:off x="9646920" y="2606040"/>
            <a:ext cx="1280160" cy="128016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ppt_y+.04"/>
                                          </p:val>
                                        </p:tav>
                                        <p:tav tm="100000">
                                          <p:val>
                                            <p:strVal val="#ppt_y"/>
                                          </p:val>
                                        </p:tav>
                                      </p:tavLst>
                                    </p:anim>
                                    <p:animEffect transition="in" filter="fade">
                                      <p:cBhvr>
                                        <p:cTn id="9" dur="500"/>
                                        <p:tgtEl>
                                          <p:spTgt spid="2"/>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ppt_y+.04"/>
                                          </p:val>
                                        </p:tav>
                                        <p:tav tm="100000">
                                          <p:val>
                                            <p:strVal val="#ppt_y"/>
                                          </p:val>
                                        </p:tav>
                                      </p:tavLst>
                                    </p:anim>
                                    <p:animEffect transition="in" filter="fade">
                                      <p:cBhvr>
                                        <p:cTn id="14" dur="500"/>
                                        <p:tgtEl>
                                          <p:spTgt spid="3"/>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ppt_y+.04"/>
                                          </p:val>
                                        </p:tav>
                                        <p:tav tm="100000">
                                          <p:val>
                                            <p:strVal val="#ppt_y"/>
                                          </p:val>
                                        </p:tav>
                                      </p:tavLst>
                                    </p:anim>
                                    <p:animEffect transition="in" filter="fade">
                                      <p:cBhvr>
                                        <p:cTn id="19" dur="500"/>
                                        <p:tgtEl>
                                          <p:spTgt spid="4"/>
                                        </p:tgtEl>
                                      </p:cBhvr>
                                    </p:animEffect>
                                  </p:childTnLst>
                                </p:cTn>
                              </p:par>
                              <p:par>
                                <p:cTn id="20" presetID="42" presetClass="entr" presetSubtype="0" fill="hold" grpId="0" nodeType="withEffect">
                                  <p:stCondLst>
                                    <p:cond delay="44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ppt_y+.04"/>
                                          </p:val>
                                        </p:tav>
                                        <p:tav tm="100000">
                                          <p:val>
                                            <p:strVal val="#ppt_y"/>
                                          </p:val>
                                        </p:tav>
                                      </p:tavLst>
                                    </p:anim>
                                    <p:animEffect transition="in" filter="fade">
                                      <p:cBhvr>
                                        <p:cTn id="24" dur="500"/>
                                        <p:tgtEl>
                                          <p:spTgt spid="5"/>
                                        </p:tgtEl>
                                      </p:cBhvr>
                                    </p:animEffect>
                                  </p:childTnLst>
                                </p:cTn>
                              </p:par>
                              <p:par>
                                <p:cTn id="25" presetID="42" presetClass="entr" presetSubtype="0" fill="hold" grpId="0" nodeType="withEffect">
                                  <p:stCondLst>
                                    <p:cond delay="66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ppt_y+.04"/>
                                          </p:val>
                                        </p:tav>
                                        <p:tav tm="100000">
                                          <p:val>
                                            <p:strVal val="#ppt_y"/>
                                          </p:val>
                                        </p:tav>
                                      </p:tavLst>
                                    </p:anim>
                                    <p:animEffect transition="in" filter="fade">
                                      <p:cBhvr>
                                        <p:cTn id="29" dur="500"/>
                                        <p:tgtEl>
                                          <p:spTgt spid="6"/>
                                        </p:tgtEl>
                                      </p:cBhvr>
                                    </p:animEffect>
                                  </p:childTnLst>
                                </p:cTn>
                              </p:par>
                              <p:par>
                                <p:cTn id="30" presetID="42" presetClass="entr" presetSubtype="0" fill="hold" grpId="0" nodeType="withEffect">
                                  <p:stCondLst>
                                    <p:cond delay="88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ppt_y+.04"/>
                                          </p:val>
                                        </p:tav>
                                        <p:tav tm="100000">
                                          <p:val>
                                            <p:strVal val="#ppt_y"/>
                                          </p:val>
                                        </p:tav>
                                      </p:tavLst>
                                    </p:anim>
                                    <p:animEffect transition="in" filter="fade">
                                      <p:cBhvr>
                                        <p:cTn id="34" dur="500"/>
                                        <p:tgtEl>
                                          <p:spTgt spid="7"/>
                                        </p:tgtEl>
                                      </p:cBhvr>
                                    </p:animEffect>
                                  </p:childTnLst>
                                </p:cTn>
                              </p:par>
                              <p:par>
                                <p:cTn id="35" presetID="42" presetClass="entr" presetSubtype="0" fill="hold" grpId="0" nodeType="withEffect">
                                  <p:stCondLst>
                                    <p:cond delay="110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ppt_y+.04"/>
                                          </p:val>
                                        </p:tav>
                                        <p:tav tm="100000">
                                          <p:val>
                                            <p:strVal val="#ppt_y"/>
                                          </p:val>
                                        </p:tav>
                                      </p:tavLst>
                                    </p:anim>
                                    <p:animEffect transition="in" filter="fade">
                                      <p:cBhvr>
                                        <p:cTn id="39" dur="500"/>
                                        <p:tgtEl>
                                          <p:spTgt spid="8"/>
                                        </p:tgtEl>
                                      </p:cBhvr>
                                    </p:animEffect>
                                  </p:childTnLst>
                                </p:cTn>
                              </p:par>
                              <p:par>
                                <p:cTn id="40" presetID="42" presetClass="entr" presetSubtype="0" fill="hold" nodeType="withEffect">
                                  <p:stCondLst>
                                    <p:cond delay="110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ppt_y+.04"/>
                                          </p:val>
                                        </p:tav>
                                        <p:tav tm="100000">
                                          <p:val>
                                            <p:strVal val="#ppt_y"/>
                                          </p:val>
                                        </p:tav>
                                      </p:tavLst>
                                    </p:anim>
                                    <p:animEffect transition="in" filter="fade">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02</a:t>
            </a:r>
            <a:pPr indent="0" marL="0">
              <a:lnSpc>
                <a:spcPct val="113000"/>
              </a:lnSpc>
              <a:buNone/>
            </a:pPr>
            <a:r>
              <a:rPr lang="en-US" sz="1200" b="1" spc="200" kern="0" dirty="0">
                <a:solidFill>
                  <a:schemeClr val="accent5"/>
                </a:solidFill>
              </a:rPr>
              <a:t>   활동 개요</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활동 개요 – 주민의 제안에서 시작된 4단계 추진</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2 / 13</a:t>
            </a:r>
            <a:endParaRPr lang="en-US" sz="1000" dirty="0"/>
          </a:p>
        </p:txBody>
      </p:sp>
      <p:sp>
        <p:nvSpPr>
          <p:cNvPr id="8" name="glass-white"/>
          <p:cNvSpPr/>
          <p:nvPr/>
        </p:nvSpPr>
        <p:spPr>
          <a:xfrm>
            <a:off x="594360" y="1600200"/>
            <a:ext cx="5394960" cy="4617720"/>
          </a:xfrm>
          <a:prstGeom prst="roundRect">
            <a:avLst>
              <a:gd name="adj" fmla="val 316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9" name="x"/>
          <p:cNvSpPr txBox="1"/>
          <p:nvPr/>
        </p:nvSpPr>
        <p:spPr>
          <a:xfrm>
            <a:off x="868680" y="1783080"/>
            <a:ext cx="1280160" cy="731520"/>
          </a:xfrm>
          <a:prstGeom prst="rect">
            <a:avLst/>
          </a:prstGeom>
          <a:noFill/>
          <a:ln/>
        </p:spPr>
        <p:txBody>
          <a:bodyPr wrap="square" lIns="0" tIns="0" rIns="0" bIns="0" rtlCol="0" anchor="ctr"/>
          <a:lstStyle/>
          <a:p>
            <a:pPr indent="0" marL="0">
              <a:lnSpc>
                <a:spcPct val="113000"/>
              </a:lnSpc>
              <a:buNone/>
            </a:pPr>
            <a:r>
              <a:rPr lang="en-US" sz="1400" b="1" dirty="0">
                <a:solidFill>
                  <a:schemeClr val="accent1"/>
                </a:solidFill>
              </a:rPr>
              <a:t>단지명</a:t>
            </a:r>
            <a:endParaRPr lang="en-US" sz="1400" dirty="0"/>
          </a:p>
        </p:txBody>
      </p:sp>
      <p:sp>
        <p:nvSpPr>
          <p:cNvPr id="10" name="x"/>
          <p:cNvSpPr txBox="1"/>
          <p:nvPr/>
        </p:nvSpPr>
        <p:spPr>
          <a:xfrm>
            <a:off x="2240280" y="1783080"/>
            <a:ext cx="3474720" cy="731520"/>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괴산증평3</a:t>
            </a:r>
            <a:endParaRPr lang="en-US" sz="1400" dirty="0"/>
          </a:p>
        </p:txBody>
      </p:sp>
      <p:sp>
        <p:nvSpPr>
          <p:cNvPr id="11" name="x"/>
          <p:cNvSpPr/>
          <p:nvPr/>
        </p:nvSpPr>
        <p:spPr>
          <a:xfrm>
            <a:off x="868680" y="2583180"/>
            <a:ext cx="4846320" cy="0"/>
          </a:xfrm>
          <a:prstGeom prst="line">
            <a:avLst/>
          </a:prstGeom>
          <a:noFill/>
          <a:ln w="6350">
            <a:solidFill>
              <a:srgbClr val="0F64AF">
                <a:alpha val="30000"/>
              </a:srgbClr>
            </a:solidFill>
            <a:prstDash val="solid"/>
          </a:ln>
        </p:spPr>
      </p:sp>
      <p:sp>
        <p:nvSpPr>
          <p:cNvPr id="12" name="x"/>
          <p:cNvSpPr txBox="1"/>
          <p:nvPr/>
        </p:nvSpPr>
        <p:spPr>
          <a:xfrm>
            <a:off x="868680" y="2651760"/>
            <a:ext cx="1280160" cy="731520"/>
          </a:xfrm>
          <a:prstGeom prst="rect">
            <a:avLst/>
          </a:prstGeom>
          <a:noFill/>
          <a:ln/>
        </p:spPr>
        <p:txBody>
          <a:bodyPr wrap="square" lIns="0" tIns="0" rIns="0" bIns="0" rtlCol="0" anchor="ctr"/>
          <a:lstStyle/>
          <a:p>
            <a:pPr indent="0" marL="0">
              <a:lnSpc>
                <a:spcPct val="113000"/>
              </a:lnSpc>
              <a:buNone/>
            </a:pPr>
            <a:r>
              <a:rPr lang="en-US" sz="1400" b="1" dirty="0">
                <a:solidFill>
                  <a:schemeClr val="accent1"/>
                </a:solidFill>
              </a:rPr>
              <a:t>활동 분야</a:t>
            </a:r>
            <a:endParaRPr lang="en-US" sz="1400" dirty="0"/>
          </a:p>
        </p:txBody>
      </p:sp>
      <p:sp>
        <p:nvSpPr>
          <p:cNvPr id="13" name="x"/>
          <p:cNvSpPr txBox="1"/>
          <p:nvPr/>
        </p:nvSpPr>
        <p:spPr>
          <a:xfrm>
            <a:off x="2240280" y="2651760"/>
            <a:ext cx="3474720" cy="731520"/>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시설물 개선 (층간소음·단지관리·주거복지·단지행사·공모사업 등 해당 없음)</a:t>
            </a:r>
            <a:endParaRPr lang="en-US" sz="1400" dirty="0"/>
          </a:p>
        </p:txBody>
      </p:sp>
      <p:sp>
        <p:nvSpPr>
          <p:cNvPr id="14" name="x"/>
          <p:cNvSpPr/>
          <p:nvPr/>
        </p:nvSpPr>
        <p:spPr>
          <a:xfrm>
            <a:off x="868680" y="3451860"/>
            <a:ext cx="4846320" cy="0"/>
          </a:xfrm>
          <a:prstGeom prst="line">
            <a:avLst/>
          </a:prstGeom>
          <a:noFill/>
          <a:ln w="6350">
            <a:solidFill>
              <a:srgbClr val="0F64AF">
                <a:alpha val="30000"/>
              </a:srgbClr>
            </a:solidFill>
            <a:prstDash val="solid"/>
          </a:ln>
        </p:spPr>
      </p:sp>
      <p:sp>
        <p:nvSpPr>
          <p:cNvPr id="15" name="x"/>
          <p:cNvSpPr txBox="1"/>
          <p:nvPr/>
        </p:nvSpPr>
        <p:spPr>
          <a:xfrm>
            <a:off x="868680" y="3520440"/>
            <a:ext cx="1280160" cy="731520"/>
          </a:xfrm>
          <a:prstGeom prst="rect">
            <a:avLst/>
          </a:prstGeom>
          <a:noFill/>
          <a:ln/>
        </p:spPr>
        <p:txBody>
          <a:bodyPr wrap="square" lIns="0" tIns="0" rIns="0" bIns="0" rtlCol="0" anchor="ctr"/>
          <a:lstStyle/>
          <a:p>
            <a:pPr indent="0" marL="0">
              <a:lnSpc>
                <a:spcPct val="113000"/>
              </a:lnSpc>
              <a:buNone/>
            </a:pPr>
            <a:r>
              <a:rPr lang="en-US" sz="1400" b="1" dirty="0">
                <a:solidFill>
                  <a:schemeClr val="accent1"/>
                </a:solidFill>
              </a:rPr>
              <a:t>제안자</a:t>
            </a:r>
            <a:endParaRPr lang="en-US" sz="1400" dirty="0"/>
          </a:p>
        </p:txBody>
      </p:sp>
      <p:sp>
        <p:nvSpPr>
          <p:cNvPr id="16" name="x"/>
          <p:cNvSpPr txBox="1"/>
          <p:nvPr/>
        </p:nvSpPr>
        <p:spPr>
          <a:xfrm>
            <a:off x="2240280" y="3520440"/>
            <a:ext cx="3474720" cy="731520"/>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입주민(노인회장, 이장) 및 요양보호사</a:t>
            </a:r>
            <a:endParaRPr lang="en-US" sz="1400" dirty="0"/>
          </a:p>
        </p:txBody>
      </p:sp>
      <p:sp>
        <p:nvSpPr>
          <p:cNvPr id="17" name="x"/>
          <p:cNvSpPr/>
          <p:nvPr/>
        </p:nvSpPr>
        <p:spPr>
          <a:xfrm>
            <a:off x="868680" y="4320540"/>
            <a:ext cx="4846320" cy="0"/>
          </a:xfrm>
          <a:prstGeom prst="line">
            <a:avLst/>
          </a:prstGeom>
          <a:noFill/>
          <a:ln w="6350">
            <a:solidFill>
              <a:srgbClr val="0F64AF">
                <a:alpha val="30000"/>
              </a:srgbClr>
            </a:solidFill>
            <a:prstDash val="solid"/>
          </a:ln>
        </p:spPr>
      </p:sp>
      <p:sp>
        <p:nvSpPr>
          <p:cNvPr id="18" name="x"/>
          <p:cNvSpPr txBox="1"/>
          <p:nvPr/>
        </p:nvSpPr>
        <p:spPr>
          <a:xfrm>
            <a:off x="868680" y="4389120"/>
            <a:ext cx="1280160" cy="731520"/>
          </a:xfrm>
          <a:prstGeom prst="rect">
            <a:avLst/>
          </a:prstGeom>
          <a:noFill/>
          <a:ln/>
        </p:spPr>
        <p:txBody>
          <a:bodyPr wrap="square" lIns="0" tIns="0" rIns="0" bIns="0" rtlCol="0" anchor="ctr"/>
          <a:lstStyle/>
          <a:p>
            <a:pPr indent="0" marL="0">
              <a:lnSpc>
                <a:spcPct val="113000"/>
              </a:lnSpc>
              <a:buNone/>
            </a:pPr>
            <a:r>
              <a:rPr lang="en-US" sz="1400" b="1" dirty="0">
                <a:solidFill>
                  <a:schemeClr val="accent1"/>
                </a:solidFill>
              </a:rPr>
              <a:t>참여자</a:t>
            </a:r>
            <a:endParaRPr lang="en-US" sz="1400" dirty="0"/>
          </a:p>
        </p:txBody>
      </p:sp>
      <p:sp>
        <p:nvSpPr>
          <p:cNvPr id="19" name="x"/>
          <p:cNvSpPr txBox="1"/>
          <p:nvPr/>
        </p:nvSpPr>
        <p:spPr>
          <a:xfrm>
            <a:off x="2240280" y="4389120"/>
            <a:ext cx="3474720" cy="731520"/>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관리사무소 직원 4명, 입주민 3명</a:t>
            </a:r>
            <a:endParaRPr lang="en-US" sz="1400" dirty="0"/>
          </a:p>
        </p:txBody>
      </p:sp>
      <p:sp>
        <p:nvSpPr>
          <p:cNvPr id="20" name="x"/>
          <p:cNvSpPr/>
          <p:nvPr/>
        </p:nvSpPr>
        <p:spPr>
          <a:xfrm>
            <a:off x="868680" y="5189220"/>
            <a:ext cx="4846320" cy="0"/>
          </a:xfrm>
          <a:prstGeom prst="line">
            <a:avLst/>
          </a:prstGeom>
          <a:noFill/>
          <a:ln w="6350">
            <a:solidFill>
              <a:srgbClr val="0F64AF">
                <a:alpha val="30000"/>
              </a:srgbClr>
            </a:solidFill>
            <a:prstDash val="solid"/>
          </a:ln>
        </p:spPr>
      </p:sp>
      <p:sp>
        <p:nvSpPr>
          <p:cNvPr id="21" name="x"/>
          <p:cNvSpPr txBox="1"/>
          <p:nvPr/>
        </p:nvSpPr>
        <p:spPr>
          <a:xfrm>
            <a:off x="868680" y="5257800"/>
            <a:ext cx="1280160" cy="731520"/>
          </a:xfrm>
          <a:prstGeom prst="rect">
            <a:avLst/>
          </a:prstGeom>
          <a:noFill/>
          <a:ln/>
        </p:spPr>
        <p:txBody>
          <a:bodyPr wrap="square" lIns="0" tIns="0" rIns="0" bIns="0" rtlCol="0" anchor="ctr"/>
          <a:lstStyle/>
          <a:p>
            <a:pPr indent="0" marL="0">
              <a:lnSpc>
                <a:spcPct val="113000"/>
              </a:lnSpc>
              <a:buNone/>
            </a:pPr>
            <a:r>
              <a:rPr lang="en-US" sz="1400" b="1" dirty="0">
                <a:solidFill>
                  <a:schemeClr val="accent1"/>
                </a:solidFill>
              </a:rPr>
              <a:t>활동 기간</a:t>
            </a:r>
            <a:endParaRPr lang="en-US" sz="1400" dirty="0"/>
          </a:p>
        </p:txBody>
      </p:sp>
      <p:sp>
        <p:nvSpPr>
          <p:cNvPr id="22" name="x"/>
          <p:cNvSpPr txBox="1"/>
          <p:nvPr/>
        </p:nvSpPr>
        <p:spPr>
          <a:xfrm>
            <a:off x="2240280" y="5257800"/>
            <a:ext cx="3474720" cy="731520"/>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2026. 9. 중순 ~ 현재</a:t>
            </a:r>
            <a:endParaRPr lang="en-US" sz="1400" dirty="0"/>
          </a:p>
        </p:txBody>
      </p:sp>
      <p:sp>
        <p:nvSpPr>
          <p:cNvPr id="23" name="glass-blue"/>
          <p:cNvSpPr/>
          <p:nvPr/>
        </p:nvSpPr>
        <p:spPr>
          <a:xfrm>
            <a:off x="6309360" y="1600200"/>
            <a:ext cx="5287975" cy="1051560"/>
          </a:xfrm>
          <a:prstGeom prst="roundRect">
            <a:avLst>
              <a:gd name="adj" fmla="val 13913"/>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4" name="stepNo"/>
          <p:cNvSpPr txBox="1"/>
          <p:nvPr/>
        </p:nvSpPr>
        <p:spPr>
          <a:xfrm>
            <a:off x="6537960" y="1874520"/>
            <a:ext cx="502920" cy="502920"/>
          </a:xfrm>
          <a:prstGeom prst="ellipse">
            <a:avLst/>
          </a:prstGeom>
          <a:solidFill>
            <a:schemeClr val="accent1"/>
          </a:solidFill>
          <a:ln/>
        </p:spPr>
        <p:txBody>
          <a:bodyPr wrap="square" lIns="0" tIns="0" rIns="0" bIns="0" rtlCol="0" anchor="ctr"/>
          <a:lstStyle/>
          <a:p>
            <a:pPr algn="ctr" indent="0" marL="0">
              <a:lnSpc>
                <a:spcPct val="113000"/>
              </a:lnSpc>
              <a:buNone/>
            </a:pPr>
            <a:r>
              <a:rPr lang="en-US" sz="1800" b="1" spc="-20" kern="0" dirty="0">
                <a:solidFill>
                  <a:schemeClr val="bg1"/>
                </a:solidFill>
              </a:rPr>
              <a:t>1</a:t>
            </a:r>
            <a:endParaRPr lang="en-US" sz="1800" dirty="0"/>
          </a:p>
        </p:txBody>
      </p:sp>
      <p:sp>
        <p:nvSpPr>
          <p:cNvPr id="25" name="x"/>
          <p:cNvSpPr txBox="1"/>
          <p:nvPr/>
        </p:nvSpPr>
        <p:spPr>
          <a:xfrm>
            <a:off x="7223760" y="1673352"/>
            <a:ext cx="4190695" cy="914400"/>
          </a:xfrm>
          <a:prstGeom prst="rect">
            <a:avLst/>
          </a:prstGeom>
          <a:noFill/>
          <a:ln/>
        </p:spPr>
        <p:txBody>
          <a:bodyPr wrap="square" lIns="0" tIns="0" rIns="0" bIns="0" rtlCol="0" anchor="ctr"/>
          <a:lstStyle/>
          <a:p>
            <a:pPr indent="0" marL="0">
              <a:lnSpc>
                <a:spcPct val="113000"/>
              </a:lnSpc>
              <a:buNone/>
            </a:pPr>
            <a:r>
              <a:rPr lang="en-US" sz="1600" b="1" dirty="0">
                <a:solidFill>
                  <a:schemeClr val="accent3"/>
                </a:solidFill>
              </a:rPr>
              <a:t>문제점 제안</a:t>
            </a:r>
            <a:endParaRPr lang="en-US" sz="1600" dirty="0"/>
          </a:p>
          <a:p>
            <a:pPr indent="0" marL="0">
              <a:lnSpc>
                <a:spcPct val="113000"/>
              </a:lnSpc>
              <a:buNone/>
            </a:pPr>
            <a:r>
              <a:rPr lang="en-US" sz="1400" dirty="0">
                <a:solidFill>
                  <a:schemeClr val="tx1"/>
                </a:solidFill>
              </a:rPr>
              <a:t>입주민·요양보호사가 대면민원 불편세대의 어려움을 전달</a:t>
            </a:r>
            <a:endParaRPr lang="en-US" sz="1600" dirty="0"/>
          </a:p>
        </p:txBody>
      </p:sp>
      <p:sp>
        <p:nvSpPr>
          <p:cNvPr id="26" name="glass-green"/>
          <p:cNvSpPr/>
          <p:nvPr/>
        </p:nvSpPr>
        <p:spPr>
          <a:xfrm>
            <a:off x="6309360" y="2788920"/>
            <a:ext cx="5287975" cy="1051560"/>
          </a:xfrm>
          <a:prstGeom prst="roundRect">
            <a:avLst>
              <a:gd name="adj" fmla="val 13913"/>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7" name="stepNo"/>
          <p:cNvSpPr txBox="1"/>
          <p:nvPr/>
        </p:nvSpPr>
        <p:spPr>
          <a:xfrm>
            <a:off x="6537960" y="3063240"/>
            <a:ext cx="502920" cy="502920"/>
          </a:xfrm>
          <a:prstGeom prst="ellipse">
            <a:avLst/>
          </a:prstGeom>
          <a:solidFill>
            <a:schemeClr val="accent2"/>
          </a:solidFill>
          <a:ln/>
        </p:spPr>
        <p:txBody>
          <a:bodyPr wrap="square" lIns="0" tIns="0" rIns="0" bIns="0" rtlCol="0" anchor="ctr"/>
          <a:lstStyle/>
          <a:p>
            <a:pPr algn="ctr" indent="0" marL="0">
              <a:lnSpc>
                <a:spcPct val="113000"/>
              </a:lnSpc>
              <a:buNone/>
            </a:pPr>
            <a:r>
              <a:rPr lang="en-US" sz="1800" b="1" spc="-20" kern="0" dirty="0">
                <a:solidFill>
                  <a:schemeClr val="bg1"/>
                </a:solidFill>
              </a:rPr>
              <a:t>2</a:t>
            </a:r>
            <a:endParaRPr lang="en-US" sz="1800" dirty="0"/>
          </a:p>
        </p:txBody>
      </p:sp>
      <p:sp>
        <p:nvSpPr>
          <p:cNvPr id="28" name="x"/>
          <p:cNvSpPr txBox="1"/>
          <p:nvPr/>
        </p:nvSpPr>
        <p:spPr>
          <a:xfrm>
            <a:off x="7223760" y="2862072"/>
            <a:ext cx="4190695" cy="914400"/>
          </a:xfrm>
          <a:prstGeom prst="rect">
            <a:avLst/>
          </a:prstGeom>
          <a:noFill/>
          <a:ln/>
        </p:spPr>
        <p:txBody>
          <a:bodyPr wrap="square" lIns="0" tIns="0" rIns="0" bIns="0" rtlCol="0" anchor="ctr"/>
          <a:lstStyle/>
          <a:p>
            <a:pPr indent="0" marL="0">
              <a:lnSpc>
                <a:spcPct val="113000"/>
              </a:lnSpc>
              <a:buNone/>
            </a:pPr>
            <a:r>
              <a:rPr lang="en-US" sz="1600" b="1" dirty="0">
                <a:solidFill>
                  <a:schemeClr val="accent3"/>
                </a:solidFill>
              </a:rPr>
              <a:t>해결 방안 기획</a:t>
            </a:r>
            <a:endParaRPr lang="en-US" sz="1600" dirty="0"/>
          </a:p>
          <a:p>
            <a:pPr indent="0" marL="0">
              <a:lnSpc>
                <a:spcPct val="113000"/>
              </a:lnSpc>
              <a:buNone/>
            </a:pPr>
            <a:r>
              <a:rPr lang="en-US" sz="1400" dirty="0">
                <a:solidFill>
                  <a:schemeClr val="tx1"/>
                </a:solidFill>
              </a:rPr>
              <a:t>주민 의견과 현장 확인을 바탕으로 관리사무소와 함께 방안 검토</a:t>
            </a:r>
            <a:endParaRPr lang="en-US" sz="1600" dirty="0"/>
          </a:p>
        </p:txBody>
      </p:sp>
      <p:sp>
        <p:nvSpPr>
          <p:cNvPr id="29" name="glass-blue"/>
          <p:cNvSpPr/>
          <p:nvPr/>
        </p:nvSpPr>
        <p:spPr>
          <a:xfrm>
            <a:off x="6309360" y="3977640"/>
            <a:ext cx="5287975" cy="1051560"/>
          </a:xfrm>
          <a:prstGeom prst="roundRect">
            <a:avLst>
              <a:gd name="adj" fmla="val 13913"/>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30" name="stepNo"/>
          <p:cNvSpPr txBox="1"/>
          <p:nvPr/>
        </p:nvSpPr>
        <p:spPr>
          <a:xfrm>
            <a:off x="6537960" y="4251960"/>
            <a:ext cx="502920" cy="502920"/>
          </a:xfrm>
          <a:prstGeom prst="ellipse">
            <a:avLst/>
          </a:prstGeom>
          <a:solidFill>
            <a:schemeClr val="accent1"/>
          </a:solidFill>
          <a:ln/>
        </p:spPr>
        <p:txBody>
          <a:bodyPr wrap="square" lIns="0" tIns="0" rIns="0" bIns="0" rtlCol="0" anchor="ctr"/>
          <a:lstStyle/>
          <a:p>
            <a:pPr algn="ctr" indent="0" marL="0">
              <a:lnSpc>
                <a:spcPct val="113000"/>
              </a:lnSpc>
              <a:buNone/>
            </a:pPr>
            <a:r>
              <a:rPr lang="en-US" sz="1800" b="1" spc="-20" kern="0" dirty="0">
                <a:solidFill>
                  <a:schemeClr val="bg1"/>
                </a:solidFill>
              </a:rPr>
              <a:t>3</a:t>
            </a:r>
            <a:endParaRPr lang="en-US" sz="1800" dirty="0"/>
          </a:p>
        </p:txBody>
      </p:sp>
      <p:sp>
        <p:nvSpPr>
          <p:cNvPr id="31" name="x"/>
          <p:cNvSpPr txBox="1"/>
          <p:nvPr/>
        </p:nvSpPr>
        <p:spPr>
          <a:xfrm>
            <a:off x="7223760" y="4050792"/>
            <a:ext cx="4190695" cy="914400"/>
          </a:xfrm>
          <a:prstGeom prst="rect">
            <a:avLst/>
          </a:prstGeom>
          <a:noFill/>
          <a:ln/>
        </p:spPr>
        <p:txBody>
          <a:bodyPr wrap="square" lIns="0" tIns="0" rIns="0" bIns="0" rtlCol="0" anchor="ctr"/>
          <a:lstStyle/>
          <a:p>
            <a:pPr indent="0" marL="0">
              <a:lnSpc>
                <a:spcPct val="113000"/>
              </a:lnSpc>
              <a:buNone/>
            </a:pPr>
            <a:r>
              <a:rPr lang="en-US" sz="1600" b="1" dirty="0">
                <a:solidFill>
                  <a:schemeClr val="accent3"/>
                </a:solidFill>
              </a:rPr>
              <a:t>소규모 시범 적용</a:t>
            </a:r>
            <a:endParaRPr lang="en-US" sz="1600" dirty="0"/>
          </a:p>
          <a:p>
            <a:pPr indent="0" marL="0">
              <a:lnSpc>
                <a:spcPct val="113000"/>
              </a:lnSpc>
              <a:buNone/>
            </a:pPr>
            <a:r>
              <a:rPr lang="en-US" sz="1400" dirty="0">
                <a:solidFill>
                  <a:schemeClr val="tx1"/>
                </a:solidFill>
              </a:rPr>
              <a:t>관리사무소 외부 1개소에 민원쪽지함 제작·설치</a:t>
            </a:r>
            <a:endParaRPr lang="en-US" sz="1600" dirty="0"/>
          </a:p>
        </p:txBody>
      </p:sp>
      <p:sp>
        <p:nvSpPr>
          <p:cNvPr id="32" name="glass-green"/>
          <p:cNvSpPr/>
          <p:nvPr/>
        </p:nvSpPr>
        <p:spPr>
          <a:xfrm>
            <a:off x="6309360" y="5166360"/>
            <a:ext cx="5287975" cy="1051560"/>
          </a:xfrm>
          <a:prstGeom prst="roundRect">
            <a:avLst>
              <a:gd name="adj" fmla="val 13913"/>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33" name="stepNo"/>
          <p:cNvSpPr txBox="1"/>
          <p:nvPr/>
        </p:nvSpPr>
        <p:spPr>
          <a:xfrm>
            <a:off x="6537960" y="5440680"/>
            <a:ext cx="502920" cy="502920"/>
          </a:xfrm>
          <a:prstGeom prst="ellipse">
            <a:avLst/>
          </a:prstGeom>
          <a:solidFill>
            <a:schemeClr val="accent2"/>
          </a:solidFill>
          <a:ln/>
        </p:spPr>
        <p:txBody>
          <a:bodyPr wrap="square" lIns="0" tIns="0" rIns="0" bIns="0" rtlCol="0" anchor="ctr"/>
          <a:lstStyle/>
          <a:p>
            <a:pPr algn="ctr" indent="0" marL="0">
              <a:lnSpc>
                <a:spcPct val="113000"/>
              </a:lnSpc>
              <a:buNone/>
            </a:pPr>
            <a:r>
              <a:rPr lang="en-US" sz="1800" b="1" spc="-20" kern="0" dirty="0">
                <a:solidFill>
                  <a:schemeClr val="bg1"/>
                </a:solidFill>
              </a:rPr>
              <a:t>4</a:t>
            </a:r>
            <a:endParaRPr lang="en-US" sz="1800" dirty="0"/>
          </a:p>
        </p:txBody>
      </p:sp>
      <p:sp>
        <p:nvSpPr>
          <p:cNvPr id="34" name="x"/>
          <p:cNvSpPr txBox="1"/>
          <p:nvPr/>
        </p:nvSpPr>
        <p:spPr>
          <a:xfrm>
            <a:off x="7223760" y="5239512"/>
            <a:ext cx="4190695" cy="914400"/>
          </a:xfrm>
          <a:prstGeom prst="rect">
            <a:avLst/>
          </a:prstGeom>
          <a:noFill/>
          <a:ln/>
        </p:spPr>
        <p:txBody>
          <a:bodyPr wrap="square" lIns="0" tIns="0" rIns="0" bIns="0" rtlCol="0" anchor="ctr"/>
          <a:lstStyle/>
          <a:p>
            <a:pPr indent="0" marL="0">
              <a:lnSpc>
                <a:spcPct val="113000"/>
              </a:lnSpc>
              <a:buNone/>
            </a:pPr>
            <a:r>
              <a:rPr lang="en-US" sz="1600" b="1" dirty="0">
                <a:solidFill>
                  <a:schemeClr val="accent3"/>
                </a:solidFill>
              </a:rPr>
              <a:t>효과 검증</a:t>
            </a:r>
            <a:endParaRPr lang="en-US" sz="1600" dirty="0"/>
          </a:p>
          <a:p>
            <a:pPr indent="0" marL="0">
              <a:lnSpc>
                <a:spcPct val="113000"/>
              </a:lnSpc>
              <a:buNone/>
            </a:pPr>
            <a:r>
              <a:rPr lang="en-US" sz="1400" dirty="0">
                <a:solidFill>
                  <a:schemeClr val="tx1"/>
                </a:solidFill>
              </a:rPr>
              <a:t>이용 현황(약 30명)과 주민·직원 의견으로 효과 확인</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22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22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22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44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44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44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66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66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grpId="0" nodeType="withEffect">
                                  <p:stCondLst>
                                    <p:cond delay="66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88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88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par>
                                <p:cTn id="135" presetID="42" presetClass="entr" presetSubtype="0" fill="hold" grpId="0" nodeType="withEffect">
                                  <p:stCondLst>
                                    <p:cond delay="880"/>
                                  </p:stCondLst>
                                  <p:childTnLst>
                                    <p:set>
                                      <p:cBhvr>
                                        <p:cTn id="136" dur="1" fill="hold">
                                          <p:stCondLst>
                                            <p:cond delay="0"/>
                                          </p:stCondLst>
                                        </p:cTn>
                                        <p:tgtEl>
                                          <p:spTgt spid="34"/>
                                        </p:tgtEl>
                                        <p:attrNameLst>
                                          <p:attrName>style.visibility</p:attrName>
                                        </p:attrNameLst>
                                      </p:cBhvr>
                                      <p:to>
                                        <p:strVal val="visible"/>
                                      </p:to>
                                    </p:set>
                                    <p:anim calcmode="lin" valueType="num">
                                      <p:cBhvr additive="base">
                                        <p:cTn id="137" dur="500" fill="hold"/>
                                        <p:tgtEl>
                                          <p:spTgt spid="34"/>
                                        </p:tgtEl>
                                        <p:attrNameLst>
                                          <p:attrName>ppt_x</p:attrName>
                                        </p:attrNameLst>
                                      </p:cBhvr>
                                      <p:tavLst>
                                        <p:tav tm="0">
                                          <p:val>
                                            <p:strVal val="#ppt_x"/>
                                          </p:val>
                                        </p:tav>
                                        <p:tav tm="100000">
                                          <p:val>
                                            <p:strVal val="#ppt_x"/>
                                          </p:val>
                                        </p:tav>
                                      </p:tavLst>
                                    </p:anim>
                                    <p:anim calcmode="lin" valueType="num">
                                      <p:cBhvr additive="base">
                                        <p:cTn id="138" dur="500" fill="hold"/>
                                        <p:tgtEl>
                                          <p:spTgt spid="34"/>
                                        </p:tgtEl>
                                        <p:attrNameLst>
                                          <p:attrName>ppt_y</p:attrName>
                                        </p:attrNameLst>
                                      </p:cBhvr>
                                      <p:tavLst>
                                        <p:tav tm="0">
                                          <p:val>
                                            <p:strVal val="#ppt_y+.04"/>
                                          </p:val>
                                        </p:tav>
                                        <p:tav tm="100000">
                                          <p:val>
                                            <p:strVal val="#ppt_y"/>
                                          </p:val>
                                        </p:tav>
                                      </p:tavLst>
                                    </p:anim>
                                    <p:animEffect transition="in" filter="fade">
                                      <p:cBhvr>
                                        <p:cTn id="13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03</a:t>
            </a:r>
            <a:pPr indent="0" marL="0">
              <a:lnSpc>
                <a:spcPct val="113000"/>
              </a:lnSpc>
              <a:buNone/>
            </a:pPr>
            <a:r>
              <a:rPr lang="en-US" sz="1200" b="1" spc="200" kern="0" dirty="0">
                <a:solidFill>
                  <a:schemeClr val="accent5"/>
                </a:solidFill>
              </a:rPr>
              <a:t>   문제점 제안</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추진 배경 – 의견을 전할 길이 없던 입주민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3 / 13</a:t>
            </a:r>
            <a:endParaRPr lang="en-US" sz="1000" dirty="0"/>
          </a:p>
        </p:txBody>
      </p:sp>
      <p:sp>
        <p:nvSpPr>
          <p:cNvPr id="8" name="glass-white"/>
          <p:cNvSpPr/>
          <p:nvPr/>
        </p:nvSpPr>
        <p:spPr>
          <a:xfrm>
            <a:off x="594360" y="1600200"/>
            <a:ext cx="3484778" cy="3383280"/>
          </a:xfrm>
          <a:prstGeom prst="roundRect">
            <a:avLst>
              <a:gd name="adj" fmla="val 4324"/>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50392" y="1828800"/>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56816"/>
            <a:ext cx="201168" cy="201168"/>
          </a:xfrm>
          <a:prstGeom prst="rect">
            <a:avLst/>
          </a:prstGeom>
        </p:spPr>
      </p:pic>
      <p:sp>
        <p:nvSpPr>
          <p:cNvPr id="11" name="x"/>
          <p:cNvSpPr txBox="1"/>
          <p:nvPr/>
        </p:nvSpPr>
        <p:spPr>
          <a:xfrm>
            <a:off x="1444752" y="1828800"/>
            <a:ext cx="243321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현실태</a:t>
            </a:r>
            <a:endParaRPr lang="en-US" sz="1700" dirty="0"/>
          </a:p>
        </p:txBody>
      </p:sp>
      <p:sp>
        <p:nvSpPr>
          <p:cNvPr id="12" name="bullets"/>
          <p:cNvSpPr txBox="1"/>
          <p:nvPr/>
        </p:nvSpPr>
        <p:spPr>
          <a:xfrm>
            <a:off x="886968" y="2468880"/>
            <a:ext cx="2936138" cy="2423160"/>
          </a:xfrm>
          <a:prstGeom prst="rect">
            <a:avLst/>
          </a:prstGeom>
          <a:noFill/>
          <a:ln/>
        </p:spPr>
        <p:txBody>
          <a:bodyPr wrap="square" lIns="0" tIns="0" rIns="0" bIns="0" rtlCol="0" anchor="t"/>
          <a:lstStyle/>
          <a:p>
            <a:pPr marL="203200" indent="-203200">
              <a:lnSpc>
                <a:spcPct val="113000"/>
              </a:lnSpc>
              <a:spcAft>
                <a:spcPts val="800"/>
              </a:spcAft>
              <a:buSzPct val="100000"/>
              <a:buChar char="•"/>
            </a:pPr>
            <a:r>
              <a:rPr lang="en-US" sz="1400" dirty="0">
                <a:solidFill>
                  <a:schemeClr val="tx1"/>
                </a:solidFill>
              </a:rPr>
              <a:t>민원창구가 대면·유선 중심으로 운영됨</a:t>
            </a:r>
            <a:endParaRPr lang="en-US" sz="1400" dirty="0"/>
          </a:p>
          <a:p>
            <a:pPr marL="203200" indent="-203200">
              <a:lnSpc>
                <a:spcPct val="113000"/>
              </a:lnSpc>
              <a:spcAft>
                <a:spcPts val="800"/>
              </a:spcAft>
              <a:buSzPct val="100000"/>
              <a:buChar char="•"/>
            </a:pPr>
            <a:r>
              <a:rPr lang="en-US" sz="1400" dirty="0">
                <a:solidFill>
                  <a:schemeClr val="tx1"/>
                </a:solidFill>
              </a:rPr>
              <a:t>사람을 직접 만나기 어렵거나 언어장애 등으로 대면 의사표현이 어려운 입주민은 의견을 전달할 수단이 없음</a:t>
            </a:r>
            <a:endParaRPr lang="en-US" sz="1400" dirty="0"/>
          </a:p>
          <a:p>
            <a:pPr marL="203200" indent="-203200">
              <a:lnSpc>
                <a:spcPct val="113000"/>
              </a:lnSpc>
              <a:spcAft>
                <a:spcPts val="800"/>
              </a:spcAft>
              <a:buSzPct val="100000"/>
              <a:buChar char="•"/>
            </a:pPr>
            <a:r>
              <a:rPr lang="en-US" sz="1400" dirty="0">
                <a:solidFill>
                  <a:schemeClr val="tx1"/>
                </a:solidFill>
              </a:rPr>
              <a:t>관리사무소는 이런 세대를 직접 만날 기회가 적어 불편을 충분히 인식하기 어려웠음</a:t>
            </a:r>
            <a:endParaRPr lang="en-US" sz="1400" dirty="0"/>
          </a:p>
        </p:txBody>
      </p:sp>
      <p:sp>
        <p:nvSpPr>
          <p:cNvPr id="13" name="glass-white"/>
          <p:cNvSpPr/>
          <p:nvPr/>
        </p:nvSpPr>
        <p:spPr>
          <a:xfrm>
            <a:off x="4353458" y="1600200"/>
            <a:ext cx="3484778" cy="3383280"/>
          </a:xfrm>
          <a:prstGeom prst="roundRect">
            <a:avLst>
              <a:gd name="adj" fmla="val 4324"/>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4609490" y="1828800"/>
            <a:ext cx="457200" cy="457200"/>
          </a:xfrm>
          <a:prstGeom prst="ellipse">
            <a:avLst/>
          </a:prstGeom>
          <a:solidFill>
            <a:srgbClr val="FFFFFF">
              <a:alpha val="75000"/>
            </a:srgbClr>
          </a:solidFill>
          <a:ln w="12700">
            <a:solidFill>
              <a:srgbClr val="0A3F73">
                <a:alpha val="45000"/>
              </a:srgbClr>
            </a:solidFill>
            <a:prstDash val="solid"/>
          </a:ln>
        </p:spPr>
      </p:sp>
      <p:pic>
        <p:nvPicPr>
          <p:cNvPr id="15" name="x" descr="icon">    </p:cNvPr>
          <p:cNvPicPr>
            <a:picLocks noChangeAspect="1"/>
          </p:cNvPicPr>
          <p:nvPr/>
        </p:nvPicPr>
        <p:blipFill>
          <a:blip r:embed="rId3"/>
          <a:stretch>
            <a:fillRect/>
          </a:stretch>
        </p:blipFill>
        <p:spPr>
          <a:xfrm>
            <a:off x="4737506" y="1956816"/>
            <a:ext cx="201168" cy="201168"/>
          </a:xfrm>
          <a:prstGeom prst="rect">
            <a:avLst/>
          </a:prstGeom>
        </p:spPr>
      </p:pic>
      <p:sp>
        <p:nvSpPr>
          <p:cNvPr id="16" name="x"/>
          <p:cNvSpPr txBox="1"/>
          <p:nvPr/>
        </p:nvSpPr>
        <p:spPr>
          <a:xfrm>
            <a:off x="5203850" y="1828800"/>
            <a:ext cx="243321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문제점</a:t>
            </a:r>
            <a:endParaRPr lang="en-US" sz="1700" dirty="0"/>
          </a:p>
        </p:txBody>
      </p:sp>
      <p:sp>
        <p:nvSpPr>
          <p:cNvPr id="17" name="bullets"/>
          <p:cNvSpPr txBox="1"/>
          <p:nvPr/>
        </p:nvSpPr>
        <p:spPr>
          <a:xfrm>
            <a:off x="4646066" y="2468880"/>
            <a:ext cx="2936138" cy="2423160"/>
          </a:xfrm>
          <a:prstGeom prst="rect">
            <a:avLst/>
          </a:prstGeom>
          <a:noFill/>
          <a:ln/>
        </p:spPr>
        <p:txBody>
          <a:bodyPr wrap="square" lIns="0" tIns="0" rIns="0" bIns="0" rtlCol="0" anchor="t"/>
          <a:lstStyle/>
          <a:p>
            <a:pPr marL="203200" indent="-203200">
              <a:lnSpc>
                <a:spcPct val="113000"/>
              </a:lnSpc>
              <a:spcAft>
                <a:spcPts val="800"/>
              </a:spcAft>
              <a:buSzPct val="100000"/>
              <a:buChar char="•"/>
            </a:pPr>
            <a:r>
              <a:rPr lang="en-US" sz="1400" dirty="0">
                <a:solidFill>
                  <a:schemeClr val="tx1"/>
                </a:solidFill>
              </a:rPr>
              <a:t>대면·유선 방식에 익숙하지 않은 입주민은 시설개선 의견을 내기 어려움</a:t>
            </a:r>
            <a:endParaRPr lang="en-US" sz="1400" dirty="0"/>
          </a:p>
          <a:p>
            <a:pPr marL="203200" indent="-203200">
              <a:lnSpc>
                <a:spcPct val="113000"/>
              </a:lnSpc>
              <a:spcAft>
                <a:spcPts val="800"/>
              </a:spcAft>
              <a:buSzPct val="100000"/>
              <a:buChar char="•"/>
            </a:pPr>
            <a:r>
              <a:rPr lang="en-US" sz="1400" dirty="0">
                <a:solidFill>
                  <a:schemeClr val="tx1"/>
                </a:solidFill>
              </a:rPr>
              <a:t>민원 전달 방법이 제한되어 일부 입주민의 의견이 소외될 가능성이 있었음</a:t>
            </a:r>
            <a:endParaRPr lang="en-US" sz="1400" dirty="0"/>
          </a:p>
          <a:p>
            <a:pPr marL="203200" indent="-203200">
              <a:lnSpc>
                <a:spcPct val="113000"/>
              </a:lnSpc>
              <a:spcAft>
                <a:spcPts val="800"/>
              </a:spcAft>
              <a:buSzPct val="100000"/>
              <a:buChar char="•"/>
            </a:pPr>
            <a:r>
              <a:rPr lang="en-US" sz="1400" dirty="0">
                <a:solidFill>
                  <a:schemeClr val="tx1"/>
                </a:solidFill>
              </a:rPr>
              <a:t>부담 없이 생활불편과 시설개선 요구를 전달할 비대면 창구가 필요함</a:t>
            </a:r>
            <a:endParaRPr lang="en-US" sz="1400" dirty="0"/>
          </a:p>
        </p:txBody>
      </p:sp>
      <p:sp>
        <p:nvSpPr>
          <p:cNvPr id="18" name="glass-white"/>
          <p:cNvSpPr/>
          <p:nvPr/>
        </p:nvSpPr>
        <p:spPr>
          <a:xfrm>
            <a:off x="8112557" y="1600200"/>
            <a:ext cx="3484778" cy="3383280"/>
          </a:xfrm>
          <a:prstGeom prst="roundRect">
            <a:avLst>
              <a:gd name="adj" fmla="val 4324"/>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9" name="iconChip"/>
          <p:cNvSpPr/>
          <p:nvPr/>
        </p:nvSpPr>
        <p:spPr>
          <a:xfrm>
            <a:off x="8368589" y="1828800"/>
            <a:ext cx="457200" cy="457200"/>
          </a:xfrm>
          <a:prstGeom prst="ellipse">
            <a:avLst/>
          </a:prstGeom>
          <a:solidFill>
            <a:srgbClr val="FFFFFF">
              <a:alpha val="75000"/>
            </a:srgbClr>
          </a:solidFill>
          <a:ln w="12700">
            <a:solidFill>
              <a:srgbClr val="2E8A22">
                <a:alpha val="45000"/>
              </a:srgbClr>
            </a:solidFill>
            <a:prstDash val="solid"/>
          </a:ln>
        </p:spPr>
      </p:sp>
      <p:pic>
        <p:nvPicPr>
          <p:cNvPr id="20" name="x" descr="icon">    </p:cNvPr>
          <p:cNvPicPr>
            <a:picLocks noChangeAspect="1"/>
          </p:cNvPicPr>
          <p:nvPr/>
        </p:nvPicPr>
        <p:blipFill>
          <a:blip r:embed="rId4"/>
          <a:stretch>
            <a:fillRect/>
          </a:stretch>
        </p:blipFill>
        <p:spPr>
          <a:xfrm>
            <a:off x="8496605" y="1956816"/>
            <a:ext cx="201168" cy="201168"/>
          </a:xfrm>
          <a:prstGeom prst="rect">
            <a:avLst/>
          </a:prstGeom>
        </p:spPr>
      </p:pic>
      <p:sp>
        <p:nvSpPr>
          <p:cNvPr id="21" name="x"/>
          <p:cNvSpPr txBox="1"/>
          <p:nvPr/>
        </p:nvSpPr>
        <p:spPr>
          <a:xfrm>
            <a:off x="8962949" y="1828800"/>
            <a:ext cx="243321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개선사항</a:t>
            </a:r>
            <a:endParaRPr lang="en-US" sz="1700" dirty="0"/>
          </a:p>
        </p:txBody>
      </p:sp>
      <p:sp>
        <p:nvSpPr>
          <p:cNvPr id="22" name="bullets"/>
          <p:cNvSpPr txBox="1"/>
          <p:nvPr/>
        </p:nvSpPr>
        <p:spPr>
          <a:xfrm>
            <a:off x="8405165" y="2468880"/>
            <a:ext cx="2936138" cy="2423160"/>
          </a:xfrm>
          <a:prstGeom prst="rect">
            <a:avLst/>
          </a:prstGeom>
          <a:noFill/>
          <a:ln/>
        </p:spPr>
        <p:txBody>
          <a:bodyPr wrap="square" lIns="0" tIns="0" rIns="0" bIns="0" rtlCol="0" anchor="t"/>
          <a:lstStyle/>
          <a:p>
            <a:pPr marL="203200" indent="-203200">
              <a:lnSpc>
                <a:spcPct val="113000"/>
              </a:lnSpc>
              <a:spcAft>
                <a:spcPts val="800"/>
              </a:spcAft>
              <a:buSzPct val="100000"/>
              <a:buChar char="•"/>
            </a:pPr>
            <a:r>
              <a:rPr lang="en-US" sz="1400" dirty="0">
                <a:solidFill>
                  <a:schemeClr val="tx1"/>
                </a:solidFill>
              </a:rPr>
              <a:t>관리사무소 외부에 민원쪽지함을 설치해 쪽지로 의견을 전달하도록 함</a:t>
            </a:r>
            <a:endParaRPr lang="en-US" sz="1400" dirty="0"/>
          </a:p>
          <a:p>
            <a:pPr marL="203200" indent="-203200">
              <a:lnSpc>
                <a:spcPct val="113000"/>
              </a:lnSpc>
              <a:spcAft>
                <a:spcPts val="800"/>
              </a:spcAft>
              <a:buSzPct val="100000"/>
              <a:buChar char="•"/>
            </a:pPr>
            <a:r>
              <a:rPr lang="en-US" sz="1400" dirty="0">
                <a:solidFill>
                  <a:schemeClr val="tx1"/>
                </a:solidFill>
              </a:rPr>
              <a:t>직원을 마주하지 않고도 민원·시설개선 의견을 낼 수 있는 개방형 민원창구를 확대함</a:t>
            </a:r>
            <a:endParaRPr lang="en-US" sz="1400" dirty="0"/>
          </a:p>
        </p:txBody>
      </p:sp>
      <p:sp>
        <p:nvSpPr>
          <p:cNvPr id="23" name="glass-solid"/>
          <p:cNvSpPr/>
          <p:nvPr/>
        </p:nvSpPr>
        <p:spPr>
          <a:xfrm>
            <a:off x="594360" y="5212080"/>
            <a:ext cx="11002975" cy="1005840"/>
          </a:xfrm>
          <a:prstGeom prst="roundRect">
            <a:avLst>
              <a:gd name="adj" fmla="val 18182"/>
            </a:avLst>
          </a:prstGeom>
          <a:solidFill>
            <a:srgbClr val="0F64AF">
              <a:alpha val="94000"/>
            </a:srgbClr>
          </a:solidFill>
          <a:ln w="15875">
            <a:solidFill>
              <a:srgbClr val="FFFFFF">
                <a:alpha val="55000"/>
              </a:srgbClr>
            </a:solidFill>
            <a:prstDash val="solid"/>
          </a:ln>
          <a:effectLst>
            <a:outerShdw sx="100000" sy="100000" kx="0" ky="0" algn="bl" rotWithShape="0" blurRad="228600" dist="50800" dir="5400000">
              <a:srgbClr val="0A3F73">
                <a:alpha val="13000"/>
              </a:srgbClr>
            </a:outerShdw>
          </a:effectLst>
        </p:spPr>
      </p:sp>
      <p:pic>
        <p:nvPicPr>
          <p:cNvPr id="24" name="x" descr="주민">    </p:cNvPr>
          <p:cNvPicPr>
            <a:picLocks noChangeAspect="1"/>
          </p:cNvPicPr>
          <p:nvPr/>
        </p:nvPicPr>
        <p:blipFill>
          <a:blip r:embed="rId5"/>
          <a:stretch>
            <a:fillRect/>
          </a:stretch>
        </p:blipFill>
        <p:spPr>
          <a:xfrm>
            <a:off x="960120" y="5468112"/>
            <a:ext cx="502920" cy="502920"/>
          </a:xfrm>
          <a:prstGeom prst="rect">
            <a:avLst/>
          </a:prstGeom>
        </p:spPr>
      </p:pic>
      <p:sp>
        <p:nvSpPr>
          <p:cNvPr id="25" name="x"/>
          <p:cNvSpPr txBox="1"/>
          <p:nvPr/>
        </p:nvSpPr>
        <p:spPr>
          <a:xfrm>
            <a:off x="1737360" y="5230368"/>
            <a:ext cx="9631375" cy="969264"/>
          </a:xfrm>
          <a:prstGeom prst="rect">
            <a:avLst/>
          </a:prstGeom>
          <a:noFill/>
          <a:ln/>
        </p:spPr>
        <p:txBody>
          <a:bodyPr wrap="square" lIns="0" tIns="0" rIns="0" bIns="0" rtlCol="0" anchor="ctr"/>
          <a:lstStyle/>
          <a:p>
            <a:pPr indent="0" marL="0">
              <a:lnSpc>
                <a:spcPct val="113000"/>
              </a:lnSpc>
              <a:buNone/>
            </a:pPr>
            <a:r>
              <a:rPr lang="en-US" sz="2000" b="1" spc="-20" kern="0" dirty="0">
                <a:solidFill>
                  <a:schemeClr val="bg1"/>
                </a:solidFill>
              </a:rPr>
              <a:t>문제를 발견한 것은 관리사무소가 아니라 주민이었습니다</a:t>
            </a:r>
            <a:endParaRPr lang="en-US" sz="2000" dirty="0"/>
          </a:p>
          <a:p>
            <a:pPr indent="0" marL="0">
              <a:lnSpc>
                <a:spcPct val="113000"/>
              </a:lnSpc>
              <a:buNone/>
            </a:pPr>
            <a:r>
              <a:rPr lang="en-US" sz="1400" spc="-20" kern="0" dirty="0">
                <a:solidFill>
                  <a:srgbClr val="D6ECFF"/>
                </a:solidFill>
              </a:rPr>
              <a:t>입주민(노인회장, 이장) 및 요양보호사와의 대화·전화 과정에서 해당 세대의 애로사항을 확인함</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04</a:t>
            </a:r>
            <a:pPr indent="0" marL="0">
              <a:lnSpc>
                <a:spcPct val="113000"/>
              </a:lnSpc>
              <a:buNone/>
            </a:pPr>
            <a:r>
              <a:rPr lang="en-US" sz="1200" b="1" spc="200" kern="0" dirty="0">
                <a:solidFill>
                  <a:schemeClr val="accent5"/>
                </a:solidFill>
              </a:rPr>
              <a:t>   주민주도</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주민주도 – 주민은 제안하고, 관리사무소는 실행했습니다</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4 / 13</a:t>
            </a:r>
            <a:endParaRPr lang="en-US" sz="1000" dirty="0"/>
          </a:p>
        </p:txBody>
      </p:sp>
      <p:sp>
        <p:nvSpPr>
          <p:cNvPr id="8" name="glass-green"/>
          <p:cNvSpPr/>
          <p:nvPr/>
        </p:nvSpPr>
        <p:spPr>
          <a:xfrm>
            <a:off x="594360" y="1600200"/>
            <a:ext cx="4846320" cy="3200400"/>
          </a:xfrm>
          <a:prstGeom prst="roundRect">
            <a:avLst>
              <a:gd name="adj" fmla="val 4571"/>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68680" y="1828800"/>
            <a:ext cx="457200" cy="457200"/>
          </a:xfrm>
          <a:prstGeom prst="ellipse">
            <a:avLst/>
          </a:prstGeom>
          <a:solidFill>
            <a:srgbClr val="FFFFFF">
              <a:alpha val="75000"/>
            </a:srgbClr>
          </a:solidFill>
          <a:ln w="12700">
            <a:solidFill>
              <a:srgbClr val="2E8A22">
                <a:alpha val="45000"/>
              </a:srgbClr>
            </a:solidFill>
            <a:prstDash val="solid"/>
          </a:ln>
        </p:spPr>
      </p:sp>
      <p:pic>
        <p:nvPicPr>
          <p:cNvPr id="10" name="x" descr="icon">    </p:cNvPr>
          <p:cNvPicPr>
            <a:picLocks noChangeAspect="1"/>
          </p:cNvPicPr>
          <p:nvPr/>
        </p:nvPicPr>
        <p:blipFill>
          <a:blip r:embed="rId2"/>
          <a:stretch>
            <a:fillRect/>
          </a:stretch>
        </p:blipFill>
        <p:spPr>
          <a:xfrm>
            <a:off x="996696" y="1956816"/>
            <a:ext cx="201168" cy="201168"/>
          </a:xfrm>
          <a:prstGeom prst="rect">
            <a:avLst/>
          </a:prstGeom>
        </p:spPr>
      </p:pic>
      <p:sp>
        <p:nvSpPr>
          <p:cNvPr id="11" name="x"/>
          <p:cNvSpPr txBox="1"/>
          <p:nvPr/>
        </p:nvSpPr>
        <p:spPr>
          <a:xfrm>
            <a:off x="1463040" y="1828800"/>
            <a:ext cx="3703320"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입주민 3명 · 요양보호사</a:t>
            </a:r>
            <a:endParaRPr lang="en-US" sz="1700" dirty="0"/>
          </a:p>
        </p:txBody>
      </p:sp>
      <p:sp>
        <p:nvSpPr>
          <p:cNvPr id="12" name="bullets"/>
          <p:cNvSpPr txBox="1"/>
          <p:nvPr/>
        </p:nvSpPr>
        <p:spPr>
          <a:xfrm>
            <a:off x="914400" y="2468880"/>
            <a:ext cx="4251960" cy="2240280"/>
          </a:xfrm>
          <a:prstGeom prst="rect">
            <a:avLst/>
          </a:prstGeom>
          <a:noFill/>
          <a:ln/>
        </p:spPr>
        <p:txBody>
          <a:bodyPr wrap="square" lIns="0" tIns="0" rIns="0" bIns="0" rtlCol="0" anchor="t"/>
          <a:lstStyle/>
          <a:p>
            <a:pPr marL="203200" indent="-203200">
              <a:lnSpc>
                <a:spcPct val="113000"/>
              </a:lnSpc>
              <a:spcAft>
                <a:spcPts val="1000"/>
              </a:spcAft>
              <a:buSzPct val="100000"/>
              <a:buChar char="•"/>
            </a:pPr>
            <a:r>
              <a:rPr lang="en-US" sz="1600" dirty="0">
                <a:solidFill>
                  <a:schemeClr val="tx1"/>
                </a:solidFill>
              </a:rPr>
              <a:t>대면민원 불편세대의 존재와 애로사항을 직접 전달함</a:t>
            </a:r>
            <a:endParaRPr lang="en-US" sz="1600" dirty="0"/>
          </a:p>
          <a:p>
            <a:pPr marL="203200" indent="-203200">
              <a:lnSpc>
                <a:spcPct val="113000"/>
              </a:lnSpc>
              <a:spcAft>
                <a:spcPts val="1000"/>
              </a:spcAft>
              <a:buSzPct val="100000"/>
              <a:buChar char="•"/>
            </a:pPr>
            <a:r>
              <a:rPr lang="en-US" sz="1600" dirty="0">
                <a:solidFill>
                  <a:schemeClr val="tx1"/>
                </a:solidFill>
              </a:rPr>
              <a:t>노인회장·이장이 문제를 제기하고 해결 아이디어를 제안함</a:t>
            </a:r>
            <a:endParaRPr lang="en-US" sz="1600" dirty="0"/>
          </a:p>
          <a:p>
            <a:pPr marL="203200" indent="-203200">
              <a:lnSpc>
                <a:spcPct val="113000"/>
              </a:lnSpc>
              <a:spcAft>
                <a:spcPts val="1000"/>
              </a:spcAft>
              <a:buSzPct val="100000"/>
              <a:buChar char="•"/>
            </a:pPr>
            <a:r>
              <a:rPr lang="en-US" sz="1600" dirty="0">
                <a:solidFill>
                  <a:schemeClr val="tx1"/>
                </a:solidFill>
              </a:rPr>
              <a:t>제안한 쪽지함을 직접 이용하며 효과를 확인함</a:t>
            </a:r>
            <a:endParaRPr lang="en-US" sz="1600" dirty="0"/>
          </a:p>
        </p:txBody>
      </p:sp>
      <p:sp>
        <p:nvSpPr>
          <p:cNvPr id="13" name="glass-blue"/>
          <p:cNvSpPr/>
          <p:nvPr/>
        </p:nvSpPr>
        <p:spPr>
          <a:xfrm>
            <a:off x="6751015" y="1600200"/>
            <a:ext cx="4846320" cy="3200400"/>
          </a:xfrm>
          <a:prstGeom prst="roundRect">
            <a:avLst>
              <a:gd name="adj" fmla="val 4571"/>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7025335" y="1828800"/>
            <a:ext cx="457200" cy="457200"/>
          </a:xfrm>
          <a:prstGeom prst="ellipse">
            <a:avLst/>
          </a:prstGeom>
          <a:solidFill>
            <a:srgbClr val="FFFFFF">
              <a:alpha val="75000"/>
            </a:srgbClr>
          </a:solidFill>
          <a:ln w="12700">
            <a:solidFill>
              <a:srgbClr val="0F64AF">
                <a:alpha val="45000"/>
              </a:srgbClr>
            </a:solidFill>
            <a:prstDash val="solid"/>
          </a:ln>
        </p:spPr>
      </p:sp>
      <p:pic>
        <p:nvPicPr>
          <p:cNvPr id="15" name="x" descr="icon">    </p:cNvPr>
          <p:cNvPicPr>
            <a:picLocks noChangeAspect="1"/>
          </p:cNvPicPr>
          <p:nvPr/>
        </p:nvPicPr>
        <p:blipFill>
          <a:blip r:embed="rId3"/>
          <a:stretch>
            <a:fillRect/>
          </a:stretch>
        </p:blipFill>
        <p:spPr>
          <a:xfrm>
            <a:off x="7153351" y="1956816"/>
            <a:ext cx="201168" cy="201168"/>
          </a:xfrm>
          <a:prstGeom prst="rect">
            <a:avLst/>
          </a:prstGeom>
        </p:spPr>
      </p:pic>
      <p:sp>
        <p:nvSpPr>
          <p:cNvPr id="16" name="x"/>
          <p:cNvSpPr txBox="1"/>
          <p:nvPr/>
        </p:nvSpPr>
        <p:spPr>
          <a:xfrm>
            <a:off x="7619695" y="1828800"/>
            <a:ext cx="3703320"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관리사무소 직원 4명</a:t>
            </a:r>
            <a:endParaRPr lang="en-US" sz="1700" dirty="0"/>
          </a:p>
        </p:txBody>
      </p:sp>
      <p:sp>
        <p:nvSpPr>
          <p:cNvPr id="17" name="bullets"/>
          <p:cNvSpPr txBox="1"/>
          <p:nvPr/>
        </p:nvSpPr>
        <p:spPr>
          <a:xfrm>
            <a:off x="7071055" y="2468880"/>
            <a:ext cx="4251960" cy="2240280"/>
          </a:xfrm>
          <a:prstGeom prst="rect">
            <a:avLst/>
          </a:prstGeom>
          <a:noFill/>
          <a:ln/>
        </p:spPr>
        <p:txBody>
          <a:bodyPr wrap="square" lIns="0" tIns="0" rIns="0" bIns="0" rtlCol="0" anchor="t"/>
          <a:lstStyle/>
          <a:p>
            <a:pPr marL="203200" indent="-203200">
              <a:lnSpc>
                <a:spcPct val="113000"/>
              </a:lnSpc>
              <a:spcAft>
                <a:spcPts val="1000"/>
              </a:spcAft>
              <a:buSzPct val="100000"/>
              <a:buChar char="•"/>
            </a:pPr>
            <a:r>
              <a:rPr lang="en-US" sz="1600" dirty="0">
                <a:solidFill>
                  <a:schemeClr val="tx1"/>
                </a:solidFill>
              </a:rPr>
              <a:t>주민 의견을 정리하고 현장을 확인해 설치 방안을 검토함</a:t>
            </a:r>
            <a:endParaRPr lang="en-US" sz="1600" dirty="0"/>
          </a:p>
          <a:p>
            <a:pPr marL="203200" indent="-203200">
              <a:lnSpc>
                <a:spcPct val="113000"/>
              </a:lnSpc>
              <a:spcAft>
                <a:spcPts val="1000"/>
              </a:spcAft>
              <a:buSzPct val="100000"/>
              <a:buChar char="•"/>
            </a:pPr>
            <a:r>
              <a:rPr lang="en-US" sz="1600" dirty="0">
                <a:solidFill>
                  <a:schemeClr val="tx1"/>
                </a:solidFill>
              </a:rPr>
              <a:t>휴지곽·종이박스로 쪽지함을 직접 제작·설치함</a:t>
            </a:r>
            <a:endParaRPr lang="en-US" sz="1600" dirty="0"/>
          </a:p>
          <a:p>
            <a:pPr marL="203200" indent="-203200">
              <a:lnSpc>
                <a:spcPct val="113000"/>
              </a:lnSpc>
              <a:spcAft>
                <a:spcPts val="1000"/>
              </a:spcAft>
              <a:buSzPct val="100000"/>
              <a:buChar char="•"/>
            </a:pPr>
            <a:r>
              <a:rPr lang="en-US" sz="1600" dirty="0">
                <a:solidFill>
                  <a:schemeClr val="tx1"/>
                </a:solidFill>
              </a:rPr>
              <a:t>매일 아침 쪽지함을 열어 접수된 의견을 확인하고 민원을 처리함</a:t>
            </a:r>
            <a:endParaRPr lang="en-US" sz="1600" dirty="0"/>
          </a:p>
        </p:txBody>
      </p:sp>
      <p:sp>
        <p:nvSpPr>
          <p:cNvPr id="18" name="connector"/>
          <p:cNvSpPr/>
          <p:nvPr/>
        </p:nvSpPr>
        <p:spPr>
          <a:xfrm>
            <a:off x="5638648" y="2743200"/>
            <a:ext cx="914400" cy="914400"/>
          </a:xfrm>
          <a:prstGeom prst="ellipse">
            <a:avLst/>
          </a:prstGeom>
          <a:solidFill>
            <a:srgbClr val="FFFFFF">
              <a:alpha val="80000"/>
            </a:srgbClr>
          </a:solidFill>
          <a:ln w="19050">
            <a:solidFill>
              <a:srgbClr val="FFFFFF">
                <a:alpha val="90000"/>
              </a:srgbClr>
            </a:solidFill>
            <a:prstDash val="solid"/>
          </a:ln>
          <a:effectLst>
            <a:outerShdw sx="100000" sy="100000" kx="0" ky="0" algn="bl" rotWithShape="0" blurRad="177800" dist="38100" dir="5400000">
              <a:srgbClr val="0A3F73">
                <a:alpha val="18000"/>
              </a:srgbClr>
            </a:outerShdw>
          </a:effectLst>
        </p:spPr>
      </p:sp>
      <p:pic>
        <p:nvPicPr>
          <p:cNvPr id="19" name="x" descr="협력">    </p:cNvPr>
          <p:cNvPicPr>
            <a:picLocks noChangeAspect="1"/>
          </p:cNvPicPr>
          <p:nvPr/>
        </p:nvPicPr>
        <p:blipFill>
          <a:blip r:embed="rId4"/>
          <a:stretch>
            <a:fillRect/>
          </a:stretch>
        </p:blipFill>
        <p:spPr>
          <a:xfrm>
            <a:off x="5848960" y="2953512"/>
            <a:ext cx="493776" cy="493776"/>
          </a:xfrm>
          <a:prstGeom prst="rect">
            <a:avLst/>
          </a:prstGeom>
        </p:spPr>
      </p:pic>
      <p:sp>
        <p:nvSpPr>
          <p:cNvPr id="20" name="glass-white"/>
          <p:cNvSpPr/>
          <p:nvPr/>
        </p:nvSpPr>
        <p:spPr>
          <a:xfrm>
            <a:off x="594360" y="5029200"/>
            <a:ext cx="3484778" cy="1188720"/>
          </a:xfrm>
          <a:prstGeom prst="roundRect">
            <a:avLst>
              <a:gd name="adj" fmla="val 1230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1" name="x"/>
          <p:cNvSpPr txBox="1"/>
          <p:nvPr/>
        </p:nvSpPr>
        <p:spPr>
          <a:xfrm>
            <a:off x="822960" y="5285232"/>
            <a:ext cx="868680" cy="676656"/>
          </a:xfrm>
          <a:prstGeom prst="roundRect">
            <a:avLst>
              <a:gd name="adj" fmla="val 16216"/>
            </a:avLst>
          </a:prstGeom>
          <a:solidFill>
            <a:schemeClr val="accent1"/>
          </a:solidFill>
          <a:ln/>
        </p:spPr>
        <p:txBody>
          <a:bodyPr wrap="square" lIns="0" tIns="0" rIns="0" bIns="0" rtlCol="0" anchor="ctr"/>
          <a:lstStyle/>
          <a:p>
            <a:pPr algn="ctr" indent="0" marL="0">
              <a:lnSpc>
                <a:spcPct val="113000"/>
              </a:lnSpc>
              <a:buNone/>
            </a:pPr>
            <a:r>
              <a:rPr lang="en-US" sz="1800" b="1" spc="-20" kern="0" dirty="0">
                <a:solidFill>
                  <a:schemeClr val="bg1"/>
                </a:solidFill>
              </a:rPr>
              <a:t>발견</a:t>
            </a:r>
            <a:endParaRPr lang="en-US" sz="1800" dirty="0"/>
          </a:p>
        </p:txBody>
      </p:sp>
      <p:sp>
        <p:nvSpPr>
          <p:cNvPr id="22" name="x"/>
          <p:cNvSpPr txBox="1"/>
          <p:nvPr/>
        </p:nvSpPr>
        <p:spPr>
          <a:xfrm>
            <a:off x="1874520" y="5120640"/>
            <a:ext cx="2021738" cy="1005840"/>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주민이 민원창구의 사각지대를 먼저 발견</a:t>
            </a:r>
            <a:endParaRPr lang="en-US" sz="1400" dirty="0"/>
          </a:p>
        </p:txBody>
      </p:sp>
      <p:sp>
        <p:nvSpPr>
          <p:cNvPr id="23" name="glass-white"/>
          <p:cNvSpPr/>
          <p:nvPr/>
        </p:nvSpPr>
        <p:spPr>
          <a:xfrm>
            <a:off x="4353458" y="5029200"/>
            <a:ext cx="3484778" cy="1188720"/>
          </a:xfrm>
          <a:prstGeom prst="roundRect">
            <a:avLst>
              <a:gd name="adj" fmla="val 1230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4" name="x"/>
          <p:cNvSpPr txBox="1"/>
          <p:nvPr/>
        </p:nvSpPr>
        <p:spPr>
          <a:xfrm>
            <a:off x="4582058" y="5285232"/>
            <a:ext cx="868680" cy="676656"/>
          </a:xfrm>
          <a:prstGeom prst="roundRect">
            <a:avLst>
              <a:gd name="adj" fmla="val 16216"/>
            </a:avLst>
          </a:prstGeom>
          <a:solidFill>
            <a:schemeClr val="accent2"/>
          </a:solidFill>
          <a:ln/>
        </p:spPr>
        <p:txBody>
          <a:bodyPr wrap="square" lIns="0" tIns="0" rIns="0" bIns="0" rtlCol="0" anchor="ctr"/>
          <a:lstStyle/>
          <a:p>
            <a:pPr algn="ctr" indent="0" marL="0">
              <a:lnSpc>
                <a:spcPct val="113000"/>
              </a:lnSpc>
              <a:buNone/>
            </a:pPr>
            <a:r>
              <a:rPr lang="en-US" sz="1800" b="1" spc="-20" kern="0" dirty="0">
                <a:solidFill>
                  <a:schemeClr val="bg1"/>
                </a:solidFill>
              </a:rPr>
              <a:t>제안</a:t>
            </a:r>
            <a:endParaRPr lang="en-US" sz="1800" dirty="0"/>
          </a:p>
        </p:txBody>
      </p:sp>
      <p:sp>
        <p:nvSpPr>
          <p:cNvPr id="25" name="x"/>
          <p:cNvSpPr txBox="1"/>
          <p:nvPr/>
        </p:nvSpPr>
        <p:spPr>
          <a:xfrm>
            <a:off x="5633618" y="5120640"/>
            <a:ext cx="2021738" cy="1005840"/>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주민 의견·아이디어가 해결방안의 출발점</a:t>
            </a:r>
            <a:endParaRPr lang="en-US" sz="1400" dirty="0"/>
          </a:p>
        </p:txBody>
      </p:sp>
      <p:sp>
        <p:nvSpPr>
          <p:cNvPr id="26" name="glass-white"/>
          <p:cNvSpPr/>
          <p:nvPr/>
        </p:nvSpPr>
        <p:spPr>
          <a:xfrm>
            <a:off x="8112557" y="5029200"/>
            <a:ext cx="3484778" cy="1188720"/>
          </a:xfrm>
          <a:prstGeom prst="roundRect">
            <a:avLst>
              <a:gd name="adj" fmla="val 1230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7" name="x"/>
          <p:cNvSpPr txBox="1"/>
          <p:nvPr/>
        </p:nvSpPr>
        <p:spPr>
          <a:xfrm>
            <a:off x="8341157" y="5285232"/>
            <a:ext cx="868680" cy="676656"/>
          </a:xfrm>
          <a:prstGeom prst="roundRect">
            <a:avLst>
              <a:gd name="adj" fmla="val 16216"/>
            </a:avLst>
          </a:prstGeom>
          <a:solidFill>
            <a:schemeClr val="accent1"/>
          </a:solidFill>
          <a:ln/>
        </p:spPr>
        <p:txBody>
          <a:bodyPr wrap="square" lIns="0" tIns="0" rIns="0" bIns="0" rtlCol="0" anchor="ctr"/>
          <a:lstStyle/>
          <a:p>
            <a:pPr algn="ctr" indent="0" marL="0">
              <a:lnSpc>
                <a:spcPct val="113000"/>
              </a:lnSpc>
              <a:buNone/>
            </a:pPr>
            <a:r>
              <a:rPr lang="en-US" sz="1800" b="1" spc="-20" kern="0" dirty="0">
                <a:solidFill>
                  <a:schemeClr val="bg1"/>
                </a:solidFill>
              </a:rPr>
              <a:t>정착</a:t>
            </a:r>
            <a:endParaRPr lang="en-US" sz="1800" dirty="0"/>
          </a:p>
        </p:txBody>
      </p:sp>
      <p:sp>
        <p:nvSpPr>
          <p:cNvPr id="28" name="x"/>
          <p:cNvSpPr txBox="1"/>
          <p:nvPr/>
        </p:nvSpPr>
        <p:spPr>
          <a:xfrm>
            <a:off x="9392717" y="5120640"/>
            <a:ext cx="2021738" cy="1005840"/>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약 30명이 이용하며 새 소통창구로 자리잡음</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22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nodeType="withEffect">
                                  <p:stCondLst>
                                    <p:cond delay="22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88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88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88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05</a:t>
            </a:r>
            <a:pPr indent="0" marL="0">
              <a:lnSpc>
                <a:spcPct val="113000"/>
              </a:lnSpc>
              <a:buNone/>
            </a:pPr>
            <a:r>
              <a:rPr lang="en-US" sz="1200" b="1" spc="200" kern="0" dirty="0">
                <a:solidFill>
                  <a:schemeClr val="accent5"/>
                </a:solidFill>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해결 방안 기획 – 비용 0원, 즉시 실행 가능한 방안</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5 / 13</a:t>
            </a:r>
            <a:endParaRPr lang="en-US" sz="1000" dirty="0"/>
          </a:p>
        </p:txBody>
      </p:sp>
      <p:sp>
        <p:nvSpPr>
          <p:cNvPr id="8" name="glass-solid"/>
          <p:cNvSpPr/>
          <p:nvPr/>
        </p:nvSpPr>
        <p:spPr>
          <a:xfrm>
            <a:off x="594360" y="1600200"/>
            <a:ext cx="4480560" cy="4617720"/>
          </a:xfrm>
          <a:prstGeom prst="roundRect">
            <a:avLst>
              <a:gd name="adj" fmla="val 4082"/>
            </a:avLst>
          </a:prstGeom>
          <a:solidFill>
            <a:srgbClr val="0F64AF">
              <a:alpha val="94000"/>
            </a:srgbClr>
          </a:solidFill>
          <a:ln w="15875">
            <a:solidFill>
              <a:srgbClr val="FFFFFF">
                <a:alpha val="55000"/>
              </a:srgbClr>
            </a:solidFill>
            <a:prstDash val="solid"/>
          </a:ln>
          <a:effectLst>
            <a:outerShdw sx="100000" sy="100000" kx="0" ky="0" algn="bl" rotWithShape="0" blurRad="228600" dist="50800" dir="5400000">
              <a:srgbClr val="0A3F73">
                <a:alpha val="13000"/>
              </a:srgbClr>
            </a:outerShdw>
          </a:effectLst>
        </p:spPr>
      </p:sp>
      <p:sp>
        <p:nvSpPr>
          <p:cNvPr id="9" name="x"/>
          <p:cNvSpPr txBox="1"/>
          <p:nvPr/>
        </p:nvSpPr>
        <p:spPr>
          <a:xfrm>
            <a:off x="960120" y="1874520"/>
            <a:ext cx="2743200" cy="320040"/>
          </a:xfrm>
          <a:prstGeom prst="rect">
            <a:avLst/>
          </a:prstGeom>
          <a:noFill/>
          <a:ln/>
        </p:spPr>
        <p:txBody>
          <a:bodyPr wrap="square" lIns="0" tIns="0" rIns="0" bIns="0" rtlCol="0" anchor="ctr"/>
          <a:lstStyle/>
          <a:p>
            <a:pPr indent="0" marL="0">
              <a:lnSpc>
                <a:spcPct val="113000"/>
              </a:lnSpc>
              <a:buNone/>
            </a:pPr>
            <a:r>
              <a:rPr lang="en-US" sz="1400" b="1" spc="200" kern="0" dirty="0">
                <a:solidFill>
                  <a:srgbClr val="C9F0C2"/>
                </a:solidFill>
              </a:rPr>
              <a:t>해결 방안</a:t>
            </a:r>
            <a:endParaRPr lang="en-US" sz="1400" dirty="0"/>
          </a:p>
        </p:txBody>
      </p:sp>
      <p:sp>
        <p:nvSpPr>
          <p:cNvPr id="10" name="x"/>
          <p:cNvSpPr txBox="1"/>
          <p:nvPr/>
        </p:nvSpPr>
        <p:spPr>
          <a:xfrm>
            <a:off x="960120" y="2286000"/>
            <a:ext cx="3749040" cy="1371600"/>
          </a:xfrm>
          <a:prstGeom prst="rect">
            <a:avLst/>
          </a:prstGeom>
          <a:noFill/>
          <a:ln/>
        </p:spPr>
        <p:txBody>
          <a:bodyPr wrap="square" lIns="0" tIns="0" rIns="0" bIns="0" rtlCol="0" anchor="t"/>
          <a:lstStyle/>
          <a:p>
            <a:pPr indent="0" marL="0">
              <a:lnSpc>
                <a:spcPct val="113000"/>
              </a:lnSpc>
              <a:buNone/>
            </a:pPr>
            <a:r>
              <a:rPr lang="en-US" sz="1900" b="1" spc="-20" kern="0" dirty="0">
                <a:solidFill>
                  <a:schemeClr val="bg1"/>
                </a:solidFill>
              </a:rPr>
              <a:t>관리소 문 밖에 민원쪽지함을 설치하여 대면·유선 이외의 비대면 민원접수 수단을 제공</a:t>
            </a:r>
            <a:endParaRPr lang="en-US" sz="1900" dirty="0"/>
          </a:p>
        </p:txBody>
      </p:sp>
      <p:sp>
        <p:nvSpPr>
          <p:cNvPr id="11" name="x"/>
          <p:cNvSpPr txBox="1"/>
          <p:nvPr/>
        </p:nvSpPr>
        <p:spPr>
          <a:xfrm>
            <a:off x="960120" y="3977640"/>
            <a:ext cx="2011680" cy="320040"/>
          </a:xfrm>
          <a:prstGeom prst="rect">
            <a:avLst/>
          </a:prstGeom>
          <a:noFill/>
          <a:ln/>
        </p:spPr>
        <p:txBody>
          <a:bodyPr wrap="square" lIns="0" tIns="0" rIns="0" bIns="0" rtlCol="0" anchor="ctr"/>
          <a:lstStyle/>
          <a:p>
            <a:pPr indent="0" marL="0">
              <a:lnSpc>
                <a:spcPct val="113000"/>
              </a:lnSpc>
              <a:buNone/>
            </a:pPr>
            <a:r>
              <a:rPr lang="en-US" sz="1400" dirty="0">
                <a:solidFill>
                  <a:srgbClr val="D6ECFF"/>
                </a:solidFill>
              </a:rPr>
              <a:t>소요 예산</a:t>
            </a:r>
            <a:endParaRPr lang="en-US" sz="1400" dirty="0"/>
          </a:p>
        </p:txBody>
      </p:sp>
      <p:sp>
        <p:nvSpPr>
          <p:cNvPr id="12" name="stat"/>
          <p:cNvSpPr txBox="1"/>
          <p:nvPr/>
        </p:nvSpPr>
        <p:spPr>
          <a:xfrm>
            <a:off x="960120" y="4297680"/>
            <a:ext cx="2743200" cy="914400"/>
          </a:xfrm>
          <a:prstGeom prst="rect">
            <a:avLst/>
          </a:prstGeom>
          <a:noFill/>
          <a:ln/>
        </p:spPr>
        <p:txBody>
          <a:bodyPr wrap="square" lIns="0" tIns="0" rIns="0" bIns="0" rtlCol="0" anchor="ctr"/>
          <a:lstStyle/>
          <a:p>
            <a:pPr indent="0" marL="0">
              <a:lnSpc>
                <a:spcPct val="106000"/>
              </a:lnSpc>
              <a:buNone/>
            </a:pPr>
            <a:r>
              <a:rPr lang="en-US" sz="5600" b="1" spc="-60" kern="0" dirty="0">
                <a:solidFill>
                  <a:schemeClr val="bg1"/>
                </a:solidFill>
              </a:rPr>
              <a:t>0원</a:t>
            </a:r>
            <a:endParaRPr lang="en-US" sz="5600" dirty="0"/>
          </a:p>
        </p:txBody>
      </p:sp>
      <p:sp>
        <p:nvSpPr>
          <p:cNvPr id="13" name="x"/>
          <p:cNvSpPr txBox="1"/>
          <p:nvPr/>
        </p:nvSpPr>
        <p:spPr>
          <a:xfrm>
            <a:off x="960120" y="5303520"/>
            <a:ext cx="3749040" cy="731520"/>
          </a:xfrm>
          <a:prstGeom prst="rect">
            <a:avLst/>
          </a:prstGeom>
          <a:noFill/>
          <a:ln/>
        </p:spPr>
        <p:txBody>
          <a:bodyPr wrap="square" lIns="0" tIns="0" rIns="0" bIns="0" rtlCol="0" anchor="ctr"/>
          <a:lstStyle/>
          <a:p>
            <a:pPr indent="0" marL="0">
              <a:lnSpc>
                <a:spcPct val="113000"/>
              </a:lnSpc>
              <a:buNone/>
            </a:pPr>
            <a:r>
              <a:rPr lang="en-US" sz="1400" dirty="0">
                <a:solidFill>
                  <a:srgbClr val="D6ECFF"/>
                </a:solidFill>
              </a:rPr>
              <a:t>관리소 소모품 활용</a:t>
            </a:r>
            <a:endParaRPr lang="en-US" sz="1400" dirty="0"/>
          </a:p>
          <a:p>
            <a:pPr indent="0" marL="0">
              <a:lnSpc>
                <a:spcPct val="113000"/>
              </a:lnSpc>
              <a:buNone/>
            </a:pPr>
            <a:r>
              <a:rPr lang="en-US" sz="1400" dirty="0">
                <a:solidFill>
                  <a:srgbClr val="D6ECFF"/>
                </a:solidFill>
              </a:rPr>
              <a:t>(플라스틱 휴지곽·작은 종이박스)</a:t>
            </a:r>
            <a:endParaRPr lang="en-US" sz="1400" dirty="0"/>
          </a:p>
        </p:txBody>
      </p:sp>
      <p:sp>
        <p:nvSpPr>
          <p:cNvPr id="14" name="glass-white"/>
          <p:cNvSpPr/>
          <p:nvPr/>
        </p:nvSpPr>
        <p:spPr>
          <a:xfrm>
            <a:off x="5349240" y="1600200"/>
            <a:ext cx="6248095" cy="1417320"/>
          </a:xfrm>
          <a:prstGeom prst="roundRect">
            <a:avLst>
              <a:gd name="adj" fmla="val 9032"/>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5" name="iconChip"/>
          <p:cNvSpPr/>
          <p:nvPr/>
        </p:nvSpPr>
        <p:spPr>
          <a:xfrm>
            <a:off x="5577840" y="1709928"/>
            <a:ext cx="457200" cy="457200"/>
          </a:xfrm>
          <a:prstGeom prst="ellipse">
            <a:avLst/>
          </a:prstGeom>
          <a:solidFill>
            <a:srgbClr val="FFFFFF">
              <a:alpha val="75000"/>
            </a:srgbClr>
          </a:solidFill>
          <a:ln w="12700">
            <a:solidFill>
              <a:srgbClr val="0F64AF">
                <a:alpha val="45000"/>
              </a:srgbClr>
            </a:solidFill>
            <a:prstDash val="solid"/>
          </a:ln>
        </p:spPr>
      </p:sp>
      <p:pic>
        <p:nvPicPr>
          <p:cNvPr id="16" name="x" descr="icon">    </p:cNvPr>
          <p:cNvPicPr>
            <a:picLocks noChangeAspect="1"/>
          </p:cNvPicPr>
          <p:nvPr/>
        </p:nvPicPr>
        <p:blipFill>
          <a:blip r:embed="rId2"/>
          <a:stretch>
            <a:fillRect/>
          </a:stretch>
        </p:blipFill>
        <p:spPr>
          <a:xfrm>
            <a:off x="5705856" y="1837944"/>
            <a:ext cx="201168" cy="201168"/>
          </a:xfrm>
          <a:prstGeom prst="rect">
            <a:avLst/>
          </a:prstGeom>
        </p:spPr>
      </p:pic>
      <p:sp>
        <p:nvSpPr>
          <p:cNvPr id="17" name="x"/>
          <p:cNvSpPr txBox="1"/>
          <p:nvPr/>
        </p:nvSpPr>
        <p:spPr>
          <a:xfrm>
            <a:off x="6172200" y="1709928"/>
            <a:ext cx="3063240"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개선 가능 여부  O</a:t>
            </a:r>
            <a:endParaRPr lang="en-US" sz="1700" dirty="0"/>
          </a:p>
        </p:txBody>
      </p:sp>
      <p:sp>
        <p:nvSpPr>
          <p:cNvPr id="18" name="bullets"/>
          <p:cNvSpPr txBox="1"/>
          <p:nvPr/>
        </p:nvSpPr>
        <p:spPr>
          <a:xfrm>
            <a:off x="5669280" y="2203704"/>
            <a:ext cx="5699455" cy="777240"/>
          </a:xfrm>
          <a:prstGeom prst="rect">
            <a:avLst/>
          </a:prstGeom>
          <a:noFill/>
          <a:ln/>
        </p:spPr>
        <p:txBody>
          <a:bodyPr wrap="square" lIns="0" tIns="0" rIns="0" bIns="0" rtlCol="0" anchor="t"/>
          <a:lstStyle/>
          <a:p>
            <a:pPr marL="203200" indent="-203200">
              <a:lnSpc>
                <a:spcPct val="113000"/>
              </a:lnSpc>
              <a:spcAft>
                <a:spcPts val="200"/>
              </a:spcAft>
              <a:buSzPct val="100000"/>
              <a:buChar char="•"/>
            </a:pPr>
            <a:r>
              <a:rPr lang="en-US" sz="1400" dirty="0">
                <a:solidFill>
                  <a:schemeClr val="tx1"/>
                </a:solidFill>
              </a:rPr>
              <a:t>별도의 법령상 제한이 없음</a:t>
            </a:r>
            <a:endParaRPr lang="en-US" sz="1400" dirty="0"/>
          </a:p>
          <a:p>
            <a:pPr marL="203200" indent="-203200">
              <a:lnSpc>
                <a:spcPct val="113000"/>
              </a:lnSpc>
              <a:spcAft>
                <a:spcPts val="200"/>
              </a:spcAft>
              <a:buSzPct val="100000"/>
              <a:buChar char="•"/>
            </a:pPr>
            <a:r>
              <a:rPr lang="en-US" sz="1400" dirty="0">
                <a:solidFill>
                  <a:schemeClr val="tx1"/>
                </a:solidFill>
              </a:rPr>
              <a:t>관리소 보유 소모품으로 간단히 제작 → 즉시 개선 가능</a:t>
            </a:r>
            <a:endParaRPr lang="en-US" sz="1400" dirty="0"/>
          </a:p>
          <a:p>
            <a:pPr marL="203200" indent="-203200">
              <a:lnSpc>
                <a:spcPct val="113000"/>
              </a:lnSpc>
              <a:spcAft>
                <a:spcPts val="200"/>
              </a:spcAft>
              <a:buSzPct val="100000"/>
              <a:buChar char="•"/>
            </a:pPr>
            <a:r>
              <a:rPr lang="en-US" sz="1400" dirty="0">
                <a:solidFill>
                  <a:schemeClr val="tx1"/>
                </a:solidFill>
              </a:rPr>
              <a:t>별도 구매비용 없이 제작</a:t>
            </a:r>
            <a:endParaRPr lang="en-US" sz="1400" dirty="0"/>
          </a:p>
        </p:txBody>
      </p:sp>
      <p:sp>
        <p:nvSpPr>
          <p:cNvPr id="19" name="glass-white"/>
          <p:cNvSpPr/>
          <p:nvPr/>
        </p:nvSpPr>
        <p:spPr>
          <a:xfrm>
            <a:off x="5349240" y="3063240"/>
            <a:ext cx="6248095" cy="960120"/>
          </a:xfrm>
          <a:prstGeom prst="roundRect">
            <a:avLst>
              <a:gd name="adj" fmla="val 13333"/>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0" name="iconChip"/>
          <p:cNvSpPr/>
          <p:nvPr/>
        </p:nvSpPr>
        <p:spPr>
          <a:xfrm>
            <a:off x="5577840" y="3172968"/>
            <a:ext cx="457200" cy="457200"/>
          </a:xfrm>
          <a:prstGeom prst="ellipse">
            <a:avLst/>
          </a:prstGeom>
          <a:solidFill>
            <a:srgbClr val="FFFFFF">
              <a:alpha val="75000"/>
            </a:srgbClr>
          </a:solidFill>
          <a:ln w="12700">
            <a:solidFill>
              <a:srgbClr val="2E8A22">
                <a:alpha val="45000"/>
              </a:srgbClr>
            </a:solidFill>
            <a:prstDash val="solid"/>
          </a:ln>
        </p:spPr>
      </p:sp>
      <p:pic>
        <p:nvPicPr>
          <p:cNvPr id="21" name="x" descr="icon">    </p:cNvPr>
          <p:cNvPicPr>
            <a:picLocks noChangeAspect="1"/>
          </p:cNvPicPr>
          <p:nvPr/>
        </p:nvPicPr>
        <p:blipFill>
          <a:blip r:embed="rId3"/>
          <a:stretch>
            <a:fillRect/>
          </a:stretch>
        </p:blipFill>
        <p:spPr>
          <a:xfrm>
            <a:off x="5705856" y="3300984"/>
            <a:ext cx="201168" cy="201168"/>
          </a:xfrm>
          <a:prstGeom prst="rect">
            <a:avLst/>
          </a:prstGeom>
        </p:spPr>
      </p:pic>
      <p:sp>
        <p:nvSpPr>
          <p:cNvPr id="22" name="x"/>
          <p:cNvSpPr txBox="1"/>
          <p:nvPr/>
        </p:nvSpPr>
        <p:spPr>
          <a:xfrm>
            <a:off x="6172200" y="3172968"/>
            <a:ext cx="3063240"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해결 목표</a:t>
            </a:r>
            <a:endParaRPr lang="en-US" sz="1700" dirty="0"/>
          </a:p>
        </p:txBody>
      </p:sp>
      <p:sp>
        <p:nvSpPr>
          <p:cNvPr id="23" name="bullets"/>
          <p:cNvSpPr txBox="1"/>
          <p:nvPr/>
        </p:nvSpPr>
        <p:spPr>
          <a:xfrm>
            <a:off x="5669280" y="3666744"/>
            <a:ext cx="5699455" cy="320040"/>
          </a:xfrm>
          <a:prstGeom prst="rect">
            <a:avLst/>
          </a:prstGeom>
          <a:noFill/>
          <a:ln/>
        </p:spPr>
        <p:txBody>
          <a:bodyPr wrap="square" lIns="0" tIns="0" rIns="0" bIns="0" rtlCol="0" anchor="t"/>
          <a:lstStyle/>
          <a:p>
            <a:pPr marL="203200" indent="-203200">
              <a:lnSpc>
                <a:spcPct val="113000"/>
              </a:lnSpc>
              <a:spcAft>
                <a:spcPts val="200"/>
              </a:spcAft>
              <a:buSzPct val="100000"/>
              <a:buChar char="•"/>
            </a:pPr>
            <a:r>
              <a:rPr lang="en-US" sz="1400" dirty="0">
                <a:solidFill>
                  <a:schemeClr val="tx1"/>
                </a:solidFill>
              </a:rPr>
              <a:t>직원 대면·전화 없이 시설개선·생활불편 의견을 전달할 창구 마련</a:t>
            </a:r>
            <a:endParaRPr lang="en-US" sz="1400" dirty="0"/>
          </a:p>
        </p:txBody>
      </p:sp>
      <p:sp>
        <p:nvSpPr>
          <p:cNvPr id="24" name="glass-white"/>
          <p:cNvSpPr/>
          <p:nvPr/>
        </p:nvSpPr>
        <p:spPr>
          <a:xfrm>
            <a:off x="5349240" y="4069080"/>
            <a:ext cx="6248095" cy="914400"/>
          </a:xfrm>
          <a:prstGeom prst="roundRect">
            <a:avLst>
              <a:gd name="adj" fmla="val 14000"/>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5" name="iconChip"/>
          <p:cNvSpPr/>
          <p:nvPr/>
        </p:nvSpPr>
        <p:spPr>
          <a:xfrm>
            <a:off x="5577840" y="4178808"/>
            <a:ext cx="457200" cy="457200"/>
          </a:xfrm>
          <a:prstGeom prst="ellipse">
            <a:avLst/>
          </a:prstGeom>
          <a:solidFill>
            <a:srgbClr val="FFFFFF">
              <a:alpha val="75000"/>
            </a:srgbClr>
          </a:solidFill>
          <a:ln w="12700">
            <a:solidFill>
              <a:srgbClr val="0F64AF">
                <a:alpha val="45000"/>
              </a:srgbClr>
            </a:solidFill>
            <a:prstDash val="solid"/>
          </a:ln>
        </p:spPr>
      </p:sp>
      <p:pic>
        <p:nvPicPr>
          <p:cNvPr id="26" name="x" descr="icon">    </p:cNvPr>
          <p:cNvPicPr>
            <a:picLocks noChangeAspect="1"/>
          </p:cNvPicPr>
          <p:nvPr/>
        </p:nvPicPr>
        <p:blipFill>
          <a:blip r:embed="rId4"/>
          <a:stretch>
            <a:fillRect/>
          </a:stretch>
        </p:blipFill>
        <p:spPr>
          <a:xfrm>
            <a:off x="5705856" y="4306824"/>
            <a:ext cx="201168" cy="201168"/>
          </a:xfrm>
          <a:prstGeom prst="rect">
            <a:avLst/>
          </a:prstGeom>
        </p:spPr>
      </p:pic>
      <p:sp>
        <p:nvSpPr>
          <p:cNvPr id="27" name="x"/>
          <p:cNvSpPr txBox="1"/>
          <p:nvPr/>
        </p:nvSpPr>
        <p:spPr>
          <a:xfrm>
            <a:off x="6172200" y="4178808"/>
            <a:ext cx="3063240"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기대효과</a:t>
            </a:r>
            <a:endParaRPr lang="en-US" sz="1700" dirty="0"/>
          </a:p>
        </p:txBody>
      </p:sp>
      <p:sp>
        <p:nvSpPr>
          <p:cNvPr id="28" name="bullets"/>
          <p:cNvSpPr txBox="1"/>
          <p:nvPr/>
        </p:nvSpPr>
        <p:spPr>
          <a:xfrm>
            <a:off x="5669280" y="4672584"/>
            <a:ext cx="5699455" cy="274320"/>
          </a:xfrm>
          <a:prstGeom prst="rect">
            <a:avLst/>
          </a:prstGeom>
          <a:noFill/>
          <a:ln/>
        </p:spPr>
        <p:txBody>
          <a:bodyPr wrap="square" lIns="0" tIns="0" rIns="0" bIns="0" rtlCol="0" anchor="t"/>
          <a:lstStyle/>
          <a:p>
            <a:pPr marL="203200" indent="-203200">
              <a:lnSpc>
                <a:spcPct val="113000"/>
              </a:lnSpc>
              <a:spcAft>
                <a:spcPts val="200"/>
              </a:spcAft>
              <a:buSzPct val="100000"/>
              <a:buChar char="•"/>
            </a:pPr>
            <a:r>
              <a:rPr lang="en-US" sz="1400" dirty="0">
                <a:solidFill>
                  <a:schemeClr val="tx1"/>
                </a:solidFill>
              </a:rPr>
              <a:t>민원창구 접근성을 높여 입주민 의견이 누락되지 않도록 함</a:t>
            </a:r>
            <a:endParaRPr lang="en-US" sz="1400" dirty="0"/>
          </a:p>
        </p:txBody>
      </p:sp>
      <p:sp>
        <p:nvSpPr>
          <p:cNvPr id="29" name="glass-white"/>
          <p:cNvSpPr/>
          <p:nvPr/>
        </p:nvSpPr>
        <p:spPr>
          <a:xfrm>
            <a:off x="5349240" y="5029200"/>
            <a:ext cx="6248095" cy="1143000"/>
          </a:xfrm>
          <a:prstGeom prst="roundRect">
            <a:avLst>
              <a:gd name="adj" fmla="val 11200"/>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30" name="iconChip"/>
          <p:cNvSpPr/>
          <p:nvPr/>
        </p:nvSpPr>
        <p:spPr>
          <a:xfrm>
            <a:off x="5577840" y="5138928"/>
            <a:ext cx="457200" cy="457200"/>
          </a:xfrm>
          <a:prstGeom prst="ellipse">
            <a:avLst/>
          </a:prstGeom>
          <a:solidFill>
            <a:srgbClr val="FFFFFF">
              <a:alpha val="75000"/>
            </a:srgbClr>
          </a:solidFill>
          <a:ln w="12700">
            <a:solidFill>
              <a:srgbClr val="2E8A22">
                <a:alpha val="45000"/>
              </a:srgbClr>
            </a:solidFill>
            <a:prstDash val="solid"/>
          </a:ln>
        </p:spPr>
      </p:sp>
      <p:pic>
        <p:nvPicPr>
          <p:cNvPr id="31" name="x" descr="icon">    </p:cNvPr>
          <p:cNvPicPr>
            <a:picLocks noChangeAspect="1"/>
          </p:cNvPicPr>
          <p:nvPr/>
        </p:nvPicPr>
        <p:blipFill>
          <a:blip r:embed="rId5"/>
          <a:stretch>
            <a:fillRect/>
          </a:stretch>
        </p:blipFill>
        <p:spPr>
          <a:xfrm>
            <a:off x="5705856" y="5266944"/>
            <a:ext cx="201168" cy="201168"/>
          </a:xfrm>
          <a:prstGeom prst="rect">
            <a:avLst/>
          </a:prstGeom>
        </p:spPr>
      </p:pic>
      <p:sp>
        <p:nvSpPr>
          <p:cNvPr id="32" name="x"/>
          <p:cNvSpPr txBox="1"/>
          <p:nvPr/>
        </p:nvSpPr>
        <p:spPr>
          <a:xfrm>
            <a:off x="6172200" y="5138928"/>
            <a:ext cx="3063240"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예상 장애요인 및 대응</a:t>
            </a:r>
            <a:endParaRPr lang="en-US" sz="1700" dirty="0"/>
          </a:p>
        </p:txBody>
      </p:sp>
      <p:sp>
        <p:nvSpPr>
          <p:cNvPr id="33" name="bullets"/>
          <p:cNvSpPr txBox="1"/>
          <p:nvPr/>
        </p:nvSpPr>
        <p:spPr>
          <a:xfrm>
            <a:off x="5669280" y="5632704"/>
            <a:ext cx="5699455" cy="502920"/>
          </a:xfrm>
          <a:prstGeom prst="rect">
            <a:avLst/>
          </a:prstGeom>
          <a:noFill/>
          <a:ln/>
        </p:spPr>
        <p:txBody>
          <a:bodyPr wrap="square" lIns="0" tIns="0" rIns="0" bIns="0" rtlCol="0" anchor="t"/>
          <a:lstStyle/>
          <a:p>
            <a:pPr marL="203200" indent="-203200">
              <a:lnSpc>
                <a:spcPct val="113000"/>
              </a:lnSpc>
              <a:spcAft>
                <a:spcPts val="200"/>
              </a:spcAft>
              <a:buSzPct val="100000"/>
              <a:buChar char="•"/>
            </a:pPr>
            <a:r>
              <a:rPr lang="en-US" sz="1400" dirty="0">
                <a:solidFill>
                  <a:schemeClr val="tx1"/>
                </a:solidFill>
              </a:rPr>
              <a:t>특별한 장애요인은 예상되지 않음</a:t>
            </a:r>
            <a:endParaRPr lang="en-US" sz="1400" dirty="0"/>
          </a:p>
          <a:p>
            <a:pPr marL="203200" indent="-203200">
              <a:lnSpc>
                <a:spcPct val="113000"/>
              </a:lnSpc>
              <a:spcAft>
                <a:spcPts val="200"/>
              </a:spcAft>
              <a:buSzPct val="100000"/>
              <a:buChar char="•"/>
            </a:pPr>
            <a:r>
              <a:rPr lang="en-US" sz="1400" dirty="0">
                <a:solidFill>
                  <a:schemeClr val="tx1"/>
                </a:solidFill>
              </a:rPr>
              <a:t>설치 후 쪽지함을 매일 아침 확인하는 관리체계 마련</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22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44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nodeType="withEffect">
                                  <p:stCondLst>
                                    <p:cond delay="66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66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66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88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88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nodeType="withEffect">
                                  <p:stCondLst>
                                    <p:cond delay="88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88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88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06</a:t>
            </a:r>
            <a:pPr indent="0" marL="0">
              <a:lnSpc>
                <a:spcPct val="113000"/>
              </a:lnSpc>
              <a:buNone/>
            </a:pPr>
            <a:r>
              <a:rPr lang="en-US" sz="1200" b="1" spc="200" kern="0" dirty="0">
                <a:solidFill>
                  <a:schemeClr val="accent5"/>
                </a:solidFill>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추진 방법과 일정 – 2026년 9월, 3주 만에 운영 시작</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6 / 13</a:t>
            </a:r>
            <a:endParaRPr lang="en-US" sz="1000" dirty="0"/>
          </a:p>
        </p:txBody>
      </p:sp>
      <p:sp>
        <p:nvSpPr>
          <p:cNvPr id="8" name="Text 5"/>
          <p:cNvSpPr txBox="1"/>
          <p:nvPr/>
        </p:nvSpPr>
        <p:spPr>
          <a:xfrm>
            <a:off x="594360" y="1554480"/>
            <a:ext cx="3657600" cy="36576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추진 방법</a:t>
            </a:r>
            <a:endParaRPr lang="en-US" sz="1700" dirty="0"/>
          </a:p>
        </p:txBody>
      </p:sp>
      <p:sp>
        <p:nvSpPr>
          <p:cNvPr id="9" name="glass-green"/>
          <p:cNvSpPr/>
          <p:nvPr/>
        </p:nvSpPr>
        <p:spPr>
          <a:xfrm>
            <a:off x="594360" y="2011680"/>
            <a:ext cx="1352398" cy="1325880"/>
          </a:xfrm>
          <a:prstGeom prst="roundRect">
            <a:avLst>
              <a:gd name="adj" fmla="val 9655"/>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0" name="x"/>
          <p:cNvSpPr txBox="1"/>
          <p:nvPr/>
        </p:nvSpPr>
        <p:spPr>
          <a:xfrm>
            <a:off x="594360" y="2011680"/>
            <a:ext cx="1352398" cy="1325880"/>
          </a:xfrm>
          <a:prstGeom prst="rect">
            <a:avLst/>
          </a:prstGeom>
          <a:noFill/>
          <a:ln/>
        </p:spPr>
        <p:txBody>
          <a:bodyPr wrap="square" lIns="50800" tIns="50800" rIns="50800" bIns="50800" rtlCol="0" anchor="ctr"/>
          <a:lstStyle/>
          <a:p>
            <a:pPr algn="ctr" indent="0" marL="0">
              <a:lnSpc>
                <a:spcPct val="113000"/>
              </a:lnSpc>
              <a:buNone/>
            </a:pPr>
            <a:r>
              <a:rPr lang="en-US" sz="2000" b="1" spc="-20" kern="0" dirty="0">
                <a:solidFill>
                  <a:srgbClr val="2E8A22"/>
                </a:solidFill>
              </a:rPr>
              <a:t>1</a:t>
            </a:r>
            <a:endParaRPr lang="en-US" sz="2000" dirty="0"/>
          </a:p>
          <a:p>
            <a:pPr algn="ctr" indent="0" marL="0">
              <a:lnSpc>
                <a:spcPct val="113000"/>
              </a:lnSpc>
              <a:buNone/>
            </a:pPr>
            <a:r>
              <a:rPr lang="en-US" sz="1400" b="1" spc="-20" kern="0" dirty="0">
                <a:solidFill>
                  <a:schemeClr val="accent3"/>
                </a:solidFill>
              </a:rPr>
              <a:t>주민 의견 수렴</a:t>
            </a:r>
            <a:endParaRPr lang="en-US" sz="2000" dirty="0"/>
          </a:p>
        </p:txBody>
      </p:sp>
      <p:pic>
        <p:nvPicPr>
          <p:cNvPr id="11" name="x" descr="다음">    </p:cNvPr>
          <p:cNvPicPr>
            <a:picLocks noChangeAspect="1"/>
          </p:cNvPicPr>
          <p:nvPr/>
        </p:nvPicPr>
        <p:blipFill>
          <a:blip r:embed="rId2"/>
          <a:stretch>
            <a:fillRect/>
          </a:stretch>
        </p:blipFill>
        <p:spPr>
          <a:xfrm>
            <a:off x="1974190" y="2587752"/>
            <a:ext cx="182880" cy="182880"/>
          </a:xfrm>
          <a:prstGeom prst="rect">
            <a:avLst/>
          </a:prstGeom>
        </p:spPr>
      </p:pic>
      <p:sp>
        <p:nvSpPr>
          <p:cNvPr id="12" name="glass-blue"/>
          <p:cNvSpPr/>
          <p:nvPr/>
        </p:nvSpPr>
        <p:spPr>
          <a:xfrm>
            <a:off x="2202790"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3" name="x"/>
          <p:cNvSpPr txBox="1"/>
          <p:nvPr/>
        </p:nvSpPr>
        <p:spPr>
          <a:xfrm>
            <a:off x="2202790" y="2011680"/>
            <a:ext cx="1352398" cy="1325880"/>
          </a:xfrm>
          <a:prstGeom prst="rect">
            <a:avLst/>
          </a:prstGeom>
          <a:noFill/>
          <a:ln/>
        </p:spPr>
        <p:txBody>
          <a:bodyPr wrap="square" lIns="50800" tIns="50800" rIns="50800" bIns="50800" rtlCol="0" anchor="ctr"/>
          <a:lstStyle/>
          <a:p>
            <a:pPr algn="ctr" indent="0" marL="0">
              <a:lnSpc>
                <a:spcPct val="113000"/>
              </a:lnSpc>
              <a:buNone/>
            </a:pPr>
            <a:r>
              <a:rPr lang="en-US" sz="2000" b="1" spc="-20" kern="0" dirty="0">
                <a:solidFill>
                  <a:schemeClr val="accent1"/>
                </a:solidFill>
              </a:rPr>
              <a:t>2</a:t>
            </a:r>
            <a:endParaRPr lang="en-US" sz="2000" dirty="0"/>
          </a:p>
          <a:p>
            <a:pPr algn="ctr" indent="0" marL="0">
              <a:lnSpc>
                <a:spcPct val="113000"/>
              </a:lnSpc>
              <a:buNone/>
            </a:pPr>
            <a:r>
              <a:rPr lang="en-US" sz="1400" b="1" spc="-20" kern="0" dirty="0">
                <a:solidFill>
                  <a:schemeClr val="accent3"/>
                </a:solidFill>
              </a:rPr>
              <a:t>현장 확인</a:t>
            </a:r>
            <a:endParaRPr lang="en-US" sz="2000" dirty="0"/>
          </a:p>
        </p:txBody>
      </p:sp>
      <p:pic>
        <p:nvPicPr>
          <p:cNvPr id="14" name="x" descr="다음">    </p:cNvPr>
          <p:cNvPicPr>
            <a:picLocks noChangeAspect="1"/>
          </p:cNvPicPr>
          <p:nvPr/>
        </p:nvPicPr>
        <p:blipFill>
          <a:blip r:embed="rId3"/>
          <a:stretch>
            <a:fillRect/>
          </a:stretch>
        </p:blipFill>
        <p:spPr>
          <a:xfrm>
            <a:off x="3582619" y="2587752"/>
            <a:ext cx="182880" cy="182880"/>
          </a:xfrm>
          <a:prstGeom prst="rect">
            <a:avLst/>
          </a:prstGeom>
        </p:spPr>
      </p:pic>
      <p:sp>
        <p:nvSpPr>
          <p:cNvPr id="15" name="glass-blue"/>
          <p:cNvSpPr/>
          <p:nvPr/>
        </p:nvSpPr>
        <p:spPr>
          <a:xfrm>
            <a:off x="3811219"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6" name="x"/>
          <p:cNvSpPr txBox="1"/>
          <p:nvPr/>
        </p:nvSpPr>
        <p:spPr>
          <a:xfrm>
            <a:off x="3811219" y="2011680"/>
            <a:ext cx="1352398" cy="1325880"/>
          </a:xfrm>
          <a:prstGeom prst="rect">
            <a:avLst/>
          </a:prstGeom>
          <a:noFill/>
          <a:ln/>
        </p:spPr>
        <p:txBody>
          <a:bodyPr wrap="square" lIns="50800" tIns="50800" rIns="50800" bIns="50800" rtlCol="0" anchor="ctr"/>
          <a:lstStyle/>
          <a:p>
            <a:pPr algn="ctr" indent="0" marL="0">
              <a:lnSpc>
                <a:spcPct val="113000"/>
              </a:lnSpc>
              <a:buNone/>
            </a:pPr>
            <a:r>
              <a:rPr lang="en-US" sz="2000" b="1" spc="-20" kern="0" dirty="0">
                <a:solidFill>
                  <a:schemeClr val="accent1"/>
                </a:solidFill>
              </a:rPr>
              <a:t>3</a:t>
            </a:r>
            <a:endParaRPr lang="en-US" sz="2000" dirty="0"/>
          </a:p>
          <a:p>
            <a:pPr algn="ctr" indent="0" marL="0">
              <a:lnSpc>
                <a:spcPct val="113000"/>
              </a:lnSpc>
              <a:buNone/>
            </a:pPr>
            <a:r>
              <a:rPr lang="en-US" sz="1400" b="1" spc="-20" kern="0" dirty="0">
                <a:solidFill>
                  <a:schemeClr val="accent3"/>
                </a:solidFill>
              </a:rPr>
              <a:t>관리소 직원 회의</a:t>
            </a:r>
            <a:endParaRPr lang="en-US" sz="2000" dirty="0"/>
          </a:p>
        </p:txBody>
      </p:sp>
      <p:pic>
        <p:nvPicPr>
          <p:cNvPr id="17" name="x" descr="다음">    </p:cNvPr>
          <p:cNvPicPr>
            <a:picLocks noChangeAspect="1"/>
          </p:cNvPicPr>
          <p:nvPr/>
        </p:nvPicPr>
        <p:blipFill>
          <a:blip r:embed="rId4"/>
          <a:stretch>
            <a:fillRect/>
          </a:stretch>
        </p:blipFill>
        <p:spPr>
          <a:xfrm>
            <a:off x="5191049" y="2587752"/>
            <a:ext cx="182880" cy="182880"/>
          </a:xfrm>
          <a:prstGeom prst="rect">
            <a:avLst/>
          </a:prstGeom>
        </p:spPr>
      </p:pic>
      <p:sp>
        <p:nvSpPr>
          <p:cNvPr id="18" name="glass-blue"/>
          <p:cNvSpPr/>
          <p:nvPr/>
        </p:nvSpPr>
        <p:spPr>
          <a:xfrm>
            <a:off x="5419649"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9" name="x"/>
          <p:cNvSpPr txBox="1"/>
          <p:nvPr/>
        </p:nvSpPr>
        <p:spPr>
          <a:xfrm>
            <a:off x="5419649" y="2011680"/>
            <a:ext cx="1352398" cy="1325880"/>
          </a:xfrm>
          <a:prstGeom prst="rect">
            <a:avLst/>
          </a:prstGeom>
          <a:noFill/>
          <a:ln/>
        </p:spPr>
        <p:txBody>
          <a:bodyPr wrap="square" lIns="50800" tIns="50800" rIns="50800" bIns="50800" rtlCol="0" anchor="ctr"/>
          <a:lstStyle/>
          <a:p>
            <a:pPr algn="ctr" indent="0" marL="0">
              <a:lnSpc>
                <a:spcPct val="113000"/>
              </a:lnSpc>
              <a:buNone/>
            </a:pPr>
            <a:r>
              <a:rPr lang="en-US" sz="2000" b="1" spc="-20" kern="0" dirty="0">
                <a:solidFill>
                  <a:schemeClr val="accent1"/>
                </a:solidFill>
              </a:rPr>
              <a:t>4</a:t>
            </a:r>
            <a:endParaRPr lang="en-US" sz="2000" dirty="0"/>
          </a:p>
          <a:p>
            <a:pPr algn="ctr" indent="0" marL="0">
              <a:lnSpc>
                <a:spcPct val="113000"/>
              </a:lnSpc>
              <a:buNone/>
            </a:pPr>
            <a:r>
              <a:rPr lang="en-US" sz="1400" b="1" spc="-20" kern="0" dirty="0">
                <a:solidFill>
                  <a:schemeClr val="accent3"/>
                </a:solidFill>
              </a:rPr>
              <a:t>민원쪽지함 제작</a:t>
            </a:r>
            <a:endParaRPr lang="en-US" sz="2000" dirty="0"/>
          </a:p>
        </p:txBody>
      </p:sp>
      <p:pic>
        <p:nvPicPr>
          <p:cNvPr id="20" name="x" descr="다음">    </p:cNvPr>
          <p:cNvPicPr>
            <a:picLocks noChangeAspect="1"/>
          </p:cNvPicPr>
          <p:nvPr/>
        </p:nvPicPr>
        <p:blipFill>
          <a:blip r:embed="rId5"/>
          <a:stretch>
            <a:fillRect/>
          </a:stretch>
        </p:blipFill>
        <p:spPr>
          <a:xfrm>
            <a:off x="6799478" y="2587752"/>
            <a:ext cx="182880" cy="182880"/>
          </a:xfrm>
          <a:prstGeom prst="rect">
            <a:avLst/>
          </a:prstGeom>
        </p:spPr>
      </p:pic>
      <p:sp>
        <p:nvSpPr>
          <p:cNvPr id="21" name="glass-blue"/>
          <p:cNvSpPr/>
          <p:nvPr/>
        </p:nvSpPr>
        <p:spPr>
          <a:xfrm>
            <a:off x="7028078"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2" name="x"/>
          <p:cNvSpPr txBox="1"/>
          <p:nvPr/>
        </p:nvSpPr>
        <p:spPr>
          <a:xfrm>
            <a:off x="7028078" y="2011680"/>
            <a:ext cx="1352398" cy="1325880"/>
          </a:xfrm>
          <a:prstGeom prst="rect">
            <a:avLst/>
          </a:prstGeom>
          <a:noFill/>
          <a:ln/>
        </p:spPr>
        <p:txBody>
          <a:bodyPr wrap="square" lIns="50800" tIns="50800" rIns="50800" bIns="50800" rtlCol="0" anchor="ctr"/>
          <a:lstStyle/>
          <a:p>
            <a:pPr algn="ctr" indent="0" marL="0">
              <a:lnSpc>
                <a:spcPct val="113000"/>
              </a:lnSpc>
              <a:buNone/>
            </a:pPr>
            <a:r>
              <a:rPr lang="en-US" sz="2000" b="1" spc="-20" kern="0" dirty="0">
                <a:solidFill>
                  <a:schemeClr val="accent1"/>
                </a:solidFill>
              </a:rPr>
              <a:t>5</a:t>
            </a:r>
            <a:endParaRPr lang="en-US" sz="2000" dirty="0"/>
          </a:p>
          <a:p>
            <a:pPr algn="ctr" indent="0" marL="0">
              <a:lnSpc>
                <a:spcPct val="113000"/>
              </a:lnSpc>
              <a:buNone/>
            </a:pPr>
            <a:r>
              <a:rPr lang="en-US" sz="1400" b="1" spc="-20" kern="0" dirty="0">
                <a:solidFill>
                  <a:schemeClr val="accent3"/>
                </a:solidFill>
              </a:rPr>
              <a:t>설치</a:t>
            </a:r>
            <a:endParaRPr lang="en-US" sz="2000" dirty="0"/>
          </a:p>
        </p:txBody>
      </p:sp>
      <p:pic>
        <p:nvPicPr>
          <p:cNvPr id="23" name="x" descr="다음">    </p:cNvPr>
          <p:cNvPicPr>
            <a:picLocks noChangeAspect="1"/>
          </p:cNvPicPr>
          <p:nvPr/>
        </p:nvPicPr>
        <p:blipFill>
          <a:blip r:embed="rId6"/>
          <a:stretch>
            <a:fillRect/>
          </a:stretch>
        </p:blipFill>
        <p:spPr>
          <a:xfrm>
            <a:off x="8407908" y="2587752"/>
            <a:ext cx="182880" cy="182880"/>
          </a:xfrm>
          <a:prstGeom prst="rect">
            <a:avLst/>
          </a:prstGeom>
        </p:spPr>
      </p:pic>
      <p:sp>
        <p:nvSpPr>
          <p:cNvPr id="24" name="glass-blue"/>
          <p:cNvSpPr/>
          <p:nvPr/>
        </p:nvSpPr>
        <p:spPr>
          <a:xfrm>
            <a:off x="8636508"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5" name="x"/>
          <p:cNvSpPr txBox="1"/>
          <p:nvPr/>
        </p:nvSpPr>
        <p:spPr>
          <a:xfrm>
            <a:off x="8636508" y="2011680"/>
            <a:ext cx="1352398" cy="1325880"/>
          </a:xfrm>
          <a:prstGeom prst="rect">
            <a:avLst/>
          </a:prstGeom>
          <a:noFill/>
          <a:ln/>
        </p:spPr>
        <p:txBody>
          <a:bodyPr wrap="square" lIns="50800" tIns="50800" rIns="50800" bIns="50800" rtlCol="0" anchor="ctr"/>
          <a:lstStyle/>
          <a:p>
            <a:pPr algn="ctr" indent="0" marL="0">
              <a:lnSpc>
                <a:spcPct val="113000"/>
              </a:lnSpc>
              <a:buNone/>
            </a:pPr>
            <a:r>
              <a:rPr lang="en-US" sz="2000" b="1" spc="-20" kern="0" dirty="0">
                <a:solidFill>
                  <a:schemeClr val="accent1"/>
                </a:solidFill>
              </a:rPr>
              <a:t>6</a:t>
            </a:r>
            <a:endParaRPr lang="en-US" sz="2000" dirty="0"/>
          </a:p>
          <a:p>
            <a:pPr algn="ctr" indent="0" marL="0">
              <a:lnSpc>
                <a:spcPct val="113000"/>
              </a:lnSpc>
              <a:buNone/>
            </a:pPr>
            <a:r>
              <a:rPr lang="en-US" sz="1400" b="1" spc="-20" kern="0" dirty="0">
                <a:solidFill>
                  <a:schemeClr val="accent3"/>
                </a:solidFill>
              </a:rPr>
              <a:t>이용 안내 및 운영</a:t>
            </a:r>
            <a:endParaRPr lang="en-US" sz="2000" dirty="0"/>
          </a:p>
        </p:txBody>
      </p:sp>
      <p:pic>
        <p:nvPicPr>
          <p:cNvPr id="26" name="x" descr="다음">    </p:cNvPr>
          <p:cNvPicPr>
            <a:picLocks noChangeAspect="1"/>
          </p:cNvPicPr>
          <p:nvPr/>
        </p:nvPicPr>
        <p:blipFill>
          <a:blip r:embed="rId7"/>
          <a:stretch>
            <a:fillRect/>
          </a:stretch>
        </p:blipFill>
        <p:spPr>
          <a:xfrm>
            <a:off x="10016338" y="2587752"/>
            <a:ext cx="182880" cy="182880"/>
          </a:xfrm>
          <a:prstGeom prst="rect">
            <a:avLst/>
          </a:prstGeom>
        </p:spPr>
      </p:pic>
      <p:sp>
        <p:nvSpPr>
          <p:cNvPr id="27" name="glass-green"/>
          <p:cNvSpPr/>
          <p:nvPr/>
        </p:nvSpPr>
        <p:spPr>
          <a:xfrm>
            <a:off x="10244938" y="2011680"/>
            <a:ext cx="1352398" cy="1325880"/>
          </a:xfrm>
          <a:prstGeom prst="roundRect">
            <a:avLst>
              <a:gd name="adj" fmla="val 9655"/>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8" name="x"/>
          <p:cNvSpPr txBox="1"/>
          <p:nvPr/>
        </p:nvSpPr>
        <p:spPr>
          <a:xfrm>
            <a:off x="10244938" y="2011680"/>
            <a:ext cx="1352398" cy="1325880"/>
          </a:xfrm>
          <a:prstGeom prst="rect">
            <a:avLst/>
          </a:prstGeom>
          <a:noFill/>
          <a:ln/>
        </p:spPr>
        <p:txBody>
          <a:bodyPr wrap="square" lIns="50800" tIns="50800" rIns="50800" bIns="50800" rtlCol="0" anchor="ctr"/>
          <a:lstStyle/>
          <a:p>
            <a:pPr algn="ctr" indent="0" marL="0">
              <a:lnSpc>
                <a:spcPct val="113000"/>
              </a:lnSpc>
              <a:buNone/>
            </a:pPr>
            <a:r>
              <a:rPr lang="en-US" sz="2000" b="1" spc="-20" kern="0" dirty="0">
                <a:solidFill>
                  <a:srgbClr val="2E8A22"/>
                </a:solidFill>
              </a:rPr>
              <a:t>7</a:t>
            </a:r>
            <a:endParaRPr lang="en-US" sz="2000" dirty="0"/>
          </a:p>
          <a:p>
            <a:pPr algn="ctr" indent="0" marL="0">
              <a:lnSpc>
                <a:spcPct val="113000"/>
              </a:lnSpc>
              <a:buNone/>
            </a:pPr>
            <a:r>
              <a:rPr lang="en-US" sz="1400" b="1" spc="-20" kern="0" dirty="0">
                <a:solidFill>
                  <a:schemeClr val="accent3"/>
                </a:solidFill>
              </a:rPr>
              <a:t>매일 아침 쪽지함 확인</a:t>
            </a:r>
            <a:endParaRPr lang="en-US" sz="2000" dirty="0"/>
          </a:p>
        </p:txBody>
      </p:sp>
      <p:sp>
        <p:nvSpPr>
          <p:cNvPr id="29" name="x"/>
          <p:cNvSpPr txBox="1"/>
          <p:nvPr/>
        </p:nvSpPr>
        <p:spPr>
          <a:xfrm>
            <a:off x="594360" y="3611880"/>
            <a:ext cx="3657600" cy="36576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주요 추진 계획</a:t>
            </a:r>
            <a:endParaRPr lang="en-US" sz="1700" dirty="0"/>
          </a:p>
        </p:txBody>
      </p:sp>
      <p:sp>
        <p:nvSpPr>
          <p:cNvPr id="30" name="glass-white"/>
          <p:cNvSpPr/>
          <p:nvPr/>
        </p:nvSpPr>
        <p:spPr>
          <a:xfrm>
            <a:off x="594360" y="4069080"/>
            <a:ext cx="11002975"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31" name="dot"/>
          <p:cNvSpPr/>
          <p:nvPr/>
        </p:nvSpPr>
        <p:spPr>
          <a:xfrm>
            <a:off x="914400" y="4361688"/>
            <a:ext cx="182880" cy="182880"/>
          </a:xfrm>
          <a:prstGeom prst="ellipse">
            <a:avLst/>
          </a:prstGeom>
          <a:solidFill>
            <a:schemeClr val="accent1"/>
          </a:solidFill>
          <a:ln w="19050">
            <a:solidFill>
              <a:schemeClr val="bg1"/>
            </a:solidFill>
            <a:prstDash val="solid"/>
          </a:ln>
        </p:spPr>
      </p:sp>
      <p:sp>
        <p:nvSpPr>
          <p:cNvPr id="32" name="x"/>
          <p:cNvSpPr txBox="1"/>
          <p:nvPr/>
        </p:nvSpPr>
        <p:spPr>
          <a:xfrm>
            <a:off x="1325880" y="4206240"/>
            <a:ext cx="2286000" cy="493776"/>
          </a:xfrm>
          <a:prstGeom prst="rect">
            <a:avLst/>
          </a:prstGeom>
          <a:noFill/>
          <a:ln/>
        </p:spPr>
        <p:txBody>
          <a:bodyPr wrap="square" lIns="0" tIns="0" rIns="0" bIns="0" rtlCol="0" anchor="ctr"/>
          <a:lstStyle/>
          <a:p>
            <a:pPr indent="0" marL="0">
              <a:lnSpc>
                <a:spcPct val="113000"/>
              </a:lnSpc>
              <a:buNone/>
            </a:pPr>
            <a:r>
              <a:rPr lang="en-US" sz="1400" b="1" dirty="0">
                <a:solidFill>
                  <a:schemeClr val="accent1"/>
                </a:solidFill>
              </a:rPr>
              <a:t>2026. 9. 중순</a:t>
            </a:r>
            <a:endParaRPr lang="en-US" sz="1400" dirty="0"/>
          </a:p>
        </p:txBody>
      </p:sp>
      <p:sp>
        <p:nvSpPr>
          <p:cNvPr id="33" name="x"/>
          <p:cNvSpPr txBox="1"/>
          <p:nvPr/>
        </p:nvSpPr>
        <p:spPr>
          <a:xfrm>
            <a:off x="3703320" y="4206240"/>
            <a:ext cx="7619695" cy="493776"/>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주민 의견 수렴 및 대면민원 불편세대의 접근성 문제 확인</a:t>
            </a:r>
            <a:endParaRPr lang="en-US" sz="1400" dirty="0"/>
          </a:p>
        </p:txBody>
      </p:sp>
      <p:sp>
        <p:nvSpPr>
          <p:cNvPr id="34" name="dot"/>
          <p:cNvSpPr/>
          <p:nvPr/>
        </p:nvSpPr>
        <p:spPr>
          <a:xfrm>
            <a:off x="914400" y="4882896"/>
            <a:ext cx="182880" cy="182880"/>
          </a:xfrm>
          <a:prstGeom prst="ellipse">
            <a:avLst/>
          </a:prstGeom>
          <a:solidFill>
            <a:schemeClr val="accent1"/>
          </a:solidFill>
          <a:ln w="19050">
            <a:solidFill>
              <a:schemeClr val="bg1"/>
            </a:solidFill>
            <a:prstDash val="solid"/>
          </a:ln>
        </p:spPr>
      </p:sp>
      <p:sp>
        <p:nvSpPr>
          <p:cNvPr id="35" name="x"/>
          <p:cNvSpPr txBox="1"/>
          <p:nvPr/>
        </p:nvSpPr>
        <p:spPr>
          <a:xfrm>
            <a:off x="1325880" y="4727448"/>
            <a:ext cx="2286000" cy="493776"/>
          </a:xfrm>
          <a:prstGeom prst="rect">
            <a:avLst/>
          </a:prstGeom>
          <a:noFill/>
          <a:ln/>
        </p:spPr>
        <p:txBody>
          <a:bodyPr wrap="square" lIns="0" tIns="0" rIns="0" bIns="0" rtlCol="0" anchor="ctr"/>
          <a:lstStyle/>
          <a:p>
            <a:pPr indent="0" marL="0">
              <a:lnSpc>
                <a:spcPct val="113000"/>
              </a:lnSpc>
              <a:buNone/>
            </a:pPr>
            <a:r>
              <a:rPr lang="en-US" sz="1400" b="1" dirty="0">
                <a:solidFill>
                  <a:schemeClr val="accent1"/>
                </a:solidFill>
              </a:rPr>
              <a:t>2026. 9. 중순</a:t>
            </a:r>
            <a:endParaRPr lang="en-US" sz="1400" dirty="0"/>
          </a:p>
        </p:txBody>
      </p:sp>
      <p:sp>
        <p:nvSpPr>
          <p:cNvPr id="36" name="x"/>
          <p:cNvSpPr txBox="1"/>
          <p:nvPr/>
        </p:nvSpPr>
        <p:spPr>
          <a:xfrm>
            <a:off x="3703320" y="4727448"/>
            <a:ext cx="7619695" cy="493776"/>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현장 확인 및 관리소 직원 회의를 통한 해결방안 검토</a:t>
            </a:r>
            <a:endParaRPr lang="en-US" sz="1400" dirty="0"/>
          </a:p>
        </p:txBody>
      </p:sp>
      <p:sp>
        <p:nvSpPr>
          <p:cNvPr id="37" name="dot"/>
          <p:cNvSpPr/>
          <p:nvPr/>
        </p:nvSpPr>
        <p:spPr>
          <a:xfrm>
            <a:off x="914400" y="5404104"/>
            <a:ext cx="182880" cy="182880"/>
          </a:xfrm>
          <a:prstGeom prst="ellipse">
            <a:avLst/>
          </a:prstGeom>
          <a:solidFill>
            <a:schemeClr val="accent1"/>
          </a:solidFill>
          <a:ln w="19050">
            <a:solidFill>
              <a:schemeClr val="bg1"/>
            </a:solidFill>
            <a:prstDash val="solid"/>
          </a:ln>
        </p:spPr>
      </p:sp>
      <p:sp>
        <p:nvSpPr>
          <p:cNvPr id="38" name="x"/>
          <p:cNvSpPr txBox="1"/>
          <p:nvPr/>
        </p:nvSpPr>
        <p:spPr>
          <a:xfrm>
            <a:off x="1325880" y="5248656"/>
            <a:ext cx="2286000" cy="493776"/>
          </a:xfrm>
          <a:prstGeom prst="rect">
            <a:avLst/>
          </a:prstGeom>
          <a:noFill/>
          <a:ln/>
        </p:spPr>
        <p:txBody>
          <a:bodyPr wrap="square" lIns="0" tIns="0" rIns="0" bIns="0" rtlCol="0" anchor="ctr"/>
          <a:lstStyle/>
          <a:p>
            <a:pPr indent="0" marL="0">
              <a:lnSpc>
                <a:spcPct val="113000"/>
              </a:lnSpc>
              <a:buNone/>
            </a:pPr>
            <a:r>
              <a:rPr lang="en-US" sz="1400" b="1" dirty="0">
                <a:solidFill>
                  <a:schemeClr val="accent1"/>
                </a:solidFill>
              </a:rPr>
              <a:t>2026. 9. 중순</a:t>
            </a:r>
            <a:endParaRPr lang="en-US" sz="1400" dirty="0"/>
          </a:p>
        </p:txBody>
      </p:sp>
      <p:sp>
        <p:nvSpPr>
          <p:cNvPr id="39" name="x"/>
          <p:cNvSpPr txBox="1"/>
          <p:nvPr/>
        </p:nvSpPr>
        <p:spPr>
          <a:xfrm>
            <a:off x="3703320" y="5248656"/>
            <a:ext cx="7619695" cy="493776"/>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민원쪽지함 제작 및 관리사무소 외부 설치</a:t>
            </a:r>
            <a:endParaRPr lang="en-US" sz="1400" dirty="0"/>
          </a:p>
        </p:txBody>
      </p:sp>
      <p:sp>
        <p:nvSpPr>
          <p:cNvPr id="40" name="dot"/>
          <p:cNvSpPr/>
          <p:nvPr/>
        </p:nvSpPr>
        <p:spPr>
          <a:xfrm>
            <a:off x="914400" y="5925312"/>
            <a:ext cx="182880" cy="182880"/>
          </a:xfrm>
          <a:prstGeom prst="ellipse">
            <a:avLst/>
          </a:prstGeom>
          <a:solidFill>
            <a:schemeClr val="accent2"/>
          </a:solidFill>
          <a:ln w="19050">
            <a:solidFill>
              <a:schemeClr val="bg1"/>
            </a:solidFill>
            <a:prstDash val="solid"/>
          </a:ln>
        </p:spPr>
      </p:sp>
      <p:sp>
        <p:nvSpPr>
          <p:cNvPr id="41" name="x"/>
          <p:cNvSpPr txBox="1"/>
          <p:nvPr/>
        </p:nvSpPr>
        <p:spPr>
          <a:xfrm>
            <a:off x="1325880" y="5769864"/>
            <a:ext cx="2286000" cy="493776"/>
          </a:xfrm>
          <a:prstGeom prst="rect">
            <a:avLst/>
          </a:prstGeom>
          <a:noFill/>
          <a:ln/>
        </p:spPr>
        <p:txBody>
          <a:bodyPr wrap="square" lIns="0" tIns="0" rIns="0" bIns="0" rtlCol="0" anchor="ctr"/>
          <a:lstStyle/>
          <a:p>
            <a:pPr indent="0" marL="0">
              <a:lnSpc>
                <a:spcPct val="113000"/>
              </a:lnSpc>
              <a:buNone/>
            </a:pPr>
            <a:r>
              <a:rPr lang="en-US" sz="1400" b="1" dirty="0">
                <a:solidFill>
                  <a:schemeClr val="accent1"/>
                </a:solidFill>
              </a:rPr>
              <a:t>2026. 9. 하순 ~ 현재</a:t>
            </a:r>
            <a:endParaRPr lang="en-US" sz="1400" dirty="0"/>
          </a:p>
        </p:txBody>
      </p:sp>
      <p:sp>
        <p:nvSpPr>
          <p:cNvPr id="42" name="x"/>
          <p:cNvSpPr txBox="1"/>
          <p:nvPr/>
        </p:nvSpPr>
        <p:spPr>
          <a:xfrm>
            <a:off x="3703320" y="5769864"/>
            <a:ext cx="7619695" cy="493776"/>
          </a:xfrm>
          <a:prstGeom prst="rect">
            <a:avLst/>
          </a:prstGeom>
          <a:noFill/>
          <a:ln/>
        </p:spPr>
        <p:txBody>
          <a:bodyPr wrap="square" lIns="0" tIns="0" rIns="0" bIns="0" rtlCol="0" anchor="ctr"/>
          <a:lstStyle/>
          <a:p>
            <a:pPr indent="0" marL="0">
              <a:lnSpc>
                <a:spcPct val="113000"/>
              </a:lnSpc>
              <a:buNone/>
            </a:pPr>
            <a:r>
              <a:rPr lang="en-US" sz="1400" dirty="0">
                <a:solidFill>
                  <a:schemeClr val="tx1"/>
                </a:solidFill>
              </a:rPr>
              <a:t>이용 안내 및 운영, 매일 아침 쪽지함 확인, 이용현황 모니터링</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ppt_y+.04"/>
                                          </p:val>
                                        </p:tav>
                                        <p:tav tm="100000">
                                          <p:val>
                                            <p:strVal val="#ppt_y"/>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ppt_y+.04"/>
                                          </p:val>
                                        </p:tav>
                                        <p:tav tm="100000">
                                          <p:val>
                                            <p:strVal val="#ppt_y"/>
                                          </p:val>
                                        </p:tav>
                                      </p:tavLst>
                                    </p:anim>
                                    <p:animEffect transition="in" filter="fade">
                                      <p:cBhvr>
                                        <p:cTn id="14" dur="500"/>
                                        <p:tgtEl>
                                          <p:spTgt spid="10"/>
                                        </p:tgtEl>
                                      </p:cBhvr>
                                    </p:animEffect>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ppt_y+.04"/>
                                          </p:val>
                                        </p:tav>
                                        <p:tav tm="100000">
                                          <p:val>
                                            <p:strVal val="#ppt_y"/>
                                          </p:val>
                                        </p:tav>
                                      </p:tavLst>
                                    </p:anim>
                                    <p:animEffect transition="in" filter="fade">
                                      <p:cBhvr>
                                        <p:cTn id="19" dur="500"/>
                                        <p:tgtEl>
                                          <p:spTgt spid="11"/>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ppt_y+.04"/>
                                          </p:val>
                                        </p:tav>
                                        <p:tav tm="100000">
                                          <p:val>
                                            <p:strVal val="#ppt_y"/>
                                          </p:val>
                                        </p:tav>
                                      </p:tavLst>
                                    </p:anim>
                                    <p:animEffect transition="in" filter="fade">
                                      <p:cBhvr>
                                        <p:cTn id="24" dur="500"/>
                                        <p:tgtEl>
                                          <p:spTgt spid="12"/>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ppt_y+.04"/>
                                          </p:val>
                                        </p:tav>
                                        <p:tav tm="100000">
                                          <p:val>
                                            <p:strVal val="#ppt_y"/>
                                          </p:val>
                                        </p:tav>
                                      </p:tavLst>
                                    </p:anim>
                                    <p:animEffect transition="in" filter="fade">
                                      <p:cBhvr>
                                        <p:cTn id="29" dur="500"/>
                                        <p:tgtEl>
                                          <p:spTgt spid="13"/>
                                        </p:tgtEl>
                                      </p:cBhvr>
                                    </p:animEffect>
                                  </p:childTnLst>
                                </p:cTn>
                              </p:par>
                              <p:par>
                                <p:cTn id="30" presetID="42" presetClass="entr" presetSubtype="0" fill="hold" nodeType="withEffect">
                                  <p:stCondLst>
                                    <p:cond delay="22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ppt_y+.04"/>
                                          </p:val>
                                        </p:tav>
                                        <p:tav tm="100000">
                                          <p:val>
                                            <p:strVal val="#ppt_y"/>
                                          </p:val>
                                        </p:tav>
                                      </p:tavLst>
                                    </p:anim>
                                    <p:animEffect transition="in" filter="fade">
                                      <p:cBhvr>
                                        <p:cTn id="34" dur="500"/>
                                        <p:tgtEl>
                                          <p:spTgt spid="14"/>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ppt_y+.04"/>
                                          </p:val>
                                        </p:tav>
                                        <p:tav tm="100000">
                                          <p:val>
                                            <p:strVal val="#ppt_y"/>
                                          </p:val>
                                        </p:tav>
                                      </p:tavLst>
                                    </p:anim>
                                    <p:animEffect transition="in" filter="fade">
                                      <p:cBhvr>
                                        <p:cTn id="39" dur="500"/>
                                        <p:tgtEl>
                                          <p:spTgt spid="15"/>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ppt_y+.04"/>
                                          </p:val>
                                        </p:tav>
                                        <p:tav tm="100000">
                                          <p:val>
                                            <p:strVal val="#ppt_y"/>
                                          </p:val>
                                        </p:tav>
                                      </p:tavLst>
                                    </p:anim>
                                    <p:animEffect transition="in" filter="fade">
                                      <p:cBhvr>
                                        <p:cTn id="44" dur="500"/>
                                        <p:tgtEl>
                                          <p:spTgt spid="16"/>
                                        </p:tgtEl>
                                      </p:cBhvr>
                                    </p:animEffect>
                                  </p:childTnLst>
                                </p:cTn>
                              </p:par>
                              <p:par>
                                <p:cTn id="45" presetID="42" presetClass="entr" presetSubtype="0" fill="hold" nodeType="withEffect">
                                  <p:stCondLst>
                                    <p:cond delay="44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ppt_y+.04"/>
                                          </p:val>
                                        </p:tav>
                                        <p:tav tm="100000">
                                          <p:val>
                                            <p:strVal val="#ppt_y"/>
                                          </p:val>
                                        </p:tav>
                                      </p:tavLst>
                                    </p:anim>
                                    <p:animEffect transition="in" filter="fade">
                                      <p:cBhvr>
                                        <p:cTn id="49" dur="500"/>
                                        <p:tgtEl>
                                          <p:spTgt spid="17"/>
                                        </p:tgtEl>
                                      </p:cBhvr>
                                    </p:animEffect>
                                  </p:childTnLst>
                                </p:cTn>
                              </p:par>
                              <p:par>
                                <p:cTn id="50" presetID="42" presetClass="entr" presetSubtype="0" fill="hold" grpId="0" nodeType="withEffect">
                                  <p:stCondLst>
                                    <p:cond delay="66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ppt_x"/>
                                          </p:val>
                                        </p:tav>
                                        <p:tav tm="100000">
                                          <p:val>
                                            <p:strVal val="#ppt_x"/>
                                          </p:val>
                                        </p:tav>
                                      </p:tavLst>
                                    </p:anim>
                                    <p:anim calcmode="lin" valueType="num">
                                      <p:cBhvr additive="base">
                                        <p:cTn id="53" dur="500" fill="hold"/>
                                        <p:tgtEl>
                                          <p:spTgt spid="18"/>
                                        </p:tgtEl>
                                        <p:attrNameLst>
                                          <p:attrName>ppt_y</p:attrName>
                                        </p:attrNameLst>
                                      </p:cBhvr>
                                      <p:tavLst>
                                        <p:tav tm="0">
                                          <p:val>
                                            <p:strVal val="#ppt_y+.04"/>
                                          </p:val>
                                        </p:tav>
                                        <p:tav tm="100000">
                                          <p:val>
                                            <p:strVal val="#ppt_y"/>
                                          </p:val>
                                        </p:tav>
                                      </p:tavLst>
                                    </p:anim>
                                    <p:animEffect transition="in" filter="fade">
                                      <p:cBhvr>
                                        <p:cTn id="54" dur="500"/>
                                        <p:tgtEl>
                                          <p:spTgt spid="18"/>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4"/>
                                          </p:val>
                                        </p:tav>
                                        <p:tav tm="100000">
                                          <p:val>
                                            <p:strVal val="#ppt_y"/>
                                          </p:val>
                                        </p:tav>
                                      </p:tavLst>
                                    </p:anim>
                                    <p:animEffect transition="in" filter="fade">
                                      <p:cBhvr>
                                        <p:cTn id="59" dur="500"/>
                                        <p:tgtEl>
                                          <p:spTgt spid="19"/>
                                        </p:tgtEl>
                                      </p:cBhvr>
                                    </p:animEffect>
                                  </p:childTnLst>
                                </p:cTn>
                              </p:par>
                              <p:par>
                                <p:cTn id="60" presetID="42" presetClass="entr" presetSubtype="0" fill="hold" nodeType="withEffect">
                                  <p:stCondLst>
                                    <p:cond delay="66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4"/>
                                          </p:val>
                                        </p:tav>
                                        <p:tav tm="100000">
                                          <p:val>
                                            <p:strVal val="#ppt_y"/>
                                          </p:val>
                                        </p:tav>
                                      </p:tavLst>
                                    </p:anim>
                                    <p:animEffect transition="in" filter="fade">
                                      <p:cBhvr>
                                        <p:cTn id="64" dur="500"/>
                                        <p:tgtEl>
                                          <p:spTgt spid="20"/>
                                        </p:tgtEl>
                                      </p:cBhvr>
                                    </p:animEffect>
                                  </p:childTnLst>
                                </p:cTn>
                              </p:par>
                              <p:par>
                                <p:cTn id="65" presetID="42" presetClass="entr" presetSubtype="0" fill="hold" grpId="0" nodeType="withEffect">
                                  <p:stCondLst>
                                    <p:cond delay="88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4"/>
                                          </p:val>
                                        </p:tav>
                                        <p:tav tm="100000">
                                          <p:val>
                                            <p:strVal val="#ppt_y"/>
                                          </p:val>
                                        </p:tav>
                                      </p:tavLst>
                                    </p:anim>
                                    <p:animEffect transition="in" filter="fade">
                                      <p:cBhvr>
                                        <p:cTn id="69" dur="500"/>
                                        <p:tgtEl>
                                          <p:spTgt spid="21"/>
                                        </p:tgtEl>
                                      </p:cBhvr>
                                    </p:animEffect>
                                  </p:childTnLst>
                                </p:cTn>
                              </p:par>
                              <p:par>
                                <p:cTn id="70" presetID="42" presetClass="entr" presetSubtype="0" fill="hold" grpId="0" nodeType="withEffect">
                                  <p:stCondLst>
                                    <p:cond delay="88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500" fill="hold"/>
                                        <p:tgtEl>
                                          <p:spTgt spid="22"/>
                                        </p:tgtEl>
                                        <p:attrNameLst>
                                          <p:attrName>ppt_x</p:attrName>
                                        </p:attrNameLst>
                                      </p:cBhvr>
                                      <p:tavLst>
                                        <p:tav tm="0">
                                          <p:val>
                                            <p:strVal val="#ppt_x"/>
                                          </p:val>
                                        </p:tav>
                                        <p:tav tm="100000">
                                          <p:val>
                                            <p:strVal val="#ppt_x"/>
                                          </p:val>
                                        </p:tav>
                                      </p:tavLst>
                                    </p:anim>
                                    <p:anim calcmode="lin" valueType="num">
                                      <p:cBhvr additive="base">
                                        <p:cTn id="73" dur="500" fill="hold"/>
                                        <p:tgtEl>
                                          <p:spTgt spid="22"/>
                                        </p:tgtEl>
                                        <p:attrNameLst>
                                          <p:attrName>ppt_y</p:attrName>
                                        </p:attrNameLst>
                                      </p:cBhvr>
                                      <p:tavLst>
                                        <p:tav tm="0">
                                          <p:val>
                                            <p:strVal val="#ppt_y+.04"/>
                                          </p:val>
                                        </p:tav>
                                        <p:tav tm="100000">
                                          <p:val>
                                            <p:strVal val="#ppt_y"/>
                                          </p:val>
                                        </p:tav>
                                      </p:tavLst>
                                    </p:anim>
                                    <p:animEffect transition="in" filter="fade">
                                      <p:cBhvr>
                                        <p:cTn id="74" dur="500"/>
                                        <p:tgtEl>
                                          <p:spTgt spid="22"/>
                                        </p:tgtEl>
                                      </p:cBhvr>
                                    </p:animEffect>
                                  </p:childTnLst>
                                </p:cTn>
                              </p:par>
                              <p:par>
                                <p:cTn id="75" presetID="42" presetClass="entr" presetSubtype="0" fill="hold" nodeType="withEffect">
                                  <p:stCondLst>
                                    <p:cond delay="88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ppt_y+.04"/>
                                          </p:val>
                                        </p:tav>
                                        <p:tav tm="100000">
                                          <p:val>
                                            <p:strVal val="#ppt_y"/>
                                          </p:val>
                                        </p:tav>
                                      </p:tavLst>
                                    </p:anim>
                                    <p:animEffect transition="in" filter="fade">
                                      <p:cBhvr>
                                        <p:cTn id="79" dur="500"/>
                                        <p:tgtEl>
                                          <p:spTgt spid="23"/>
                                        </p:tgtEl>
                                      </p:cBhvr>
                                    </p:animEffect>
                                  </p:childTnLst>
                                </p:cTn>
                              </p:par>
                              <p:par>
                                <p:cTn id="80" presetID="42" presetClass="entr" presetSubtype="0" fill="hold" grpId="0" nodeType="withEffect">
                                  <p:stCondLst>
                                    <p:cond delay="110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ppt_x"/>
                                          </p:val>
                                        </p:tav>
                                        <p:tav tm="100000">
                                          <p:val>
                                            <p:strVal val="#ppt_x"/>
                                          </p:val>
                                        </p:tav>
                                      </p:tavLst>
                                    </p:anim>
                                    <p:anim calcmode="lin" valueType="num">
                                      <p:cBhvr additive="base">
                                        <p:cTn id="83" dur="500" fill="hold"/>
                                        <p:tgtEl>
                                          <p:spTgt spid="24"/>
                                        </p:tgtEl>
                                        <p:attrNameLst>
                                          <p:attrName>ppt_y</p:attrName>
                                        </p:attrNameLst>
                                      </p:cBhvr>
                                      <p:tavLst>
                                        <p:tav tm="0">
                                          <p:val>
                                            <p:strVal val="#ppt_y+.04"/>
                                          </p:val>
                                        </p:tav>
                                        <p:tav tm="100000">
                                          <p:val>
                                            <p:strVal val="#ppt_y"/>
                                          </p:val>
                                        </p:tav>
                                      </p:tavLst>
                                    </p:anim>
                                    <p:animEffect transition="in" filter="fade">
                                      <p:cBhvr>
                                        <p:cTn id="84" dur="500"/>
                                        <p:tgtEl>
                                          <p:spTgt spid="24"/>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ppt_x"/>
                                          </p:val>
                                        </p:tav>
                                        <p:tav tm="100000">
                                          <p:val>
                                            <p:strVal val="#ppt_x"/>
                                          </p:val>
                                        </p:tav>
                                      </p:tavLst>
                                    </p:anim>
                                    <p:anim calcmode="lin" valueType="num">
                                      <p:cBhvr additive="base">
                                        <p:cTn id="88" dur="500" fill="hold"/>
                                        <p:tgtEl>
                                          <p:spTgt spid="25"/>
                                        </p:tgtEl>
                                        <p:attrNameLst>
                                          <p:attrName>ppt_y</p:attrName>
                                        </p:attrNameLst>
                                      </p:cBhvr>
                                      <p:tavLst>
                                        <p:tav tm="0">
                                          <p:val>
                                            <p:strVal val="#ppt_y+.04"/>
                                          </p:val>
                                        </p:tav>
                                        <p:tav tm="100000">
                                          <p:val>
                                            <p:strVal val="#ppt_y"/>
                                          </p:val>
                                        </p:tav>
                                      </p:tavLst>
                                    </p:anim>
                                    <p:animEffect transition="in" filter="fade">
                                      <p:cBhvr>
                                        <p:cTn id="89" dur="500"/>
                                        <p:tgtEl>
                                          <p:spTgt spid="25"/>
                                        </p:tgtEl>
                                      </p:cBhvr>
                                    </p:animEffect>
                                  </p:childTnLst>
                                </p:cTn>
                              </p:par>
                              <p:par>
                                <p:cTn id="90" presetID="42" presetClass="entr" presetSubtype="0" fill="hold" nodeType="withEffect">
                                  <p:stCondLst>
                                    <p:cond delay="1100"/>
                                  </p:stCondLst>
                                  <p:childTnLst>
                                    <p:set>
                                      <p:cBhvr>
                                        <p:cTn id="91" dur="1" fill="hold">
                                          <p:stCondLst>
                                            <p:cond delay="0"/>
                                          </p:stCondLst>
                                        </p:cTn>
                                        <p:tgtEl>
                                          <p:spTgt spid="26"/>
                                        </p:tgtEl>
                                        <p:attrNameLst>
                                          <p:attrName>style.visibility</p:attrName>
                                        </p:attrNameLst>
                                      </p:cBhvr>
                                      <p:to>
                                        <p:strVal val="visible"/>
                                      </p:to>
                                    </p:set>
                                    <p:anim calcmode="lin" valueType="num">
                                      <p:cBhvr additive="base">
                                        <p:cTn id="92" dur="500" fill="hold"/>
                                        <p:tgtEl>
                                          <p:spTgt spid="26"/>
                                        </p:tgtEl>
                                        <p:attrNameLst>
                                          <p:attrName>ppt_x</p:attrName>
                                        </p:attrNameLst>
                                      </p:cBhvr>
                                      <p:tavLst>
                                        <p:tav tm="0">
                                          <p:val>
                                            <p:strVal val="#ppt_x"/>
                                          </p:val>
                                        </p:tav>
                                        <p:tav tm="100000">
                                          <p:val>
                                            <p:strVal val="#ppt_x"/>
                                          </p:val>
                                        </p:tav>
                                      </p:tavLst>
                                    </p:anim>
                                    <p:anim calcmode="lin" valueType="num">
                                      <p:cBhvr additive="base">
                                        <p:cTn id="93" dur="500" fill="hold"/>
                                        <p:tgtEl>
                                          <p:spTgt spid="26"/>
                                        </p:tgtEl>
                                        <p:attrNameLst>
                                          <p:attrName>ppt_y</p:attrName>
                                        </p:attrNameLst>
                                      </p:cBhvr>
                                      <p:tavLst>
                                        <p:tav tm="0">
                                          <p:val>
                                            <p:strVal val="#ppt_y+.04"/>
                                          </p:val>
                                        </p:tav>
                                        <p:tav tm="100000">
                                          <p:val>
                                            <p:strVal val="#ppt_y"/>
                                          </p:val>
                                        </p:tav>
                                      </p:tavLst>
                                    </p:anim>
                                    <p:animEffect transition="in" filter="fade">
                                      <p:cBhvr>
                                        <p:cTn id="94" dur="500"/>
                                        <p:tgtEl>
                                          <p:spTgt spid="26"/>
                                        </p:tgtEl>
                                      </p:cBhvr>
                                    </p:animEffect>
                                  </p:childTnLst>
                                </p:cTn>
                              </p:par>
                              <p:par>
                                <p:cTn id="95" presetID="42" presetClass="entr" presetSubtype="0" fill="hold" grpId="0" nodeType="withEffect">
                                  <p:stCondLst>
                                    <p:cond delay="132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ppt_x"/>
                                          </p:val>
                                        </p:tav>
                                        <p:tav tm="100000">
                                          <p:val>
                                            <p:strVal val="#ppt_x"/>
                                          </p:val>
                                        </p:tav>
                                      </p:tavLst>
                                    </p:anim>
                                    <p:anim calcmode="lin" valueType="num">
                                      <p:cBhvr additive="base">
                                        <p:cTn id="98" dur="500" fill="hold"/>
                                        <p:tgtEl>
                                          <p:spTgt spid="27"/>
                                        </p:tgtEl>
                                        <p:attrNameLst>
                                          <p:attrName>ppt_y</p:attrName>
                                        </p:attrNameLst>
                                      </p:cBhvr>
                                      <p:tavLst>
                                        <p:tav tm="0">
                                          <p:val>
                                            <p:strVal val="#ppt_y+.04"/>
                                          </p:val>
                                        </p:tav>
                                        <p:tav tm="100000">
                                          <p:val>
                                            <p:strVal val="#ppt_y"/>
                                          </p:val>
                                        </p:tav>
                                      </p:tavLst>
                                    </p:anim>
                                    <p:animEffect transition="in" filter="fade">
                                      <p:cBhvr>
                                        <p:cTn id="99" dur="500"/>
                                        <p:tgtEl>
                                          <p:spTgt spid="27"/>
                                        </p:tgtEl>
                                      </p:cBhvr>
                                    </p:animEffect>
                                  </p:childTnLst>
                                </p:cTn>
                              </p:par>
                              <p:par>
                                <p:cTn id="100" presetID="42" presetClass="entr" presetSubtype="0" fill="hold" grpId="0" nodeType="withEffect">
                                  <p:stCondLst>
                                    <p:cond delay="1320"/>
                                  </p:stCondLst>
                                  <p:childTnLst>
                                    <p:set>
                                      <p:cBhvr>
                                        <p:cTn id="101" dur="1" fill="hold">
                                          <p:stCondLst>
                                            <p:cond delay="0"/>
                                          </p:stCondLst>
                                        </p:cTn>
                                        <p:tgtEl>
                                          <p:spTgt spid="28"/>
                                        </p:tgtEl>
                                        <p:attrNameLst>
                                          <p:attrName>style.visibility</p:attrName>
                                        </p:attrNameLst>
                                      </p:cBhvr>
                                      <p:to>
                                        <p:strVal val="visible"/>
                                      </p:to>
                                    </p:set>
                                    <p:anim calcmode="lin" valueType="num">
                                      <p:cBhvr additive="base">
                                        <p:cTn id="102" dur="500" fill="hold"/>
                                        <p:tgtEl>
                                          <p:spTgt spid="28"/>
                                        </p:tgtEl>
                                        <p:attrNameLst>
                                          <p:attrName>ppt_x</p:attrName>
                                        </p:attrNameLst>
                                      </p:cBhvr>
                                      <p:tavLst>
                                        <p:tav tm="0">
                                          <p:val>
                                            <p:strVal val="#ppt_x"/>
                                          </p:val>
                                        </p:tav>
                                        <p:tav tm="100000">
                                          <p:val>
                                            <p:strVal val="#ppt_x"/>
                                          </p:val>
                                        </p:tav>
                                      </p:tavLst>
                                    </p:anim>
                                    <p:anim calcmode="lin" valueType="num">
                                      <p:cBhvr additive="base">
                                        <p:cTn id="103" dur="500" fill="hold"/>
                                        <p:tgtEl>
                                          <p:spTgt spid="28"/>
                                        </p:tgtEl>
                                        <p:attrNameLst>
                                          <p:attrName>ppt_y</p:attrName>
                                        </p:attrNameLst>
                                      </p:cBhvr>
                                      <p:tavLst>
                                        <p:tav tm="0">
                                          <p:val>
                                            <p:strVal val="#ppt_y+.04"/>
                                          </p:val>
                                        </p:tav>
                                        <p:tav tm="100000">
                                          <p:val>
                                            <p:strVal val="#ppt_y"/>
                                          </p:val>
                                        </p:tav>
                                      </p:tavLst>
                                    </p:anim>
                                    <p:animEffect transition="in" filter="fade">
                                      <p:cBhvr>
                                        <p:cTn id="104" dur="500"/>
                                        <p:tgtEl>
                                          <p:spTgt spid="28"/>
                                        </p:tgtEl>
                                      </p:cBhvr>
                                    </p:animEffect>
                                  </p:childTnLst>
                                </p:cTn>
                              </p:par>
                              <p:par>
                                <p:cTn id="105" presetID="42" presetClass="entr" presetSubtype="0" fill="hold" grpId="0" nodeType="withEffect">
                                  <p:stCondLst>
                                    <p:cond delay="1540"/>
                                  </p:stCondLst>
                                  <p:childTnLst>
                                    <p:set>
                                      <p:cBhvr>
                                        <p:cTn id="106" dur="1" fill="hold">
                                          <p:stCondLst>
                                            <p:cond delay="0"/>
                                          </p:stCondLst>
                                        </p:cTn>
                                        <p:tgtEl>
                                          <p:spTgt spid="29"/>
                                        </p:tgtEl>
                                        <p:attrNameLst>
                                          <p:attrName>style.visibility</p:attrName>
                                        </p:attrNameLst>
                                      </p:cBhvr>
                                      <p:to>
                                        <p:strVal val="visible"/>
                                      </p:to>
                                    </p:set>
                                    <p:anim calcmode="lin" valueType="num">
                                      <p:cBhvr additive="base">
                                        <p:cTn id="107" dur="500" fill="hold"/>
                                        <p:tgtEl>
                                          <p:spTgt spid="29"/>
                                        </p:tgtEl>
                                        <p:attrNameLst>
                                          <p:attrName>ppt_x</p:attrName>
                                        </p:attrNameLst>
                                      </p:cBhvr>
                                      <p:tavLst>
                                        <p:tav tm="0">
                                          <p:val>
                                            <p:strVal val="#ppt_x"/>
                                          </p:val>
                                        </p:tav>
                                        <p:tav tm="100000">
                                          <p:val>
                                            <p:strVal val="#ppt_x"/>
                                          </p:val>
                                        </p:tav>
                                      </p:tavLst>
                                    </p:anim>
                                    <p:anim calcmode="lin" valueType="num">
                                      <p:cBhvr additive="base">
                                        <p:cTn id="108" dur="500" fill="hold"/>
                                        <p:tgtEl>
                                          <p:spTgt spid="29"/>
                                        </p:tgtEl>
                                        <p:attrNameLst>
                                          <p:attrName>ppt_y</p:attrName>
                                        </p:attrNameLst>
                                      </p:cBhvr>
                                      <p:tavLst>
                                        <p:tav tm="0">
                                          <p:val>
                                            <p:strVal val="#ppt_y+.04"/>
                                          </p:val>
                                        </p:tav>
                                        <p:tav tm="100000">
                                          <p:val>
                                            <p:strVal val="#ppt_y"/>
                                          </p:val>
                                        </p:tav>
                                      </p:tavLst>
                                    </p:anim>
                                    <p:animEffect transition="in" filter="fade">
                                      <p:cBhvr>
                                        <p:cTn id="109" dur="500"/>
                                        <p:tgtEl>
                                          <p:spTgt spid="29"/>
                                        </p:tgtEl>
                                      </p:cBhvr>
                                    </p:animEffect>
                                  </p:childTnLst>
                                </p:cTn>
                              </p:par>
                              <p:par>
                                <p:cTn id="110" presetID="42" presetClass="entr" presetSubtype="0" fill="hold" grpId="0" nodeType="withEffect">
                                  <p:stCondLst>
                                    <p:cond delay="1760"/>
                                  </p:stCondLst>
                                  <p:childTnLst>
                                    <p:set>
                                      <p:cBhvr>
                                        <p:cTn id="111" dur="1" fill="hold">
                                          <p:stCondLst>
                                            <p:cond delay="0"/>
                                          </p:stCondLst>
                                        </p:cTn>
                                        <p:tgtEl>
                                          <p:spTgt spid="30"/>
                                        </p:tgtEl>
                                        <p:attrNameLst>
                                          <p:attrName>style.visibility</p:attrName>
                                        </p:attrNameLst>
                                      </p:cBhvr>
                                      <p:to>
                                        <p:strVal val="visible"/>
                                      </p:to>
                                    </p:set>
                                    <p:anim calcmode="lin" valueType="num">
                                      <p:cBhvr additive="base">
                                        <p:cTn id="112" dur="500" fill="hold"/>
                                        <p:tgtEl>
                                          <p:spTgt spid="30"/>
                                        </p:tgtEl>
                                        <p:attrNameLst>
                                          <p:attrName>ppt_x</p:attrName>
                                        </p:attrNameLst>
                                      </p:cBhvr>
                                      <p:tavLst>
                                        <p:tav tm="0">
                                          <p:val>
                                            <p:strVal val="#ppt_x"/>
                                          </p:val>
                                        </p:tav>
                                        <p:tav tm="100000">
                                          <p:val>
                                            <p:strVal val="#ppt_x"/>
                                          </p:val>
                                        </p:tav>
                                      </p:tavLst>
                                    </p:anim>
                                    <p:anim calcmode="lin" valueType="num">
                                      <p:cBhvr additive="base">
                                        <p:cTn id="113" dur="500" fill="hold"/>
                                        <p:tgtEl>
                                          <p:spTgt spid="30"/>
                                        </p:tgtEl>
                                        <p:attrNameLst>
                                          <p:attrName>ppt_y</p:attrName>
                                        </p:attrNameLst>
                                      </p:cBhvr>
                                      <p:tavLst>
                                        <p:tav tm="0">
                                          <p:val>
                                            <p:strVal val="#ppt_y+.04"/>
                                          </p:val>
                                        </p:tav>
                                        <p:tav tm="100000">
                                          <p:val>
                                            <p:strVal val="#ppt_y"/>
                                          </p:val>
                                        </p:tav>
                                      </p:tavLst>
                                    </p:anim>
                                    <p:animEffect transition="in" filter="fade">
                                      <p:cBhvr>
                                        <p:cTn id="114" dur="500"/>
                                        <p:tgtEl>
                                          <p:spTgt spid="30"/>
                                        </p:tgtEl>
                                      </p:cBhvr>
                                    </p:animEffect>
                                  </p:childTnLst>
                                </p:cTn>
                              </p:par>
                              <p:par>
                                <p:cTn id="115" presetID="42" presetClass="entr" presetSubtype="0" fill="hold" grpId="0" nodeType="withEffect">
                                  <p:stCondLst>
                                    <p:cond delay="1760"/>
                                  </p:stCondLst>
                                  <p:childTnLst>
                                    <p:set>
                                      <p:cBhvr>
                                        <p:cTn id="116" dur="1" fill="hold">
                                          <p:stCondLst>
                                            <p:cond delay="0"/>
                                          </p:stCondLst>
                                        </p:cTn>
                                        <p:tgtEl>
                                          <p:spTgt spid="31"/>
                                        </p:tgtEl>
                                        <p:attrNameLst>
                                          <p:attrName>style.visibility</p:attrName>
                                        </p:attrNameLst>
                                      </p:cBhvr>
                                      <p:to>
                                        <p:strVal val="visible"/>
                                      </p:to>
                                    </p:set>
                                    <p:anim calcmode="lin" valueType="num">
                                      <p:cBhvr additive="base">
                                        <p:cTn id="117" dur="500" fill="hold"/>
                                        <p:tgtEl>
                                          <p:spTgt spid="31"/>
                                        </p:tgtEl>
                                        <p:attrNameLst>
                                          <p:attrName>ppt_x</p:attrName>
                                        </p:attrNameLst>
                                      </p:cBhvr>
                                      <p:tavLst>
                                        <p:tav tm="0">
                                          <p:val>
                                            <p:strVal val="#ppt_x"/>
                                          </p:val>
                                        </p:tav>
                                        <p:tav tm="100000">
                                          <p:val>
                                            <p:strVal val="#ppt_x"/>
                                          </p:val>
                                        </p:tav>
                                      </p:tavLst>
                                    </p:anim>
                                    <p:anim calcmode="lin" valueType="num">
                                      <p:cBhvr additive="base">
                                        <p:cTn id="118" dur="500" fill="hold"/>
                                        <p:tgtEl>
                                          <p:spTgt spid="31"/>
                                        </p:tgtEl>
                                        <p:attrNameLst>
                                          <p:attrName>ppt_y</p:attrName>
                                        </p:attrNameLst>
                                      </p:cBhvr>
                                      <p:tavLst>
                                        <p:tav tm="0">
                                          <p:val>
                                            <p:strVal val="#ppt_y+.04"/>
                                          </p:val>
                                        </p:tav>
                                        <p:tav tm="100000">
                                          <p:val>
                                            <p:strVal val="#ppt_y"/>
                                          </p:val>
                                        </p:tav>
                                      </p:tavLst>
                                    </p:anim>
                                    <p:animEffect transition="in" filter="fade">
                                      <p:cBhvr>
                                        <p:cTn id="119" dur="500"/>
                                        <p:tgtEl>
                                          <p:spTgt spid="31"/>
                                        </p:tgtEl>
                                      </p:cBhvr>
                                    </p:animEffect>
                                  </p:childTnLst>
                                </p:cTn>
                              </p:par>
                              <p:par>
                                <p:cTn id="120" presetID="42" presetClass="entr" presetSubtype="0" fill="hold" grpId="0" nodeType="withEffect">
                                  <p:stCondLst>
                                    <p:cond delay="1760"/>
                                  </p:stCondLst>
                                  <p:childTnLst>
                                    <p:set>
                                      <p:cBhvr>
                                        <p:cTn id="121" dur="1" fill="hold">
                                          <p:stCondLst>
                                            <p:cond delay="0"/>
                                          </p:stCondLst>
                                        </p:cTn>
                                        <p:tgtEl>
                                          <p:spTgt spid="32"/>
                                        </p:tgtEl>
                                        <p:attrNameLst>
                                          <p:attrName>style.visibility</p:attrName>
                                        </p:attrNameLst>
                                      </p:cBhvr>
                                      <p:to>
                                        <p:strVal val="visible"/>
                                      </p:to>
                                    </p:set>
                                    <p:anim calcmode="lin" valueType="num">
                                      <p:cBhvr additive="base">
                                        <p:cTn id="122" dur="500" fill="hold"/>
                                        <p:tgtEl>
                                          <p:spTgt spid="32"/>
                                        </p:tgtEl>
                                        <p:attrNameLst>
                                          <p:attrName>ppt_x</p:attrName>
                                        </p:attrNameLst>
                                      </p:cBhvr>
                                      <p:tavLst>
                                        <p:tav tm="0">
                                          <p:val>
                                            <p:strVal val="#ppt_x"/>
                                          </p:val>
                                        </p:tav>
                                        <p:tav tm="100000">
                                          <p:val>
                                            <p:strVal val="#ppt_x"/>
                                          </p:val>
                                        </p:tav>
                                      </p:tavLst>
                                    </p:anim>
                                    <p:anim calcmode="lin" valueType="num">
                                      <p:cBhvr additive="base">
                                        <p:cTn id="123" dur="500" fill="hold"/>
                                        <p:tgtEl>
                                          <p:spTgt spid="32"/>
                                        </p:tgtEl>
                                        <p:attrNameLst>
                                          <p:attrName>ppt_y</p:attrName>
                                        </p:attrNameLst>
                                      </p:cBhvr>
                                      <p:tavLst>
                                        <p:tav tm="0">
                                          <p:val>
                                            <p:strVal val="#ppt_y+.04"/>
                                          </p:val>
                                        </p:tav>
                                        <p:tav tm="100000">
                                          <p:val>
                                            <p:strVal val="#ppt_y"/>
                                          </p:val>
                                        </p:tav>
                                      </p:tavLst>
                                    </p:anim>
                                    <p:animEffect transition="in" filter="fade">
                                      <p:cBhvr>
                                        <p:cTn id="124" dur="500"/>
                                        <p:tgtEl>
                                          <p:spTgt spid="32"/>
                                        </p:tgtEl>
                                      </p:cBhvr>
                                    </p:animEffect>
                                  </p:childTnLst>
                                </p:cTn>
                              </p:par>
                              <p:par>
                                <p:cTn id="125" presetID="42" presetClass="entr" presetSubtype="0" fill="hold" grpId="0" nodeType="withEffect">
                                  <p:stCondLst>
                                    <p:cond delay="176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fill="hold"/>
                                        <p:tgtEl>
                                          <p:spTgt spid="33"/>
                                        </p:tgtEl>
                                        <p:attrNameLst>
                                          <p:attrName>ppt_x</p:attrName>
                                        </p:attrNameLst>
                                      </p:cBhvr>
                                      <p:tavLst>
                                        <p:tav tm="0">
                                          <p:val>
                                            <p:strVal val="#ppt_x"/>
                                          </p:val>
                                        </p:tav>
                                        <p:tav tm="100000">
                                          <p:val>
                                            <p:strVal val="#ppt_x"/>
                                          </p:val>
                                        </p:tav>
                                      </p:tavLst>
                                    </p:anim>
                                    <p:anim calcmode="lin" valueType="num">
                                      <p:cBhvr additive="base">
                                        <p:cTn id="128" dur="500" fill="hold"/>
                                        <p:tgtEl>
                                          <p:spTgt spid="33"/>
                                        </p:tgtEl>
                                        <p:attrNameLst>
                                          <p:attrName>ppt_y</p:attrName>
                                        </p:attrNameLst>
                                      </p:cBhvr>
                                      <p:tavLst>
                                        <p:tav tm="0">
                                          <p:val>
                                            <p:strVal val="#ppt_y+.04"/>
                                          </p:val>
                                        </p:tav>
                                        <p:tav tm="100000">
                                          <p:val>
                                            <p:strVal val="#ppt_y"/>
                                          </p:val>
                                        </p:tav>
                                      </p:tavLst>
                                    </p:anim>
                                    <p:animEffect transition="in" filter="fade">
                                      <p:cBhvr>
                                        <p:cTn id="129" dur="500"/>
                                        <p:tgtEl>
                                          <p:spTgt spid="33"/>
                                        </p:tgtEl>
                                      </p:cBhvr>
                                    </p:animEffect>
                                  </p:childTnLst>
                                </p:cTn>
                              </p:par>
                              <p:par>
                                <p:cTn id="130" presetID="42" presetClass="entr" presetSubtype="0" fill="hold" grpId="0" nodeType="withEffect">
                                  <p:stCondLst>
                                    <p:cond delay="1760"/>
                                  </p:stCondLst>
                                  <p:childTnLst>
                                    <p:set>
                                      <p:cBhvr>
                                        <p:cTn id="131" dur="1" fill="hold">
                                          <p:stCondLst>
                                            <p:cond delay="0"/>
                                          </p:stCondLst>
                                        </p:cTn>
                                        <p:tgtEl>
                                          <p:spTgt spid="34"/>
                                        </p:tgtEl>
                                        <p:attrNameLst>
                                          <p:attrName>style.visibility</p:attrName>
                                        </p:attrNameLst>
                                      </p:cBhvr>
                                      <p:to>
                                        <p:strVal val="visible"/>
                                      </p:to>
                                    </p:set>
                                    <p:anim calcmode="lin" valueType="num">
                                      <p:cBhvr additive="base">
                                        <p:cTn id="132" dur="500" fill="hold"/>
                                        <p:tgtEl>
                                          <p:spTgt spid="34"/>
                                        </p:tgtEl>
                                        <p:attrNameLst>
                                          <p:attrName>ppt_x</p:attrName>
                                        </p:attrNameLst>
                                      </p:cBhvr>
                                      <p:tavLst>
                                        <p:tav tm="0">
                                          <p:val>
                                            <p:strVal val="#ppt_x"/>
                                          </p:val>
                                        </p:tav>
                                        <p:tav tm="100000">
                                          <p:val>
                                            <p:strVal val="#ppt_x"/>
                                          </p:val>
                                        </p:tav>
                                      </p:tavLst>
                                    </p:anim>
                                    <p:anim calcmode="lin" valueType="num">
                                      <p:cBhvr additive="base">
                                        <p:cTn id="133" dur="500" fill="hold"/>
                                        <p:tgtEl>
                                          <p:spTgt spid="34"/>
                                        </p:tgtEl>
                                        <p:attrNameLst>
                                          <p:attrName>ppt_y</p:attrName>
                                        </p:attrNameLst>
                                      </p:cBhvr>
                                      <p:tavLst>
                                        <p:tav tm="0">
                                          <p:val>
                                            <p:strVal val="#ppt_y+.04"/>
                                          </p:val>
                                        </p:tav>
                                        <p:tav tm="100000">
                                          <p:val>
                                            <p:strVal val="#ppt_y"/>
                                          </p:val>
                                        </p:tav>
                                      </p:tavLst>
                                    </p:anim>
                                    <p:animEffect transition="in" filter="fade">
                                      <p:cBhvr>
                                        <p:cTn id="134" dur="500"/>
                                        <p:tgtEl>
                                          <p:spTgt spid="34"/>
                                        </p:tgtEl>
                                      </p:cBhvr>
                                    </p:animEffect>
                                  </p:childTnLst>
                                </p:cTn>
                              </p:par>
                              <p:par>
                                <p:cTn id="135" presetID="42" presetClass="entr" presetSubtype="0" fill="hold" grpId="0" nodeType="withEffect">
                                  <p:stCondLst>
                                    <p:cond delay="1760"/>
                                  </p:stCondLst>
                                  <p:childTnLst>
                                    <p:set>
                                      <p:cBhvr>
                                        <p:cTn id="136" dur="1" fill="hold">
                                          <p:stCondLst>
                                            <p:cond delay="0"/>
                                          </p:stCondLst>
                                        </p:cTn>
                                        <p:tgtEl>
                                          <p:spTgt spid="35"/>
                                        </p:tgtEl>
                                        <p:attrNameLst>
                                          <p:attrName>style.visibility</p:attrName>
                                        </p:attrNameLst>
                                      </p:cBhvr>
                                      <p:to>
                                        <p:strVal val="visible"/>
                                      </p:to>
                                    </p:set>
                                    <p:anim calcmode="lin" valueType="num">
                                      <p:cBhvr additive="base">
                                        <p:cTn id="137" dur="500" fill="hold"/>
                                        <p:tgtEl>
                                          <p:spTgt spid="35"/>
                                        </p:tgtEl>
                                        <p:attrNameLst>
                                          <p:attrName>ppt_x</p:attrName>
                                        </p:attrNameLst>
                                      </p:cBhvr>
                                      <p:tavLst>
                                        <p:tav tm="0">
                                          <p:val>
                                            <p:strVal val="#ppt_x"/>
                                          </p:val>
                                        </p:tav>
                                        <p:tav tm="100000">
                                          <p:val>
                                            <p:strVal val="#ppt_x"/>
                                          </p:val>
                                        </p:tav>
                                      </p:tavLst>
                                    </p:anim>
                                    <p:anim calcmode="lin" valueType="num">
                                      <p:cBhvr additive="base">
                                        <p:cTn id="138" dur="500" fill="hold"/>
                                        <p:tgtEl>
                                          <p:spTgt spid="35"/>
                                        </p:tgtEl>
                                        <p:attrNameLst>
                                          <p:attrName>ppt_y</p:attrName>
                                        </p:attrNameLst>
                                      </p:cBhvr>
                                      <p:tavLst>
                                        <p:tav tm="0">
                                          <p:val>
                                            <p:strVal val="#ppt_y+.04"/>
                                          </p:val>
                                        </p:tav>
                                        <p:tav tm="100000">
                                          <p:val>
                                            <p:strVal val="#ppt_y"/>
                                          </p:val>
                                        </p:tav>
                                      </p:tavLst>
                                    </p:anim>
                                    <p:animEffect transition="in" filter="fade">
                                      <p:cBhvr>
                                        <p:cTn id="139" dur="500"/>
                                        <p:tgtEl>
                                          <p:spTgt spid="35"/>
                                        </p:tgtEl>
                                      </p:cBhvr>
                                    </p:animEffect>
                                  </p:childTnLst>
                                </p:cTn>
                              </p:par>
                              <p:par>
                                <p:cTn id="140" presetID="42" presetClass="entr" presetSubtype="0" fill="hold" grpId="0" nodeType="withEffect">
                                  <p:stCondLst>
                                    <p:cond delay="176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500" fill="hold"/>
                                        <p:tgtEl>
                                          <p:spTgt spid="36"/>
                                        </p:tgtEl>
                                        <p:attrNameLst>
                                          <p:attrName>ppt_x</p:attrName>
                                        </p:attrNameLst>
                                      </p:cBhvr>
                                      <p:tavLst>
                                        <p:tav tm="0">
                                          <p:val>
                                            <p:strVal val="#ppt_x"/>
                                          </p:val>
                                        </p:tav>
                                        <p:tav tm="100000">
                                          <p:val>
                                            <p:strVal val="#ppt_x"/>
                                          </p:val>
                                        </p:tav>
                                      </p:tavLst>
                                    </p:anim>
                                    <p:anim calcmode="lin" valueType="num">
                                      <p:cBhvr additive="base">
                                        <p:cTn id="143" dur="500" fill="hold"/>
                                        <p:tgtEl>
                                          <p:spTgt spid="36"/>
                                        </p:tgtEl>
                                        <p:attrNameLst>
                                          <p:attrName>ppt_y</p:attrName>
                                        </p:attrNameLst>
                                      </p:cBhvr>
                                      <p:tavLst>
                                        <p:tav tm="0">
                                          <p:val>
                                            <p:strVal val="#ppt_y+.04"/>
                                          </p:val>
                                        </p:tav>
                                        <p:tav tm="100000">
                                          <p:val>
                                            <p:strVal val="#ppt_y"/>
                                          </p:val>
                                        </p:tav>
                                      </p:tavLst>
                                    </p:anim>
                                    <p:animEffect transition="in" filter="fade">
                                      <p:cBhvr>
                                        <p:cTn id="144" dur="500"/>
                                        <p:tgtEl>
                                          <p:spTgt spid="36"/>
                                        </p:tgtEl>
                                      </p:cBhvr>
                                    </p:animEffect>
                                  </p:childTnLst>
                                </p:cTn>
                              </p:par>
                              <p:par>
                                <p:cTn id="145" presetID="42" presetClass="entr" presetSubtype="0" fill="hold" grpId="0" nodeType="withEffect">
                                  <p:stCondLst>
                                    <p:cond delay="1760"/>
                                  </p:stCondLst>
                                  <p:childTnLst>
                                    <p:set>
                                      <p:cBhvr>
                                        <p:cTn id="146" dur="1" fill="hold">
                                          <p:stCondLst>
                                            <p:cond delay="0"/>
                                          </p:stCondLst>
                                        </p:cTn>
                                        <p:tgtEl>
                                          <p:spTgt spid="37"/>
                                        </p:tgtEl>
                                        <p:attrNameLst>
                                          <p:attrName>style.visibility</p:attrName>
                                        </p:attrNameLst>
                                      </p:cBhvr>
                                      <p:to>
                                        <p:strVal val="visible"/>
                                      </p:to>
                                    </p:set>
                                    <p:anim calcmode="lin" valueType="num">
                                      <p:cBhvr additive="base">
                                        <p:cTn id="147" dur="500" fill="hold"/>
                                        <p:tgtEl>
                                          <p:spTgt spid="37"/>
                                        </p:tgtEl>
                                        <p:attrNameLst>
                                          <p:attrName>ppt_x</p:attrName>
                                        </p:attrNameLst>
                                      </p:cBhvr>
                                      <p:tavLst>
                                        <p:tav tm="0">
                                          <p:val>
                                            <p:strVal val="#ppt_x"/>
                                          </p:val>
                                        </p:tav>
                                        <p:tav tm="100000">
                                          <p:val>
                                            <p:strVal val="#ppt_x"/>
                                          </p:val>
                                        </p:tav>
                                      </p:tavLst>
                                    </p:anim>
                                    <p:anim calcmode="lin" valueType="num">
                                      <p:cBhvr additive="base">
                                        <p:cTn id="148" dur="500" fill="hold"/>
                                        <p:tgtEl>
                                          <p:spTgt spid="37"/>
                                        </p:tgtEl>
                                        <p:attrNameLst>
                                          <p:attrName>ppt_y</p:attrName>
                                        </p:attrNameLst>
                                      </p:cBhvr>
                                      <p:tavLst>
                                        <p:tav tm="0">
                                          <p:val>
                                            <p:strVal val="#ppt_y+.04"/>
                                          </p:val>
                                        </p:tav>
                                        <p:tav tm="100000">
                                          <p:val>
                                            <p:strVal val="#ppt_y"/>
                                          </p:val>
                                        </p:tav>
                                      </p:tavLst>
                                    </p:anim>
                                    <p:animEffect transition="in" filter="fade">
                                      <p:cBhvr>
                                        <p:cTn id="149" dur="500"/>
                                        <p:tgtEl>
                                          <p:spTgt spid="37"/>
                                        </p:tgtEl>
                                      </p:cBhvr>
                                    </p:animEffect>
                                  </p:childTnLst>
                                </p:cTn>
                              </p:par>
                              <p:par>
                                <p:cTn id="150" presetID="42" presetClass="entr" presetSubtype="0" fill="hold" grpId="0" nodeType="withEffect">
                                  <p:stCondLst>
                                    <p:cond delay="1760"/>
                                  </p:stCondLst>
                                  <p:childTnLst>
                                    <p:set>
                                      <p:cBhvr>
                                        <p:cTn id="151" dur="1" fill="hold">
                                          <p:stCondLst>
                                            <p:cond delay="0"/>
                                          </p:stCondLst>
                                        </p:cTn>
                                        <p:tgtEl>
                                          <p:spTgt spid="38"/>
                                        </p:tgtEl>
                                        <p:attrNameLst>
                                          <p:attrName>style.visibility</p:attrName>
                                        </p:attrNameLst>
                                      </p:cBhvr>
                                      <p:to>
                                        <p:strVal val="visible"/>
                                      </p:to>
                                    </p:set>
                                    <p:anim calcmode="lin" valueType="num">
                                      <p:cBhvr additive="base">
                                        <p:cTn id="152" dur="500" fill="hold"/>
                                        <p:tgtEl>
                                          <p:spTgt spid="38"/>
                                        </p:tgtEl>
                                        <p:attrNameLst>
                                          <p:attrName>ppt_x</p:attrName>
                                        </p:attrNameLst>
                                      </p:cBhvr>
                                      <p:tavLst>
                                        <p:tav tm="0">
                                          <p:val>
                                            <p:strVal val="#ppt_x"/>
                                          </p:val>
                                        </p:tav>
                                        <p:tav tm="100000">
                                          <p:val>
                                            <p:strVal val="#ppt_x"/>
                                          </p:val>
                                        </p:tav>
                                      </p:tavLst>
                                    </p:anim>
                                    <p:anim calcmode="lin" valueType="num">
                                      <p:cBhvr additive="base">
                                        <p:cTn id="153" dur="500" fill="hold"/>
                                        <p:tgtEl>
                                          <p:spTgt spid="38"/>
                                        </p:tgtEl>
                                        <p:attrNameLst>
                                          <p:attrName>ppt_y</p:attrName>
                                        </p:attrNameLst>
                                      </p:cBhvr>
                                      <p:tavLst>
                                        <p:tav tm="0">
                                          <p:val>
                                            <p:strVal val="#ppt_y+.04"/>
                                          </p:val>
                                        </p:tav>
                                        <p:tav tm="100000">
                                          <p:val>
                                            <p:strVal val="#ppt_y"/>
                                          </p:val>
                                        </p:tav>
                                      </p:tavLst>
                                    </p:anim>
                                    <p:animEffect transition="in" filter="fade">
                                      <p:cBhvr>
                                        <p:cTn id="154" dur="500"/>
                                        <p:tgtEl>
                                          <p:spTgt spid="38"/>
                                        </p:tgtEl>
                                      </p:cBhvr>
                                    </p:animEffect>
                                  </p:childTnLst>
                                </p:cTn>
                              </p:par>
                              <p:par>
                                <p:cTn id="155" presetID="42" presetClass="entr" presetSubtype="0" fill="hold" grpId="0" nodeType="withEffect">
                                  <p:stCondLst>
                                    <p:cond delay="1760"/>
                                  </p:stCondLst>
                                  <p:childTnLst>
                                    <p:set>
                                      <p:cBhvr>
                                        <p:cTn id="156" dur="1" fill="hold">
                                          <p:stCondLst>
                                            <p:cond delay="0"/>
                                          </p:stCondLst>
                                        </p:cTn>
                                        <p:tgtEl>
                                          <p:spTgt spid="39"/>
                                        </p:tgtEl>
                                        <p:attrNameLst>
                                          <p:attrName>style.visibility</p:attrName>
                                        </p:attrNameLst>
                                      </p:cBhvr>
                                      <p:to>
                                        <p:strVal val="visible"/>
                                      </p:to>
                                    </p:set>
                                    <p:anim calcmode="lin" valueType="num">
                                      <p:cBhvr additive="base">
                                        <p:cTn id="157" dur="500" fill="hold"/>
                                        <p:tgtEl>
                                          <p:spTgt spid="39"/>
                                        </p:tgtEl>
                                        <p:attrNameLst>
                                          <p:attrName>ppt_x</p:attrName>
                                        </p:attrNameLst>
                                      </p:cBhvr>
                                      <p:tavLst>
                                        <p:tav tm="0">
                                          <p:val>
                                            <p:strVal val="#ppt_x"/>
                                          </p:val>
                                        </p:tav>
                                        <p:tav tm="100000">
                                          <p:val>
                                            <p:strVal val="#ppt_x"/>
                                          </p:val>
                                        </p:tav>
                                      </p:tavLst>
                                    </p:anim>
                                    <p:anim calcmode="lin" valueType="num">
                                      <p:cBhvr additive="base">
                                        <p:cTn id="158" dur="500" fill="hold"/>
                                        <p:tgtEl>
                                          <p:spTgt spid="39"/>
                                        </p:tgtEl>
                                        <p:attrNameLst>
                                          <p:attrName>ppt_y</p:attrName>
                                        </p:attrNameLst>
                                      </p:cBhvr>
                                      <p:tavLst>
                                        <p:tav tm="0">
                                          <p:val>
                                            <p:strVal val="#ppt_y+.04"/>
                                          </p:val>
                                        </p:tav>
                                        <p:tav tm="100000">
                                          <p:val>
                                            <p:strVal val="#ppt_y"/>
                                          </p:val>
                                        </p:tav>
                                      </p:tavLst>
                                    </p:anim>
                                    <p:animEffect transition="in" filter="fade">
                                      <p:cBhvr>
                                        <p:cTn id="159" dur="500"/>
                                        <p:tgtEl>
                                          <p:spTgt spid="39"/>
                                        </p:tgtEl>
                                      </p:cBhvr>
                                    </p:animEffect>
                                  </p:childTnLst>
                                </p:cTn>
                              </p:par>
                              <p:par>
                                <p:cTn id="160" presetID="42" presetClass="entr" presetSubtype="0" fill="hold" grpId="0" nodeType="withEffect">
                                  <p:stCondLst>
                                    <p:cond delay="1760"/>
                                  </p:stCondLst>
                                  <p:childTnLst>
                                    <p:set>
                                      <p:cBhvr>
                                        <p:cTn id="161" dur="1" fill="hold">
                                          <p:stCondLst>
                                            <p:cond delay="0"/>
                                          </p:stCondLst>
                                        </p:cTn>
                                        <p:tgtEl>
                                          <p:spTgt spid="40"/>
                                        </p:tgtEl>
                                        <p:attrNameLst>
                                          <p:attrName>style.visibility</p:attrName>
                                        </p:attrNameLst>
                                      </p:cBhvr>
                                      <p:to>
                                        <p:strVal val="visible"/>
                                      </p:to>
                                    </p:set>
                                    <p:anim calcmode="lin" valueType="num">
                                      <p:cBhvr additive="base">
                                        <p:cTn id="162" dur="500" fill="hold"/>
                                        <p:tgtEl>
                                          <p:spTgt spid="40"/>
                                        </p:tgtEl>
                                        <p:attrNameLst>
                                          <p:attrName>ppt_x</p:attrName>
                                        </p:attrNameLst>
                                      </p:cBhvr>
                                      <p:tavLst>
                                        <p:tav tm="0">
                                          <p:val>
                                            <p:strVal val="#ppt_x"/>
                                          </p:val>
                                        </p:tav>
                                        <p:tav tm="100000">
                                          <p:val>
                                            <p:strVal val="#ppt_x"/>
                                          </p:val>
                                        </p:tav>
                                      </p:tavLst>
                                    </p:anim>
                                    <p:anim calcmode="lin" valueType="num">
                                      <p:cBhvr additive="base">
                                        <p:cTn id="163" dur="500" fill="hold"/>
                                        <p:tgtEl>
                                          <p:spTgt spid="40"/>
                                        </p:tgtEl>
                                        <p:attrNameLst>
                                          <p:attrName>ppt_y</p:attrName>
                                        </p:attrNameLst>
                                      </p:cBhvr>
                                      <p:tavLst>
                                        <p:tav tm="0">
                                          <p:val>
                                            <p:strVal val="#ppt_y+.04"/>
                                          </p:val>
                                        </p:tav>
                                        <p:tav tm="100000">
                                          <p:val>
                                            <p:strVal val="#ppt_y"/>
                                          </p:val>
                                        </p:tav>
                                      </p:tavLst>
                                    </p:anim>
                                    <p:animEffect transition="in" filter="fade">
                                      <p:cBhvr>
                                        <p:cTn id="164" dur="500"/>
                                        <p:tgtEl>
                                          <p:spTgt spid="40"/>
                                        </p:tgtEl>
                                      </p:cBhvr>
                                    </p:animEffect>
                                  </p:childTnLst>
                                </p:cTn>
                              </p:par>
                              <p:par>
                                <p:cTn id="165" presetID="42" presetClass="entr" presetSubtype="0" fill="hold" grpId="0" nodeType="withEffect">
                                  <p:stCondLst>
                                    <p:cond delay="1760"/>
                                  </p:stCondLst>
                                  <p:childTnLst>
                                    <p:set>
                                      <p:cBhvr>
                                        <p:cTn id="166" dur="1" fill="hold">
                                          <p:stCondLst>
                                            <p:cond delay="0"/>
                                          </p:stCondLst>
                                        </p:cTn>
                                        <p:tgtEl>
                                          <p:spTgt spid="41"/>
                                        </p:tgtEl>
                                        <p:attrNameLst>
                                          <p:attrName>style.visibility</p:attrName>
                                        </p:attrNameLst>
                                      </p:cBhvr>
                                      <p:to>
                                        <p:strVal val="visible"/>
                                      </p:to>
                                    </p:set>
                                    <p:anim calcmode="lin" valueType="num">
                                      <p:cBhvr additive="base">
                                        <p:cTn id="167" dur="500" fill="hold"/>
                                        <p:tgtEl>
                                          <p:spTgt spid="41"/>
                                        </p:tgtEl>
                                        <p:attrNameLst>
                                          <p:attrName>ppt_x</p:attrName>
                                        </p:attrNameLst>
                                      </p:cBhvr>
                                      <p:tavLst>
                                        <p:tav tm="0">
                                          <p:val>
                                            <p:strVal val="#ppt_x"/>
                                          </p:val>
                                        </p:tav>
                                        <p:tav tm="100000">
                                          <p:val>
                                            <p:strVal val="#ppt_x"/>
                                          </p:val>
                                        </p:tav>
                                      </p:tavLst>
                                    </p:anim>
                                    <p:anim calcmode="lin" valueType="num">
                                      <p:cBhvr additive="base">
                                        <p:cTn id="168" dur="500" fill="hold"/>
                                        <p:tgtEl>
                                          <p:spTgt spid="41"/>
                                        </p:tgtEl>
                                        <p:attrNameLst>
                                          <p:attrName>ppt_y</p:attrName>
                                        </p:attrNameLst>
                                      </p:cBhvr>
                                      <p:tavLst>
                                        <p:tav tm="0">
                                          <p:val>
                                            <p:strVal val="#ppt_y+.04"/>
                                          </p:val>
                                        </p:tav>
                                        <p:tav tm="100000">
                                          <p:val>
                                            <p:strVal val="#ppt_y"/>
                                          </p:val>
                                        </p:tav>
                                      </p:tavLst>
                                    </p:anim>
                                    <p:animEffect transition="in" filter="fade">
                                      <p:cBhvr>
                                        <p:cTn id="169" dur="500"/>
                                        <p:tgtEl>
                                          <p:spTgt spid="41"/>
                                        </p:tgtEl>
                                      </p:cBhvr>
                                    </p:animEffect>
                                  </p:childTnLst>
                                </p:cTn>
                              </p:par>
                              <p:par>
                                <p:cTn id="170" presetID="42" presetClass="entr" presetSubtype="0" fill="hold" grpId="0" nodeType="withEffect">
                                  <p:stCondLst>
                                    <p:cond delay="1760"/>
                                  </p:stCondLst>
                                  <p:childTnLst>
                                    <p:set>
                                      <p:cBhvr>
                                        <p:cTn id="171" dur="1" fill="hold">
                                          <p:stCondLst>
                                            <p:cond delay="0"/>
                                          </p:stCondLst>
                                        </p:cTn>
                                        <p:tgtEl>
                                          <p:spTgt spid="42"/>
                                        </p:tgtEl>
                                        <p:attrNameLst>
                                          <p:attrName>style.visibility</p:attrName>
                                        </p:attrNameLst>
                                      </p:cBhvr>
                                      <p:to>
                                        <p:strVal val="visible"/>
                                      </p:to>
                                    </p:set>
                                    <p:anim calcmode="lin" valueType="num">
                                      <p:cBhvr additive="base">
                                        <p:cTn id="172" dur="500" fill="hold"/>
                                        <p:tgtEl>
                                          <p:spTgt spid="42"/>
                                        </p:tgtEl>
                                        <p:attrNameLst>
                                          <p:attrName>ppt_x</p:attrName>
                                        </p:attrNameLst>
                                      </p:cBhvr>
                                      <p:tavLst>
                                        <p:tav tm="0">
                                          <p:val>
                                            <p:strVal val="#ppt_x"/>
                                          </p:val>
                                        </p:tav>
                                        <p:tav tm="100000">
                                          <p:val>
                                            <p:strVal val="#ppt_x"/>
                                          </p:val>
                                        </p:tav>
                                      </p:tavLst>
                                    </p:anim>
                                    <p:anim calcmode="lin" valueType="num">
                                      <p:cBhvr additive="base">
                                        <p:cTn id="173" dur="500" fill="hold"/>
                                        <p:tgtEl>
                                          <p:spTgt spid="42"/>
                                        </p:tgtEl>
                                        <p:attrNameLst>
                                          <p:attrName>ppt_y</p:attrName>
                                        </p:attrNameLst>
                                      </p:cBhvr>
                                      <p:tavLst>
                                        <p:tav tm="0">
                                          <p:val>
                                            <p:strVal val="#ppt_y+.04"/>
                                          </p:val>
                                        </p:tav>
                                        <p:tav tm="100000">
                                          <p:val>
                                            <p:strVal val="#ppt_y"/>
                                          </p:val>
                                        </p:tav>
                                      </p:tavLst>
                                    </p:anim>
                                    <p:animEffect transition="in" filter="fade">
                                      <p:cBhvr>
                                        <p:cTn id="17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07</a:t>
            </a:r>
            <a:pPr indent="0" marL="0">
              <a:lnSpc>
                <a:spcPct val="113000"/>
              </a:lnSpc>
              <a:buNone/>
            </a:pPr>
            <a:r>
              <a:rPr lang="en-US" sz="1200" b="1" spc="200" kern="0" dirty="0">
                <a:solidFill>
                  <a:schemeClr val="accent5"/>
                </a:solidFill>
              </a:rPr>
              <a:t>   소규모 시범 적용</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추진 내용 – 관리사무소 외부 1개소에 시범 설치</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7 / 13</a:t>
            </a:r>
            <a:endParaRPr lang="en-US" sz="1000" dirty="0"/>
          </a:p>
        </p:txBody>
      </p:sp>
      <p:sp>
        <p:nvSpPr>
          <p:cNvPr id="8" name="glass-white"/>
          <p:cNvSpPr/>
          <p:nvPr/>
        </p:nvSpPr>
        <p:spPr>
          <a:xfrm>
            <a:off x="594360" y="1600200"/>
            <a:ext cx="5364328"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x"/>
          <p:cNvSpPr txBox="1"/>
          <p:nvPr/>
        </p:nvSpPr>
        <p:spPr>
          <a:xfrm>
            <a:off x="1444752" y="1801368"/>
            <a:ext cx="431276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활동 일자·내용</a:t>
            </a:r>
            <a:endParaRPr lang="en-US" sz="1700" dirty="0"/>
          </a:p>
        </p:txBody>
      </p:sp>
      <p:sp>
        <p:nvSpPr>
          <p:cNvPr id="12" name="bullets"/>
          <p:cNvSpPr txBox="1"/>
          <p:nvPr/>
        </p:nvSpPr>
        <p:spPr>
          <a:xfrm>
            <a:off x="914400" y="2404872"/>
            <a:ext cx="4769968" cy="1325880"/>
          </a:xfrm>
          <a:prstGeom prst="rect">
            <a:avLst/>
          </a:prstGeom>
          <a:noFill/>
          <a:ln/>
        </p:spPr>
        <p:txBody>
          <a:bodyPr wrap="square" lIns="0" tIns="0" rIns="0" bIns="0" rtlCol="0" anchor="t"/>
          <a:lstStyle/>
          <a:p>
            <a:pPr marL="203200" indent="-203200">
              <a:lnSpc>
                <a:spcPct val="113000"/>
              </a:lnSpc>
              <a:spcAft>
                <a:spcPts val="600"/>
              </a:spcAft>
              <a:buSzPct val="100000"/>
              <a:buChar char="•"/>
            </a:pPr>
            <a:r>
              <a:rPr lang="en-US" sz="1400" dirty="0">
                <a:solidFill>
                  <a:schemeClr val="tx1"/>
                </a:solidFill>
              </a:rPr>
              <a:t>2026. 9. 중순 관리소 외부 1개소에 민원쪽지함 설치</a:t>
            </a:r>
            <a:endParaRPr lang="en-US" sz="1400" dirty="0"/>
          </a:p>
          <a:p>
            <a:pPr marL="203200" indent="-203200">
              <a:lnSpc>
                <a:spcPct val="113000"/>
              </a:lnSpc>
              <a:spcAft>
                <a:spcPts val="600"/>
              </a:spcAft>
              <a:buSzPct val="100000"/>
              <a:buChar char="•"/>
            </a:pPr>
            <a:r>
              <a:rPr lang="en-US" sz="1400" dirty="0">
                <a:solidFill>
                  <a:schemeClr val="tx1"/>
                </a:solidFill>
              </a:rPr>
              <a:t>대화·전화 중 확인된 대면민원 불편세대의 의견 전달 어려움을 해결하기 위함</a:t>
            </a:r>
            <a:endParaRPr lang="en-US" sz="1400" dirty="0"/>
          </a:p>
          <a:p>
            <a:pPr marL="203200" indent="-203200">
              <a:lnSpc>
                <a:spcPct val="113000"/>
              </a:lnSpc>
              <a:spcAft>
                <a:spcPts val="600"/>
              </a:spcAft>
              <a:buSzPct val="100000"/>
              <a:buChar char="•"/>
            </a:pPr>
            <a:r>
              <a:rPr lang="en-US" sz="1400" dirty="0">
                <a:solidFill>
                  <a:schemeClr val="tx1"/>
                </a:solidFill>
              </a:rPr>
              <a:t>휴지곽·작은 종이박스로 직원이 직접 제작·설치</a:t>
            </a:r>
            <a:endParaRPr lang="en-US" sz="1400" dirty="0"/>
          </a:p>
        </p:txBody>
      </p:sp>
      <p:sp>
        <p:nvSpPr>
          <p:cNvPr id="13" name="glass-white"/>
          <p:cNvSpPr/>
          <p:nvPr/>
        </p:nvSpPr>
        <p:spPr>
          <a:xfrm>
            <a:off x="6233008" y="1600200"/>
            <a:ext cx="5364328"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6489040" y="1801368"/>
            <a:ext cx="457200" cy="457200"/>
          </a:xfrm>
          <a:prstGeom prst="ellipse">
            <a:avLst/>
          </a:prstGeom>
          <a:solidFill>
            <a:srgbClr val="FFFFFF">
              <a:alpha val="75000"/>
            </a:srgbClr>
          </a:solidFill>
          <a:ln w="12700">
            <a:solidFill>
              <a:srgbClr val="2E8A22">
                <a:alpha val="45000"/>
              </a:srgbClr>
            </a:solidFill>
            <a:prstDash val="solid"/>
          </a:ln>
        </p:spPr>
      </p:sp>
      <p:pic>
        <p:nvPicPr>
          <p:cNvPr id="15" name="x" descr="icon">    </p:cNvPr>
          <p:cNvPicPr>
            <a:picLocks noChangeAspect="1"/>
          </p:cNvPicPr>
          <p:nvPr/>
        </p:nvPicPr>
        <p:blipFill>
          <a:blip r:embed="rId3"/>
          <a:stretch>
            <a:fillRect/>
          </a:stretch>
        </p:blipFill>
        <p:spPr>
          <a:xfrm>
            <a:off x="6617056" y="1929384"/>
            <a:ext cx="201168" cy="201168"/>
          </a:xfrm>
          <a:prstGeom prst="rect">
            <a:avLst/>
          </a:prstGeom>
        </p:spPr>
      </p:pic>
      <p:sp>
        <p:nvSpPr>
          <p:cNvPr id="16" name="x"/>
          <p:cNvSpPr txBox="1"/>
          <p:nvPr/>
        </p:nvSpPr>
        <p:spPr>
          <a:xfrm>
            <a:off x="7083400" y="1801368"/>
            <a:ext cx="431276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참여자 역할</a:t>
            </a:r>
            <a:endParaRPr lang="en-US" sz="1700" dirty="0"/>
          </a:p>
        </p:txBody>
      </p:sp>
      <p:sp>
        <p:nvSpPr>
          <p:cNvPr id="17" name="bullets"/>
          <p:cNvSpPr txBox="1"/>
          <p:nvPr/>
        </p:nvSpPr>
        <p:spPr>
          <a:xfrm>
            <a:off x="6553048" y="2404872"/>
            <a:ext cx="4769968" cy="1325880"/>
          </a:xfrm>
          <a:prstGeom prst="rect">
            <a:avLst/>
          </a:prstGeom>
          <a:noFill/>
          <a:ln/>
        </p:spPr>
        <p:txBody>
          <a:bodyPr wrap="square" lIns="0" tIns="0" rIns="0" bIns="0" rtlCol="0" anchor="t"/>
          <a:lstStyle/>
          <a:p>
            <a:pPr marL="203200" indent="-203200">
              <a:lnSpc>
                <a:spcPct val="113000"/>
              </a:lnSpc>
              <a:spcAft>
                <a:spcPts val="600"/>
              </a:spcAft>
              <a:buSzPct val="100000"/>
              <a:buChar char="•"/>
            </a:pPr>
            <a:r>
              <a:rPr lang="en-US" sz="1400" dirty="0">
                <a:solidFill>
                  <a:schemeClr val="tx1"/>
                </a:solidFill>
              </a:rPr>
              <a:t>입주민 3명 : 문제 제기 및 해결 아이디어 제안</a:t>
            </a:r>
            <a:endParaRPr lang="en-US" sz="1400" dirty="0"/>
          </a:p>
          <a:p>
            <a:pPr marL="203200" indent="-203200">
              <a:lnSpc>
                <a:spcPct val="113000"/>
              </a:lnSpc>
              <a:spcAft>
                <a:spcPts val="600"/>
              </a:spcAft>
              <a:buSzPct val="100000"/>
              <a:buChar char="•"/>
            </a:pPr>
            <a:r>
              <a:rPr lang="en-US" sz="1400" dirty="0">
                <a:solidFill>
                  <a:schemeClr val="tx1"/>
                </a:solidFill>
              </a:rPr>
              <a:t>관리사무소 직원 4명 : 주민 의견 정리, 제작 및 설치, 접수 쪽지 확인 및 민원 처리</a:t>
            </a:r>
            <a:endParaRPr lang="en-US" sz="1400" dirty="0"/>
          </a:p>
        </p:txBody>
      </p:sp>
      <p:sp>
        <p:nvSpPr>
          <p:cNvPr id="18" name="glass-white"/>
          <p:cNvSpPr/>
          <p:nvPr/>
        </p:nvSpPr>
        <p:spPr>
          <a:xfrm>
            <a:off x="594360" y="4023360"/>
            <a:ext cx="5364328"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9" name="iconChip"/>
          <p:cNvSpPr/>
          <p:nvPr/>
        </p:nvSpPr>
        <p:spPr>
          <a:xfrm>
            <a:off x="850392" y="4224528"/>
            <a:ext cx="457200" cy="457200"/>
          </a:xfrm>
          <a:prstGeom prst="ellipse">
            <a:avLst/>
          </a:prstGeom>
          <a:solidFill>
            <a:srgbClr val="FFFFFF">
              <a:alpha val="75000"/>
            </a:srgbClr>
          </a:solidFill>
          <a:ln w="12700">
            <a:solidFill>
              <a:srgbClr val="0F64AF">
                <a:alpha val="45000"/>
              </a:srgbClr>
            </a:solidFill>
            <a:prstDash val="solid"/>
          </a:ln>
        </p:spPr>
      </p:sp>
      <p:pic>
        <p:nvPicPr>
          <p:cNvPr id="20" name="x" descr="icon">    </p:cNvPr>
          <p:cNvPicPr>
            <a:picLocks noChangeAspect="1"/>
          </p:cNvPicPr>
          <p:nvPr/>
        </p:nvPicPr>
        <p:blipFill>
          <a:blip r:embed="rId4"/>
          <a:stretch>
            <a:fillRect/>
          </a:stretch>
        </p:blipFill>
        <p:spPr>
          <a:xfrm>
            <a:off x="978408" y="4352544"/>
            <a:ext cx="201168" cy="201168"/>
          </a:xfrm>
          <a:prstGeom prst="rect">
            <a:avLst/>
          </a:prstGeom>
        </p:spPr>
      </p:pic>
      <p:sp>
        <p:nvSpPr>
          <p:cNvPr id="21" name="x"/>
          <p:cNvSpPr txBox="1"/>
          <p:nvPr/>
        </p:nvSpPr>
        <p:spPr>
          <a:xfrm>
            <a:off x="1444752" y="4224528"/>
            <a:ext cx="431276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문제에 대한 조치사항</a:t>
            </a:r>
            <a:endParaRPr lang="en-US" sz="1700" dirty="0"/>
          </a:p>
        </p:txBody>
      </p:sp>
      <p:sp>
        <p:nvSpPr>
          <p:cNvPr id="22" name="bullets"/>
          <p:cNvSpPr txBox="1"/>
          <p:nvPr/>
        </p:nvSpPr>
        <p:spPr>
          <a:xfrm>
            <a:off x="914400" y="4828032"/>
            <a:ext cx="4769968" cy="1325880"/>
          </a:xfrm>
          <a:prstGeom prst="rect">
            <a:avLst/>
          </a:prstGeom>
          <a:noFill/>
          <a:ln/>
        </p:spPr>
        <p:txBody>
          <a:bodyPr wrap="square" lIns="0" tIns="0" rIns="0" bIns="0" rtlCol="0" anchor="t"/>
          <a:lstStyle/>
          <a:p>
            <a:pPr marL="203200" indent="-203200">
              <a:lnSpc>
                <a:spcPct val="113000"/>
              </a:lnSpc>
              <a:spcAft>
                <a:spcPts val="600"/>
              </a:spcAft>
              <a:buSzPct val="100000"/>
              <a:buChar char="•"/>
            </a:pPr>
            <a:r>
              <a:rPr lang="en-US" sz="1400" dirty="0">
                <a:solidFill>
                  <a:schemeClr val="tx1"/>
                </a:solidFill>
              </a:rPr>
              <a:t>대면·유선 중심이던 민원창구에 비대면 쪽지 접수창구를 추가</a:t>
            </a:r>
            <a:endParaRPr lang="en-US" sz="1400" dirty="0"/>
          </a:p>
          <a:p>
            <a:pPr marL="203200" indent="-203200">
              <a:lnSpc>
                <a:spcPct val="113000"/>
              </a:lnSpc>
              <a:spcAft>
                <a:spcPts val="600"/>
              </a:spcAft>
              <a:buSzPct val="100000"/>
              <a:buChar char="•"/>
            </a:pPr>
            <a:r>
              <a:rPr lang="en-US" sz="1400" dirty="0">
                <a:solidFill>
                  <a:schemeClr val="tx1"/>
                </a:solidFill>
              </a:rPr>
              <a:t>매일 아침 쪽지함을 개방·확인하여 접수 의견을 관리사무소 업무에 반영</a:t>
            </a:r>
            <a:endParaRPr lang="en-US" sz="1400" dirty="0"/>
          </a:p>
        </p:txBody>
      </p:sp>
      <p:sp>
        <p:nvSpPr>
          <p:cNvPr id="23" name="glass-white"/>
          <p:cNvSpPr/>
          <p:nvPr/>
        </p:nvSpPr>
        <p:spPr>
          <a:xfrm>
            <a:off x="6233008" y="4023360"/>
            <a:ext cx="5364328"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4" name="iconChip"/>
          <p:cNvSpPr/>
          <p:nvPr/>
        </p:nvSpPr>
        <p:spPr>
          <a:xfrm>
            <a:off x="6489040" y="4224528"/>
            <a:ext cx="457200" cy="457200"/>
          </a:xfrm>
          <a:prstGeom prst="ellipse">
            <a:avLst/>
          </a:prstGeom>
          <a:solidFill>
            <a:srgbClr val="FFFFFF">
              <a:alpha val="75000"/>
            </a:srgbClr>
          </a:solidFill>
          <a:ln w="12700">
            <a:solidFill>
              <a:srgbClr val="2E8A22">
                <a:alpha val="45000"/>
              </a:srgbClr>
            </a:solidFill>
            <a:prstDash val="solid"/>
          </a:ln>
        </p:spPr>
      </p:sp>
      <p:pic>
        <p:nvPicPr>
          <p:cNvPr id="25" name="x" descr="icon">    </p:cNvPr>
          <p:cNvPicPr>
            <a:picLocks noChangeAspect="1"/>
          </p:cNvPicPr>
          <p:nvPr/>
        </p:nvPicPr>
        <p:blipFill>
          <a:blip r:embed="rId5"/>
          <a:stretch>
            <a:fillRect/>
          </a:stretch>
        </p:blipFill>
        <p:spPr>
          <a:xfrm>
            <a:off x="6617056" y="4352544"/>
            <a:ext cx="201168" cy="201168"/>
          </a:xfrm>
          <a:prstGeom prst="rect">
            <a:avLst/>
          </a:prstGeom>
        </p:spPr>
      </p:pic>
      <p:sp>
        <p:nvSpPr>
          <p:cNvPr id="26" name="x"/>
          <p:cNvSpPr txBox="1"/>
          <p:nvPr/>
        </p:nvSpPr>
        <p:spPr>
          <a:xfrm>
            <a:off x="7083400" y="4224528"/>
            <a:ext cx="431276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활동 결과</a:t>
            </a:r>
            <a:endParaRPr lang="en-US" sz="1700" dirty="0"/>
          </a:p>
        </p:txBody>
      </p:sp>
      <p:sp>
        <p:nvSpPr>
          <p:cNvPr id="27" name="bullets"/>
          <p:cNvSpPr txBox="1"/>
          <p:nvPr/>
        </p:nvSpPr>
        <p:spPr>
          <a:xfrm>
            <a:off x="6553048" y="4828032"/>
            <a:ext cx="4769968" cy="1325880"/>
          </a:xfrm>
          <a:prstGeom prst="rect">
            <a:avLst/>
          </a:prstGeom>
          <a:noFill/>
          <a:ln/>
        </p:spPr>
        <p:txBody>
          <a:bodyPr wrap="square" lIns="0" tIns="0" rIns="0" bIns="0" rtlCol="0" anchor="t"/>
          <a:lstStyle/>
          <a:p>
            <a:pPr marL="203200" indent="-203200">
              <a:lnSpc>
                <a:spcPct val="113000"/>
              </a:lnSpc>
              <a:spcAft>
                <a:spcPts val="600"/>
              </a:spcAft>
              <a:buSzPct val="100000"/>
              <a:buChar char="•"/>
            </a:pPr>
            <a:r>
              <a:rPr lang="en-US" sz="1400" dirty="0">
                <a:solidFill>
                  <a:schemeClr val="tx1"/>
                </a:solidFill>
              </a:rPr>
              <a:t>현재까지 약 30명의 입주민이 쪽지함을 이용</a:t>
            </a:r>
            <a:endParaRPr lang="en-US" sz="1400" dirty="0"/>
          </a:p>
          <a:p>
            <a:pPr marL="203200" indent="-203200">
              <a:lnSpc>
                <a:spcPct val="113000"/>
              </a:lnSpc>
              <a:spcAft>
                <a:spcPts val="600"/>
              </a:spcAft>
              <a:buSzPct val="100000"/>
              <a:buChar char="•"/>
            </a:pPr>
            <a:r>
              <a:rPr lang="en-US" sz="1400" dirty="0">
                <a:solidFill>
                  <a:schemeClr val="tx1"/>
                </a:solidFill>
              </a:rPr>
              <a:t>대면민원 불편세대뿐 아니라 일반 입주민도 대면 대신 쪽지로 민원을 제출</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66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66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08</a:t>
            </a:r>
            <a:pPr indent="0" marL="0">
              <a:lnSpc>
                <a:spcPct val="113000"/>
              </a:lnSpc>
              <a:buNone/>
            </a:pPr>
            <a:r>
              <a:rPr lang="en-US" sz="1200" b="1" spc="200" kern="0" dirty="0">
                <a:solidFill>
                  <a:schemeClr val="accent5"/>
                </a:solidFill>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사진대지 ① – 관리사무소 외부에 설치한 민원쪽지함</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8 / 13</a:t>
            </a:r>
            <a:endParaRPr lang="en-US" sz="1000" dirty="0"/>
          </a:p>
        </p:txBody>
      </p:sp>
      <p:sp>
        <p:nvSpPr>
          <p:cNvPr id="8" name="glass-white"/>
          <p:cNvSpPr/>
          <p:nvPr/>
        </p:nvSpPr>
        <p:spPr>
          <a:xfrm>
            <a:off x="594360" y="1581912"/>
            <a:ext cx="3415069" cy="4288536"/>
          </a:xfrm>
          <a:prstGeom prst="roundRect">
            <a:avLst>
              <a:gd name="adj" fmla="val 267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pic>
        <p:nvPicPr>
          <p:cNvPr id="9" name="x" descr="관리사무소 외부에 설치된 민원쪽지함(휴지곽형 쪽지함과 종이박스형 쪽지통)">    </p:cNvPr>
          <p:cNvPicPr>
            <a:picLocks noChangeAspect="1"/>
          </p:cNvPicPr>
          <p:nvPr/>
        </p:nvPicPr>
        <p:blipFill>
          <a:blip r:embed="rId2"/>
          <a:stretch>
            <a:fillRect/>
          </a:stretch>
        </p:blipFill>
        <p:spPr>
          <a:xfrm>
            <a:off x="704088" y="1691640"/>
            <a:ext cx="3195613" cy="4069080"/>
          </a:xfrm>
          <a:prstGeom prst="rect">
            <a:avLst/>
          </a:prstGeom>
        </p:spPr>
      </p:pic>
      <p:sp>
        <p:nvSpPr>
          <p:cNvPr id="10" name="marker"/>
          <p:cNvSpPr txBox="1"/>
          <p:nvPr/>
        </p:nvSpPr>
        <p:spPr>
          <a:xfrm>
            <a:off x="3397259" y="3543300"/>
            <a:ext cx="365760" cy="365760"/>
          </a:xfrm>
          <a:prstGeom prst="ellipse">
            <a:avLst/>
          </a:prstGeom>
          <a:solidFill>
            <a:schemeClr val="accent2"/>
          </a:solidFill>
          <a:ln w="19050">
            <a:solidFill>
              <a:schemeClr val="bg1"/>
            </a:solidFill>
          </a:ln>
        </p:spPr>
        <p:txBody>
          <a:bodyPr wrap="square" lIns="0" tIns="0" rIns="0" bIns="0" rtlCol="0" anchor="ctr"/>
          <a:lstStyle/>
          <a:p>
            <a:pPr algn="ctr" indent="0" marL="0">
              <a:lnSpc>
                <a:spcPct val="113000"/>
              </a:lnSpc>
              <a:buNone/>
            </a:pPr>
            <a:r>
              <a:rPr lang="en-US" sz="1400" b="1" dirty="0">
                <a:solidFill>
                  <a:schemeClr val="bg1"/>
                </a:solidFill>
              </a:rPr>
              <a:t>1</a:t>
            </a:r>
            <a:endParaRPr lang="en-US" sz="1400" dirty="0"/>
          </a:p>
        </p:txBody>
      </p:sp>
      <p:sp>
        <p:nvSpPr>
          <p:cNvPr id="11" name="marker"/>
          <p:cNvSpPr txBox="1"/>
          <p:nvPr/>
        </p:nvSpPr>
        <p:spPr>
          <a:xfrm>
            <a:off x="1607716" y="4194353"/>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lnSpc>
                <a:spcPct val="113000"/>
              </a:lnSpc>
              <a:buNone/>
            </a:pPr>
            <a:r>
              <a:rPr lang="en-US" sz="1400" b="1" dirty="0">
                <a:solidFill>
                  <a:schemeClr val="bg1"/>
                </a:solidFill>
              </a:rPr>
              <a:t>2</a:t>
            </a:r>
            <a:endParaRPr lang="en-US" sz="1400" dirty="0"/>
          </a:p>
        </p:txBody>
      </p:sp>
      <p:sp>
        <p:nvSpPr>
          <p:cNvPr id="12" name="marker"/>
          <p:cNvSpPr txBox="1"/>
          <p:nvPr/>
        </p:nvSpPr>
        <p:spPr>
          <a:xfrm>
            <a:off x="3205523" y="4275734"/>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lnSpc>
                <a:spcPct val="113000"/>
              </a:lnSpc>
              <a:buNone/>
            </a:pPr>
            <a:r>
              <a:rPr lang="en-US" sz="1400" b="1" dirty="0">
                <a:solidFill>
                  <a:schemeClr val="bg1"/>
                </a:solidFill>
              </a:rPr>
              <a:t>3</a:t>
            </a:r>
            <a:endParaRPr lang="en-US" sz="1400" dirty="0"/>
          </a:p>
        </p:txBody>
      </p:sp>
      <p:sp>
        <p:nvSpPr>
          <p:cNvPr id="13" name="x"/>
          <p:cNvSpPr txBox="1"/>
          <p:nvPr/>
        </p:nvSpPr>
        <p:spPr>
          <a:xfrm>
            <a:off x="594360" y="5943600"/>
            <a:ext cx="4567213" cy="256032"/>
          </a:xfrm>
          <a:prstGeom prst="rect">
            <a:avLst/>
          </a:prstGeom>
          <a:noFill/>
          <a:ln/>
        </p:spPr>
        <p:txBody>
          <a:bodyPr wrap="square" lIns="0" tIns="0" rIns="0" bIns="0" rtlCol="0" anchor="ctr"/>
          <a:lstStyle/>
          <a:p>
            <a:pPr indent="0" marL="0">
              <a:lnSpc>
                <a:spcPct val="113000"/>
              </a:lnSpc>
              <a:buNone/>
            </a:pPr>
            <a:r>
              <a:rPr lang="en-US" sz="1100" dirty="0">
                <a:solidFill>
                  <a:schemeClr val="accent5"/>
                </a:solidFill>
              </a:rPr>
              <a:t>사진 ①  민원소외세대 쪽지함 설치 (관리사무소 외부)</a:t>
            </a:r>
            <a:endParaRPr lang="en-US" sz="1100" dirty="0"/>
          </a:p>
        </p:txBody>
      </p:sp>
      <p:sp>
        <p:nvSpPr>
          <p:cNvPr id="14" name="glass-white"/>
          <p:cNvSpPr/>
          <p:nvPr/>
        </p:nvSpPr>
        <p:spPr>
          <a:xfrm>
            <a:off x="4466629" y="1581912"/>
            <a:ext cx="7130707" cy="1188720"/>
          </a:xfrm>
          <a:prstGeom prst="roundRect">
            <a:avLst>
              <a:gd name="adj" fmla="val 10769"/>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5" name="x"/>
          <p:cNvSpPr txBox="1"/>
          <p:nvPr/>
        </p:nvSpPr>
        <p:spPr>
          <a:xfrm>
            <a:off x="4667797" y="1947672"/>
            <a:ext cx="457200" cy="457200"/>
          </a:xfrm>
          <a:prstGeom prst="ellipse">
            <a:avLst/>
          </a:prstGeom>
          <a:solidFill>
            <a:srgbClr val="2E8A22"/>
          </a:solidFill>
          <a:ln/>
        </p:spPr>
        <p:txBody>
          <a:bodyPr wrap="square" lIns="0" tIns="0" rIns="0" bIns="0" rtlCol="0" anchor="ctr"/>
          <a:lstStyle/>
          <a:p>
            <a:pPr algn="ctr" indent="0" marL="0">
              <a:lnSpc>
                <a:spcPct val="113000"/>
              </a:lnSpc>
              <a:buNone/>
            </a:pPr>
            <a:r>
              <a:rPr lang="en-US" sz="1600" b="1" dirty="0">
                <a:solidFill>
                  <a:schemeClr val="bg1"/>
                </a:solidFill>
              </a:rPr>
              <a:t>1</a:t>
            </a:r>
            <a:endParaRPr lang="en-US" sz="1600" dirty="0"/>
          </a:p>
        </p:txBody>
      </p:sp>
      <p:sp>
        <p:nvSpPr>
          <p:cNvPr id="16" name="x"/>
          <p:cNvSpPr txBox="1"/>
          <p:nvPr/>
        </p:nvSpPr>
        <p:spPr>
          <a:xfrm>
            <a:off x="5289589" y="1636776"/>
            <a:ext cx="6124867" cy="1078992"/>
          </a:xfrm>
          <a:prstGeom prst="rect">
            <a:avLst/>
          </a:prstGeom>
          <a:noFill/>
          <a:ln/>
        </p:spPr>
        <p:txBody>
          <a:bodyPr wrap="square" lIns="0" tIns="0" rIns="0" bIns="0" rtlCol="0" anchor="ctr"/>
          <a:lstStyle/>
          <a:p>
            <a:pPr indent="0" marL="0">
              <a:lnSpc>
                <a:spcPct val="113000"/>
              </a:lnSpc>
              <a:buNone/>
            </a:pPr>
            <a:r>
              <a:rPr lang="en-US" sz="1500" b="1" dirty="0">
                <a:solidFill>
                  <a:schemeClr val="accent3"/>
                </a:solidFill>
              </a:rPr>
              <a:t>관리사무소 외부(문 밖)</a:t>
            </a:r>
            <a:endParaRPr lang="en-US" sz="1500" dirty="0"/>
          </a:p>
          <a:p>
            <a:pPr indent="0" marL="0">
              <a:lnSpc>
                <a:spcPct val="113000"/>
              </a:lnSpc>
              <a:buNone/>
            </a:pPr>
            <a:r>
              <a:rPr lang="en-US" sz="1400" dirty="0">
                <a:solidFill>
                  <a:schemeClr val="tx1"/>
                </a:solidFill>
              </a:rPr>
              <a:t>관리사무소를 직접 방문해도 직원을 마주하지 않고 이용할 수 있는 위치. 주택관리공단 괴산증평3관리소 표지판 아래에 설치함</a:t>
            </a:r>
            <a:endParaRPr lang="en-US" sz="1500" dirty="0"/>
          </a:p>
        </p:txBody>
      </p:sp>
      <p:sp>
        <p:nvSpPr>
          <p:cNvPr id="17" name="glass-white"/>
          <p:cNvSpPr/>
          <p:nvPr/>
        </p:nvSpPr>
        <p:spPr>
          <a:xfrm>
            <a:off x="4466629" y="2862072"/>
            <a:ext cx="7130707" cy="1188720"/>
          </a:xfrm>
          <a:prstGeom prst="roundRect">
            <a:avLst>
              <a:gd name="adj" fmla="val 10769"/>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8" name="x"/>
          <p:cNvSpPr txBox="1"/>
          <p:nvPr/>
        </p:nvSpPr>
        <p:spPr>
          <a:xfrm>
            <a:off x="4667797" y="3227832"/>
            <a:ext cx="457200" cy="457200"/>
          </a:xfrm>
          <a:prstGeom prst="ellipse">
            <a:avLst/>
          </a:prstGeom>
          <a:solidFill>
            <a:srgbClr val="0F64AF"/>
          </a:solidFill>
          <a:ln/>
        </p:spPr>
        <p:txBody>
          <a:bodyPr wrap="square" lIns="0" tIns="0" rIns="0" bIns="0" rtlCol="0" anchor="ctr"/>
          <a:lstStyle/>
          <a:p>
            <a:pPr algn="ctr" indent="0" marL="0">
              <a:lnSpc>
                <a:spcPct val="113000"/>
              </a:lnSpc>
              <a:buNone/>
            </a:pPr>
            <a:r>
              <a:rPr lang="en-US" sz="1600" b="1" dirty="0">
                <a:solidFill>
                  <a:schemeClr val="bg1"/>
                </a:solidFill>
              </a:rPr>
              <a:t>2</a:t>
            </a:r>
            <a:endParaRPr lang="en-US" sz="1600" dirty="0"/>
          </a:p>
        </p:txBody>
      </p:sp>
      <p:sp>
        <p:nvSpPr>
          <p:cNvPr id="19" name="x"/>
          <p:cNvSpPr txBox="1"/>
          <p:nvPr/>
        </p:nvSpPr>
        <p:spPr>
          <a:xfrm>
            <a:off x="5289589" y="2916936"/>
            <a:ext cx="6124867" cy="1078992"/>
          </a:xfrm>
          <a:prstGeom prst="rect">
            <a:avLst/>
          </a:prstGeom>
          <a:noFill/>
          <a:ln/>
        </p:spPr>
        <p:txBody>
          <a:bodyPr wrap="square" lIns="0" tIns="0" rIns="0" bIns="0" rtlCol="0" anchor="ctr"/>
          <a:lstStyle/>
          <a:p>
            <a:pPr indent="0" marL="0">
              <a:lnSpc>
                <a:spcPct val="113000"/>
              </a:lnSpc>
              <a:buNone/>
            </a:pPr>
            <a:r>
              <a:rPr lang="en-US" sz="1500" b="1" dirty="0">
                <a:solidFill>
                  <a:schemeClr val="accent3"/>
                </a:solidFill>
              </a:rPr>
              <a:t>휴지곽형 쪽지함 + 안내문</a:t>
            </a:r>
            <a:endParaRPr lang="en-US" sz="1500" dirty="0"/>
          </a:p>
          <a:p>
            <a:pPr indent="0" marL="0">
              <a:lnSpc>
                <a:spcPct val="113000"/>
              </a:lnSpc>
              <a:buNone/>
            </a:pPr>
            <a:r>
              <a:rPr lang="en-US" sz="1400" dirty="0">
                <a:solidFill>
                  <a:schemeClr val="tx1"/>
                </a:solidFill>
              </a:rPr>
              <a:t>플라스틱 휴지곽을 활용해 제작. 「시설물 개선 바라는 점을 남겨주세요」 안내문을 붙여 사용 방법을 쉽게 알림</a:t>
            </a:r>
            <a:endParaRPr lang="en-US" sz="1500" dirty="0"/>
          </a:p>
        </p:txBody>
      </p:sp>
      <p:sp>
        <p:nvSpPr>
          <p:cNvPr id="20" name="glass-white"/>
          <p:cNvSpPr/>
          <p:nvPr/>
        </p:nvSpPr>
        <p:spPr>
          <a:xfrm>
            <a:off x="4466629" y="4142232"/>
            <a:ext cx="7130707" cy="1188720"/>
          </a:xfrm>
          <a:prstGeom prst="roundRect">
            <a:avLst>
              <a:gd name="adj" fmla="val 10769"/>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1" name="x"/>
          <p:cNvSpPr txBox="1"/>
          <p:nvPr/>
        </p:nvSpPr>
        <p:spPr>
          <a:xfrm>
            <a:off x="4667797" y="4507992"/>
            <a:ext cx="457200" cy="457200"/>
          </a:xfrm>
          <a:prstGeom prst="ellipse">
            <a:avLst/>
          </a:prstGeom>
          <a:solidFill>
            <a:srgbClr val="0F64AF"/>
          </a:solidFill>
          <a:ln/>
        </p:spPr>
        <p:txBody>
          <a:bodyPr wrap="square" lIns="0" tIns="0" rIns="0" bIns="0" rtlCol="0" anchor="ctr"/>
          <a:lstStyle/>
          <a:p>
            <a:pPr algn="ctr" indent="0" marL="0">
              <a:lnSpc>
                <a:spcPct val="113000"/>
              </a:lnSpc>
              <a:buNone/>
            </a:pPr>
            <a:r>
              <a:rPr lang="en-US" sz="1600" b="1" dirty="0">
                <a:solidFill>
                  <a:schemeClr val="bg1"/>
                </a:solidFill>
              </a:rPr>
              <a:t>3</a:t>
            </a:r>
            <a:endParaRPr lang="en-US" sz="1600" dirty="0"/>
          </a:p>
        </p:txBody>
      </p:sp>
      <p:sp>
        <p:nvSpPr>
          <p:cNvPr id="22" name="x"/>
          <p:cNvSpPr txBox="1"/>
          <p:nvPr/>
        </p:nvSpPr>
        <p:spPr>
          <a:xfrm>
            <a:off x="5289589" y="4197096"/>
            <a:ext cx="6124867" cy="1078992"/>
          </a:xfrm>
          <a:prstGeom prst="rect">
            <a:avLst/>
          </a:prstGeom>
          <a:noFill/>
          <a:ln/>
        </p:spPr>
        <p:txBody>
          <a:bodyPr wrap="square" lIns="0" tIns="0" rIns="0" bIns="0" rtlCol="0" anchor="ctr"/>
          <a:lstStyle/>
          <a:p>
            <a:pPr indent="0" marL="0">
              <a:lnSpc>
                <a:spcPct val="113000"/>
              </a:lnSpc>
              <a:buNone/>
            </a:pPr>
            <a:r>
              <a:rPr lang="en-US" sz="1500" b="1" dirty="0">
                <a:solidFill>
                  <a:schemeClr val="accent3"/>
                </a:solidFill>
              </a:rPr>
              <a:t>종이박스형 쪽지통</a:t>
            </a:r>
            <a:endParaRPr lang="en-US" sz="1500" dirty="0"/>
          </a:p>
          <a:p>
            <a:pPr indent="0" marL="0">
              <a:lnSpc>
                <a:spcPct val="113000"/>
              </a:lnSpc>
              <a:buNone/>
            </a:pPr>
            <a:r>
              <a:rPr lang="en-US" sz="1400" dirty="0">
                <a:solidFill>
                  <a:schemeClr val="tx1"/>
                </a:solidFill>
              </a:rPr>
              <a:t>작은 종이박스로 제작한 ‘쪽지통’. 작성한 쪽지를 바로 넣을 수 있으며 실제로 쪽지가 접수되고 있는 모습</a:t>
            </a:r>
            <a:endParaRPr lang="en-US" sz="1500" dirty="0"/>
          </a:p>
        </p:txBody>
      </p:sp>
      <p:sp>
        <p:nvSpPr>
          <p:cNvPr id="23" name="glass-solid"/>
          <p:cNvSpPr/>
          <p:nvPr/>
        </p:nvSpPr>
        <p:spPr>
          <a:xfrm>
            <a:off x="4466629" y="5422392"/>
            <a:ext cx="7130707" cy="566928"/>
          </a:xfrm>
          <a:prstGeom prst="roundRect">
            <a:avLst>
              <a:gd name="adj" fmla="val 48387"/>
            </a:avLst>
          </a:prstGeom>
          <a:solidFill>
            <a:srgbClr val="0F64AF">
              <a:alpha val="94000"/>
            </a:srgbClr>
          </a:solidFill>
          <a:ln w="15875">
            <a:solidFill>
              <a:srgbClr val="FFFFFF">
                <a:alpha val="55000"/>
              </a:srgbClr>
            </a:solidFill>
            <a:prstDash val="solid"/>
          </a:ln>
          <a:effectLst>
            <a:outerShdw sx="100000" sy="100000" kx="0" ky="0" algn="bl" rotWithShape="0" blurRad="228600" dist="50800" dir="5400000">
              <a:srgbClr val="0A3F73">
                <a:alpha val="13000"/>
              </a:srgbClr>
            </a:outerShdw>
          </a:effectLst>
        </p:spPr>
      </p:sp>
      <p:sp>
        <p:nvSpPr>
          <p:cNvPr id="24" name="x"/>
          <p:cNvSpPr txBox="1"/>
          <p:nvPr/>
        </p:nvSpPr>
        <p:spPr>
          <a:xfrm>
            <a:off x="4466629" y="5422392"/>
            <a:ext cx="7130707" cy="566928"/>
          </a:xfrm>
          <a:prstGeom prst="rect">
            <a:avLst/>
          </a:prstGeom>
          <a:noFill/>
          <a:ln/>
        </p:spPr>
        <p:txBody>
          <a:bodyPr wrap="square" lIns="0" tIns="0" rIns="0" bIns="0" rtlCol="0" anchor="ctr"/>
          <a:lstStyle/>
          <a:p>
            <a:pPr algn="ctr" indent="0" marL="0">
              <a:lnSpc>
                <a:spcPct val="113000"/>
              </a:lnSpc>
              <a:buNone/>
            </a:pPr>
            <a:r>
              <a:rPr lang="en-US" sz="1500" b="1" dirty="0">
                <a:solidFill>
                  <a:schemeClr val="bg1"/>
                </a:solidFill>
              </a:rPr>
              <a:t>비용 0원  ·  직원이 직접 제작  ·  매일 아침 확인</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66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66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66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88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88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09</a:t>
            </a:r>
            <a:pPr indent="0" marL="0">
              <a:lnSpc>
                <a:spcPct val="113000"/>
              </a:lnSpc>
              <a:buNone/>
            </a:pPr>
            <a:r>
              <a:rPr lang="en-US" sz="1200" b="1" spc="200" kern="0" dirty="0">
                <a:solidFill>
                  <a:schemeClr val="accent5"/>
                </a:solidFill>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사진대지 ② – 이용 방법을 알리는 안내문</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9 / 13</a:t>
            </a:r>
            <a:endParaRPr lang="en-US" sz="1000" dirty="0"/>
          </a:p>
        </p:txBody>
      </p:sp>
      <p:sp>
        <p:nvSpPr>
          <p:cNvPr id="8" name="glass-white"/>
          <p:cNvSpPr/>
          <p:nvPr/>
        </p:nvSpPr>
        <p:spPr>
          <a:xfrm>
            <a:off x="594360" y="1581912"/>
            <a:ext cx="5340096" cy="2950464"/>
          </a:xfrm>
          <a:prstGeom prst="roundRect">
            <a:avLst>
              <a:gd name="adj" fmla="val 3099"/>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pic>
        <p:nvPicPr>
          <p:cNvPr id="9" name="x" descr="쪽지함에 부착한 안내문: 시설물 개선 바라는 점을 남겨주세요">    </p:cNvPr>
          <p:cNvPicPr>
            <a:picLocks noChangeAspect="1"/>
          </p:cNvPicPr>
          <p:nvPr/>
        </p:nvPicPr>
        <p:blipFill>
          <a:blip r:embed="rId2"/>
          <a:stretch>
            <a:fillRect/>
          </a:stretch>
        </p:blipFill>
        <p:spPr>
          <a:xfrm>
            <a:off x="704088" y="1691640"/>
            <a:ext cx="5120640" cy="2731008"/>
          </a:xfrm>
          <a:prstGeom prst="rect">
            <a:avLst/>
          </a:prstGeom>
        </p:spPr>
      </p:pic>
      <p:sp>
        <p:nvSpPr>
          <p:cNvPr id="10" name="x"/>
          <p:cNvSpPr txBox="1"/>
          <p:nvPr/>
        </p:nvSpPr>
        <p:spPr>
          <a:xfrm>
            <a:off x="594360" y="4605528"/>
            <a:ext cx="5120640" cy="256032"/>
          </a:xfrm>
          <a:prstGeom prst="rect">
            <a:avLst/>
          </a:prstGeom>
          <a:noFill/>
          <a:ln/>
        </p:spPr>
        <p:txBody>
          <a:bodyPr wrap="square" lIns="0" tIns="0" rIns="0" bIns="0" rtlCol="0" anchor="ctr"/>
          <a:lstStyle/>
          <a:p>
            <a:pPr indent="0" marL="0">
              <a:lnSpc>
                <a:spcPct val="113000"/>
              </a:lnSpc>
              <a:buNone/>
            </a:pPr>
            <a:r>
              <a:rPr lang="en-US" sz="1100" dirty="0">
                <a:solidFill>
                  <a:schemeClr val="accent5"/>
                </a:solidFill>
              </a:rPr>
              <a:t>사진 ②  민원소외세대 쪽지함 설치 (안내문 부착)</a:t>
            </a:r>
            <a:endParaRPr lang="en-US" sz="1100" dirty="0"/>
          </a:p>
        </p:txBody>
      </p:sp>
      <p:sp>
        <p:nvSpPr>
          <p:cNvPr id="11" name="glass-blue"/>
          <p:cNvSpPr/>
          <p:nvPr/>
        </p:nvSpPr>
        <p:spPr>
          <a:xfrm>
            <a:off x="6300216" y="1581912"/>
            <a:ext cx="5297119" cy="2950464"/>
          </a:xfrm>
          <a:prstGeom prst="roundRect">
            <a:avLst>
              <a:gd name="adj" fmla="val 4959"/>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2" name="x"/>
          <p:cNvSpPr txBox="1"/>
          <p:nvPr/>
        </p:nvSpPr>
        <p:spPr>
          <a:xfrm>
            <a:off x="6574536" y="1764792"/>
            <a:ext cx="4748479" cy="365760"/>
          </a:xfrm>
          <a:prstGeom prst="rect">
            <a:avLst/>
          </a:prstGeom>
          <a:noFill/>
          <a:ln/>
        </p:spPr>
        <p:txBody>
          <a:bodyPr wrap="square" lIns="0" tIns="0" rIns="0" bIns="0" rtlCol="0" anchor="ctr"/>
          <a:lstStyle/>
          <a:p>
            <a:pPr indent="0" marL="0">
              <a:lnSpc>
                <a:spcPct val="113000"/>
              </a:lnSpc>
              <a:buNone/>
            </a:pPr>
            <a:r>
              <a:rPr lang="en-US" sz="1600" b="1" dirty="0">
                <a:solidFill>
                  <a:schemeClr val="accent1"/>
                </a:solidFill>
              </a:rPr>
              <a:t>안내문 문구</a:t>
            </a:r>
            <a:endParaRPr lang="en-US" sz="1600" dirty="0"/>
          </a:p>
        </p:txBody>
      </p:sp>
      <p:sp>
        <p:nvSpPr>
          <p:cNvPr id="13" name="x"/>
          <p:cNvSpPr txBox="1"/>
          <p:nvPr/>
        </p:nvSpPr>
        <p:spPr>
          <a:xfrm>
            <a:off x="6574536" y="2194560"/>
            <a:ext cx="4748479" cy="2273808"/>
          </a:xfrm>
          <a:prstGeom prst="rect">
            <a:avLst/>
          </a:prstGeom>
          <a:noFill/>
          <a:ln/>
        </p:spPr>
        <p:txBody>
          <a:bodyPr wrap="square" lIns="0" tIns="0" rIns="0" bIns="0" rtlCol="0" anchor="t"/>
          <a:lstStyle/>
          <a:p>
            <a:pPr indent="0" marL="0">
              <a:lnSpc>
                <a:spcPct val="113000"/>
              </a:lnSpc>
              <a:spcAft>
                <a:spcPts val="600"/>
              </a:spcAft>
              <a:buNone/>
            </a:pPr>
            <a:r>
              <a:rPr lang="en-US" sz="1500" b="1" dirty="0">
                <a:solidFill>
                  <a:schemeClr val="accent3"/>
                </a:solidFill>
              </a:rPr>
              <a:t>“입주민의 소중한 의견이 더 좋은 아파트를 만듭니다”</a:t>
            </a:r>
            <a:endParaRPr lang="en-US" sz="1500" dirty="0"/>
          </a:p>
          <a:p>
            <a:pPr indent="0" marL="0">
              <a:lnSpc>
                <a:spcPct val="113000"/>
              </a:lnSpc>
              <a:spcAft>
                <a:spcPts val="600"/>
              </a:spcAft>
              <a:buNone/>
            </a:pPr>
            <a:r>
              <a:rPr lang="en-US" sz="1500" b="1" dirty="0">
                <a:solidFill>
                  <a:schemeClr val="accent1"/>
                </a:solidFill>
              </a:rPr>
              <a:t>시설물 개선 바라는 점을 남겨주세요</a:t>
            </a:r>
            <a:endParaRPr lang="en-US" sz="1500" dirty="0"/>
          </a:p>
          <a:p>
            <a:pPr indent="0" marL="0">
              <a:lnSpc>
                <a:spcPct val="113000"/>
              </a:lnSpc>
              <a:spcAft>
                <a:spcPts val="600"/>
              </a:spcAft>
              <a:buNone/>
            </a:pPr>
            <a:r>
              <a:rPr lang="en-US" sz="1400" dirty="0">
                <a:solidFill>
                  <a:schemeClr val="tx1"/>
                </a:solidFill>
              </a:rPr>
              <a:t>생활 속 불편사항, 개선이 필요한 시설에 대한 의견을 자유롭게 적어주세요. 여러분의 의견이 더 나은 주거환경을 만듭니다.</a:t>
            </a:r>
            <a:endParaRPr lang="en-US" sz="1500" dirty="0"/>
          </a:p>
        </p:txBody>
      </p:sp>
      <p:sp>
        <p:nvSpPr>
          <p:cNvPr id="14" name="glass-white"/>
          <p:cNvSpPr/>
          <p:nvPr/>
        </p:nvSpPr>
        <p:spPr>
          <a:xfrm>
            <a:off x="594360" y="5017008"/>
            <a:ext cx="3515258" cy="1292352"/>
          </a:xfrm>
          <a:prstGeom prst="roundRect">
            <a:avLst>
              <a:gd name="adj" fmla="val 9906"/>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5" name="iconChip"/>
          <p:cNvSpPr/>
          <p:nvPr/>
        </p:nvSpPr>
        <p:spPr>
          <a:xfrm>
            <a:off x="795528" y="5154168"/>
            <a:ext cx="457200" cy="457200"/>
          </a:xfrm>
          <a:prstGeom prst="ellipse">
            <a:avLst/>
          </a:prstGeom>
          <a:solidFill>
            <a:srgbClr val="FFFFFF">
              <a:alpha val="75000"/>
            </a:srgbClr>
          </a:solidFill>
          <a:ln w="12700">
            <a:solidFill>
              <a:srgbClr val="0F64AF">
                <a:alpha val="45000"/>
              </a:srgbClr>
            </a:solidFill>
            <a:prstDash val="solid"/>
          </a:ln>
        </p:spPr>
      </p:sp>
      <p:pic>
        <p:nvPicPr>
          <p:cNvPr id="16" name="x" descr="icon">    </p:cNvPr>
          <p:cNvPicPr>
            <a:picLocks noChangeAspect="1"/>
          </p:cNvPicPr>
          <p:nvPr/>
        </p:nvPicPr>
        <p:blipFill>
          <a:blip r:embed="rId3"/>
          <a:stretch>
            <a:fillRect/>
          </a:stretch>
        </p:blipFill>
        <p:spPr>
          <a:xfrm>
            <a:off x="923544" y="5282184"/>
            <a:ext cx="201168" cy="201168"/>
          </a:xfrm>
          <a:prstGeom prst="rect">
            <a:avLst/>
          </a:prstGeom>
        </p:spPr>
      </p:pic>
      <p:sp>
        <p:nvSpPr>
          <p:cNvPr id="17" name="x"/>
          <p:cNvSpPr txBox="1"/>
          <p:nvPr/>
        </p:nvSpPr>
        <p:spPr>
          <a:xfrm>
            <a:off x="1389888" y="5154168"/>
            <a:ext cx="255513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쉬운 문구</a:t>
            </a:r>
            <a:endParaRPr lang="en-US" sz="1700" dirty="0"/>
          </a:p>
        </p:txBody>
      </p:sp>
      <p:sp>
        <p:nvSpPr>
          <p:cNvPr id="18" name="x"/>
          <p:cNvSpPr txBox="1"/>
          <p:nvPr/>
        </p:nvSpPr>
        <p:spPr>
          <a:xfrm>
            <a:off x="868680" y="5702808"/>
            <a:ext cx="3012338" cy="560832"/>
          </a:xfrm>
          <a:prstGeom prst="rect">
            <a:avLst/>
          </a:prstGeom>
          <a:noFill/>
          <a:ln/>
        </p:spPr>
        <p:txBody>
          <a:bodyPr wrap="square" lIns="0" tIns="0" rIns="0" bIns="0" rtlCol="0" anchor="t"/>
          <a:lstStyle/>
          <a:p>
            <a:pPr indent="0" marL="0">
              <a:lnSpc>
                <a:spcPct val="113000"/>
              </a:lnSpc>
              <a:buNone/>
            </a:pPr>
            <a:r>
              <a:rPr lang="en-US" sz="1400" dirty="0">
                <a:solidFill>
                  <a:schemeClr val="tx1"/>
                </a:solidFill>
              </a:rPr>
              <a:t>‘자유롭게 적어주세요’로 의견 제출의 부담을 낮춤</a:t>
            </a:r>
            <a:endParaRPr lang="en-US" sz="1400" dirty="0"/>
          </a:p>
        </p:txBody>
      </p:sp>
      <p:sp>
        <p:nvSpPr>
          <p:cNvPr id="19" name="glass-white"/>
          <p:cNvSpPr/>
          <p:nvPr/>
        </p:nvSpPr>
        <p:spPr>
          <a:xfrm>
            <a:off x="4338218" y="5017008"/>
            <a:ext cx="3515258" cy="1292352"/>
          </a:xfrm>
          <a:prstGeom prst="roundRect">
            <a:avLst>
              <a:gd name="adj" fmla="val 9906"/>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0" name="iconChip"/>
          <p:cNvSpPr/>
          <p:nvPr/>
        </p:nvSpPr>
        <p:spPr>
          <a:xfrm>
            <a:off x="4539386" y="5154168"/>
            <a:ext cx="457200" cy="457200"/>
          </a:xfrm>
          <a:prstGeom prst="ellipse">
            <a:avLst/>
          </a:prstGeom>
          <a:solidFill>
            <a:srgbClr val="FFFFFF">
              <a:alpha val="75000"/>
            </a:srgbClr>
          </a:solidFill>
          <a:ln w="12700">
            <a:solidFill>
              <a:srgbClr val="2E8A22">
                <a:alpha val="45000"/>
              </a:srgbClr>
            </a:solidFill>
            <a:prstDash val="solid"/>
          </a:ln>
        </p:spPr>
      </p:sp>
      <p:pic>
        <p:nvPicPr>
          <p:cNvPr id="21" name="x" descr="icon">    </p:cNvPr>
          <p:cNvPicPr>
            <a:picLocks noChangeAspect="1"/>
          </p:cNvPicPr>
          <p:nvPr/>
        </p:nvPicPr>
        <p:blipFill>
          <a:blip r:embed="rId4"/>
          <a:stretch>
            <a:fillRect/>
          </a:stretch>
        </p:blipFill>
        <p:spPr>
          <a:xfrm>
            <a:off x="4667402" y="5282184"/>
            <a:ext cx="201168" cy="201168"/>
          </a:xfrm>
          <a:prstGeom prst="rect">
            <a:avLst/>
          </a:prstGeom>
        </p:spPr>
      </p:pic>
      <p:sp>
        <p:nvSpPr>
          <p:cNvPr id="22" name="x"/>
          <p:cNvSpPr txBox="1"/>
          <p:nvPr/>
        </p:nvSpPr>
        <p:spPr>
          <a:xfrm>
            <a:off x="5133746" y="5154168"/>
            <a:ext cx="255513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그림 안내</a:t>
            </a:r>
            <a:endParaRPr lang="en-US" sz="1700" dirty="0"/>
          </a:p>
        </p:txBody>
      </p:sp>
      <p:sp>
        <p:nvSpPr>
          <p:cNvPr id="23" name="x"/>
          <p:cNvSpPr txBox="1"/>
          <p:nvPr/>
        </p:nvSpPr>
        <p:spPr>
          <a:xfrm>
            <a:off x="4612538" y="5702808"/>
            <a:ext cx="3012338" cy="560832"/>
          </a:xfrm>
          <a:prstGeom prst="rect">
            <a:avLst/>
          </a:prstGeom>
          <a:noFill/>
          <a:ln/>
        </p:spPr>
        <p:txBody>
          <a:bodyPr wrap="square" lIns="0" tIns="0" rIns="0" bIns="0" rtlCol="0" anchor="t"/>
          <a:lstStyle/>
          <a:p>
            <a:pPr indent="0" marL="0">
              <a:lnSpc>
                <a:spcPct val="113000"/>
              </a:lnSpc>
              <a:buNone/>
            </a:pPr>
            <a:r>
              <a:rPr lang="en-US" sz="1400" dirty="0">
                <a:solidFill>
                  <a:schemeClr val="tx1"/>
                </a:solidFill>
              </a:rPr>
              <a:t>쪽지를 넣는 손과 단지 모양 그림으로 사용법을 한눈에 전달</a:t>
            </a:r>
            <a:endParaRPr lang="en-US" sz="1400" dirty="0"/>
          </a:p>
        </p:txBody>
      </p:sp>
      <p:sp>
        <p:nvSpPr>
          <p:cNvPr id="24" name="glass-white"/>
          <p:cNvSpPr/>
          <p:nvPr/>
        </p:nvSpPr>
        <p:spPr>
          <a:xfrm>
            <a:off x="8082077" y="5017008"/>
            <a:ext cx="3515258" cy="1292352"/>
          </a:xfrm>
          <a:prstGeom prst="roundRect">
            <a:avLst>
              <a:gd name="adj" fmla="val 9906"/>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5" name="iconChip"/>
          <p:cNvSpPr/>
          <p:nvPr/>
        </p:nvSpPr>
        <p:spPr>
          <a:xfrm>
            <a:off x="8283245" y="5154168"/>
            <a:ext cx="457200" cy="457200"/>
          </a:xfrm>
          <a:prstGeom prst="ellipse">
            <a:avLst/>
          </a:prstGeom>
          <a:solidFill>
            <a:srgbClr val="FFFFFF">
              <a:alpha val="75000"/>
            </a:srgbClr>
          </a:solidFill>
          <a:ln w="12700">
            <a:solidFill>
              <a:srgbClr val="0F64AF">
                <a:alpha val="45000"/>
              </a:srgbClr>
            </a:solidFill>
            <a:prstDash val="solid"/>
          </a:ln>
        </p:spPr>
      </p:sp>
      <p:pic>
        <p:nvPicPr>
          <p:cNvPr id="26" name="x" descr="icon">    </p:cNvPr>
          <p:cNvPicPr>
            <a:picLocks noChangeAspect="1"/>
          </p:cNvPicPr>
          <p:nvPr/>
        </p:nvPicPr>
        <p:blipFill>
          <a:blip r:embed="rId5"/>
          <a:stretch>
            <a:fillRect/>
          </a:stretch>
        </p:blipFill>
        <p:spPr>
          <a:xfrm>
            <a:off x="8411261" y="5282184"/>
            <a:ext cx="201168" cy="201168"/>
          </a:xfrm>
          <a:prstGeom prst="rect">
            <a:avLst/>
          </a:prstGeom>
        </p:spPr>
      </p:pic>
      <p:sp>
        <p:nvSpPr>
          <p:cNvPr id="27" name="x"/>
          <p:cNvSpPr txBox="1"/>
          <p:nvPr/>
        </p:nvSpPr>
        <p:spPr>
          <a:xfrm>
            <a:off x="8877605" y="5154168"/>
            <a:ext cx="2555138"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주민 참여 유도</a:t>
            </a:r>
            <a:endParaRPr lang="en-US" sz="1700" dirty="0"/>
          </a:p>
        </p:txBody>
      </p:sp>
      <p:sp>
        <p:nvSpPr>
          <p:cNvPr id="28" name="x"/>
          <p:cNvSpPr txBox="1"/>
          <p:nvPr/>
        </p:nvSpPr>
        <p:spPr>
          <a:xfrm>
            <a:off x="8356397" y="5702808"/>
            <a:ext cx="3012338" cy="560832"/>
          </a:xfrm>
          <a:prstGeom prst="rect">
            <a:avLst/>
          </a:prstGeom>
          <a:noFill/>
          <a:ln/>
        </p:spPr>
        <p:txBody>
          <a:bodyPr wrap="square" lIns="0" tIns="0" rIns="0" bIns="0" rtlCol="0" anchor="t"/>
          <a:lstStyle/>
          <a:p>
            <a:pPr indent="0" marL="0">
              <a:lnSpc>
                <a:spcPct val="113000"/>
              </a:lnSpc>
              <a:buNone/>
            </a:pPr>
            <a:r>
              <a:rPr lang="en-US" sz="1400" dirty="0">
                <a:solidFill>
                  <a:schemeClr val="tx1"/>
                </a:solidFill>
              </a:rPr>
              <a:t>“여러분의 의견이 더 나은 주거환경을 만듭니다”로 주민 참여 독려</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nodeType="withEffect">
                                  <p:stCondLst>
                                    <p:cond delay="44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66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nodeType="withEffect">
                                  <p:stCondLst>
                                    <p:cond delay="66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66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88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88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nodeType="withEffect">
                                  <p:stCondLst>
                                    <p:cond delay="88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88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88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10</a:t>
            </a:r>
            <a:pPr indent="0" marL="0">
              <a:lnSpc>
                <a:spcPct val="113000"/>
              </a:lnSpc>
              <a:buNone/>
            </a:pPr>
            <a:r>
              <a:rPr lang="en-US" sz="1200" b="1" spc="200" kern="0" dirty="0">
                <a:solidFill>
                  <a:schemeClr val="accent5"/>
                </a:solidFill>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활동 결과 – 숫자로 확인한 성과와 개선 효과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10 / 13</a:t>
            </a:r>
            <a:endParaRPr lang="en-US" sz="1000" dirty="0"/>
          </a:p>
        </p:txBody>
      </p:sp>
      <p:sp>
        <p:nvSpPr>
          <p:cNvPr id="8" name="glass-blue"/>
          <p:cNvSpPr/>
          <p:nvPr/>
        </p:nvSpPr>
        <p:spPr>
          <a:xfrm>
            <a:off x="594360" y="1600200"/>
            <a:ext cx="2579294" cy="1645920"/>
          </a:xfrm>
          <a:prstGeom prst="roundRect">
            <a:avLst>
              <a:gd name="adj" fmla="val 10000"/>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9" name="stat"/>
          <p:cNvSpPr txBox="1"/>
          <p:nvPr/>
        </p:nvSpPr>
        <p:spPr>
          <a:xfrm>
            <a:off x="594360" y="1691640"/>
            <a:ext cx="2579294" cy="914400"/>
          </a:xfrm>
          <a:prstGeom prst="rect">
            <a:avLst/>
          </a:prstGeom>
          <a:noFill/>
          <a:ln/>
        </p:spPr>
        <p:txBody>
          <a:bodyPr wrap="square" lIns="0" tIns="0" rIns="0" bIns="0" rtlCol="0" anchor="ctr"/>
          <a:lstStyle/>
          <a:p>
            <a:pPr algn="ctr" indent="0" marL="0">
              <a:lnSpc>
                <a:spcPct val="106000"/>
              </a:lnSpc>
              <a:buNone/>
            </a:pPr>
            <a:r>
              <a:rPr lang="en-US" sz="4400" b="1" spc="-60" kern="0" dirty="0">
                <a:solidFill>
                  <a:schemeClr val="accent1"/>
                </a:solidFill>
              </a:rPr>
              <a:t>3명</a:t>
            </a:r>
            <a:endParaRPr lang="en-US" sz="4400" dirty="0"/>
          </a:p>
        </p:txBody>
      </p:sp>
      <p:sp>
        <p:nvSpPr>
          <p:cNvPr id="10" name="x"/>
          <p:cNvSpPr txBox="1"/>
          <p:nvPr/>
        </p:nvSpPr>
        <p:spPr>
          <a:xfrm>
            <a:off x="594360" y="2606040"/>
            <a:ext cx="2579294" cy="457200"/>
          </a:xfrm>
          <a:prstGeom prst="rect">
            <a:avLst/>
          </a:prstGeom>
          <a:noFill/>
          <a:ln/>
        </p:spPr>
        <p:txBody>
          <a:bodyPr wrap="square" lIns="0" tIns="0" rIns="0" bIns="0" rtlCol="0" anchor="ctr"/>
          <a:lstStyle/>
          <a:p>
            <a:pPr algn="ctr" indent="0" marL="0">
              <a:lnSpc>
                <a:spcPct val="113000"/>
              </a:lnSpc>
              <a:buNone/>
            </a:pPr>
            <a:r>
              <a:rPr lang="en-US" sz="1500" dirty="0">
                <a:solidFill>
                  <a:schemeClr val="accent3"/>
                </a:solidFill>
              </a:rPr>
              <a:t>참여 주민</a:t>
            </a:r>
            <a:endParaRPr lang="en-US" sz="1500" dirty="0"/>
          </a:p>
        </p:txBody>
      </p:sp>
      <p:sp>
        <p:nvSpPr>
          <p:cNvPr id="11" name="glass-green"/>
          <p:cNvSpPr/>
          <p:nvPr/>
        </p:nvSpPr>
        <p:spPr>
          <a:xfrm>
            <a:off x="3402254" y="1600200"/>
            <a:ext cx="2579294" cy="1645920"/>
          </a:xfrm>
          <a:prstGeom prst="roundRect">
            <a:avLst>
              <a:gd name="adj" fmla="val 10000"/>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2" name="stat"/>
          <p:cNvSpPr txBox="1"/>
          <p:nvPr/>
        </p:nvSpPr>
        <p:spPr>
          <a:xfrm>
            <a:off x="3402254" y="1691640"/>
            <a:ext cx="2579294" cy="914400"/>
          </a:xfrm>
          <a:prstGeom prst="rect">
            <a:avLst/>
          </a:prstGeom>
          <a:noFill/>
          <a:ln/>
        </p:spPr>
        <p:txBody>
          <a:bodyPr wrap="square" lIns="0" tIns="0" rIns="0" bIns="0" rtlCol="0" anchor="ctr"/>
          <a:lstStyle/>
          <a:p>
            <a:pPr algn="ctr" indent="0" marL="0">
              <a:lnSpc>
                <a:spcPct val="106000"/>
              </a:lnSpc>
              <a:buNone/>
            </a:pPr>
            <a:r>
              <a:rPr lang="en-US" sz="4400" b="1" spc="-60" kern="0" dirty="0">
                <a:solidFill>
                  <a:srgbClr val="2E8A22"/>
                </a:solidFill>
              </a:rPr>
              <a:t>4명</a:t>
            </a:r>
            <a:endParaRPr lang="en-US" sz="4400" dirty="0"/>
          </a:p>
        </p:txBody>
      </p:sp>
      <p:sp>
        <p:nvSpPr>
          <p:cNvPr id="13" name="x"/>
          <p:cNvSpPr txBox="1"/>
          <p:nvPr/>
        </p:nvSpPr>
        <p:spPr>
          <a:xfrm>
            <a:off x="3402254" y="2606040"/>
            <a:ext cx="2579294" cy="457200"/>
          </a:xfrm>
          <a:prstGeom prst="rect">
            <a:avLst/>
          </a:prstGeom>
          <a:noFill/>
          <a:ln/>
        </p:spPr>
        <p:txBody>
          <a:bodyPr wrap="square" lIns="0" tIns="0" rIns="0" bIns="0" rtlCol="0" anchor="ctr"/>
          <a:lstStyle/>
          <a:p>
            <a:pPr algn="ctr" indent="0" marL="0">
              <a:lnSpc>
                <a:spcPct val="113000"/>
              </a:lnSpc>
              <a:buNone/>
            </a:pPr>
            <a:r>
              <a:rPr lang="en-US" sz="1500" dirty="0">
                <a:solidFill>
                  <a:schemeClr val="accent3"/>
                </a:solidFill>
              </a:rPr>
              <a:t>참여 관리사무소 직원</a:t>
            </a:r>
            <a:endParaRPr lang="en-US" sz="1500" dirty="0"/>
          </a:p>
        </p:txBody>
      </p:sp>
      <p:sp>
        <p:nvSpPr>
          <p:cNvPr id="14" name="glass-blue"/>
          <p:cNvSpPr/>
          <p:nvPr/>
        </p:nvSpPr>
        <p:spPr>
          <a:xfrm>
            <a:off x="6210148" y="1600200"/>
            <a:ext cx="2579294" cy="1645920"/>
          </a:xfrm>
          <a:prstGeom prst="roundRect">
            <a:avLst>
              <a:gd name="adj" fmla="val 10000"/>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5" name="stat"/>
          <p:cNvSpPr txBox="1"/>
          <p:nvPr/>
        </p:nvSpPr>
        <p:spPr>
          <a:xfrm>
            <a:off x="6210148" y="1691640"/>
            <a:ext cx="2579294" cy="914400"/>
          </a:xfrm>
          <a:prstGeom prst="rect">
            <a:avLst/>
          </a:prstGeom>
          <a:noFill/>
          <a:ln/>
        </p:spPr>
        <p:txBody>
          <a:bodyPr wrap="square" lIns="0" tIns="0" rIns="0" bIns="0" rtlCol="0" anchor="ctr"/>
          <a:lstStyle/>
          <a:p>
            <a:pPr algn="ctr" indent="0" marL="0">
              <a:lnSpc>
                <a:spcPct val="106000"/>
              </a:lnSpc>
              <a:buNone/>
            </a:pPr>
            <a:r>
              <a:rPr lang="en-US" sz="4400" b="1" spc="-60" kern="0" dirty="0">
                <a:solidFill>
                  <a:schemeClr val="accent1"/>
                </a:solidFill>
              </a:rPr>
              <a:t>0원</a:t>
            </a:r>
            <a:endParaRPr lang="en-US" sz="4400" dirty="0"/>
          </a:p>
        </p:txBody>
      </p:sp>
      <p:sp>
        <p:nvSpPr>
          <p:cNvPr id="16" name="x"/>
          <p:cNvSpPr txBox="1"/>
          <p:nvPr/>
        </p:nvSpPr>
        <p:spPr>
          <a:xfrm>
            <a:off x="6210148" y="2606040"/>
            <a:ext cx="2579294" cy="457200"/>
          </a:xfrm>
          <a:prstGeom prst="rect">
            <a:avLst/>
          </a:prstGeom>
          <a:noFill/>
          <a:ln/>
        </p:spPr>
        <p:txBody>
          <a:bodyPr wrap="square" lIns="0" tIns="0" rIns="0" bIns="0" rtlCol="0" anchor="ctr"/>
          <a:lstStyle/>
          <a:p>
            <a:pPr algn="ctr" indent="0" marL="0">
              <a:lnSpc>
                <a:spcPct val="113000"/>
              </a:lnSpc>
              <a:buNone/>
            </a:pPr>
            <a:r>
              <a:rPr lang="en-US" sz="1500" dirty="0">
                <a:solidFill>
                  <a:schemeClr val="accent3"/>
                </a:solidFill>
              </a:rPr>
              <a:t>설치비 (소모품 활용)</a:t>
            </a:r>
            <a:endParaRPr lang="en-US" sz="1500" dirty="0"/>
          </a:p>
        </p:txBody>
      </p:sp>
      <p:sp>
        <p:nvSpPr>
          <p:cNvPr id="17" name="glass-green"/>
          <p:cNvSpPr/>
          <p:nvPr/>
        </p:nvSpPr>
        <p:spPr>
          <a:xfrm>
            <a:off x="9018041" y="1600200"/>
            <a:ext cx="2579294" cy="1645920"/>
          </a:xfrm>
          <a:prstGeom prst="roundRect">
            <a:avLst>
              <a:gd name="adj" fmla="val 10000"/>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8" name="stat"/>
          <p:cNvSpPr txBox="1"/>
          <p:nvPr/>
        </p:nvSpPr>
        <p:spPr>
          <a:xfrm>
            <a:off x="9018041" y="1691640"/>
            <a:ext cx="2579294" cy="914400"/>
          </a:xfrm>
          <a:prstGeom prst="rect">
            <a:avLst/>
          </a:prstGeom>
          <a:noFill/>
          <a:ln/>
        </p:spPr>
        <p:txBody>
          <a:bodyPr wrap="square" lIns="0" tIns="0" rIns="0" bIns="0" rtlCol="0" anchor="ctr"/>
          <a:lstStyle/>
          <a:p>
            <a:pPr algn="ctr" indent="0" marL="0">
              <a:lnSpc>
                <a:spcPct val="106000"/>
              </a:lnSpc>
              <a:buNone/>
            </a:pPr>
            <a:r>
              <a:rPr lang="en-US" sz="4400" b="1" spc="-60" kern="0" dirty="0">
                <a:solidFill>
                  <a:srgbClr val="2E8A22"/>
                </a:solidFill>
              </a:rPr>
              <a:t>약 30명</a:t>
            </a:r>
            <a:endParaRPr lang="en-US" sz="4400" dirty="0"/>
          </a:p>
        </p:txBody>
      </p:sp>
      <p:sp>
        <p:nvSpPr>
          <p:cNvPr id="19" name="x"/>
          <p:cNvSpPr txBox="1"/>
          <p:nvPr/>
        </p:nvSpPr>
        <p:spPr>
          <a:xfrm>
            <a:off x="9018041" y="2606040"/>
            <a:ext cx="2579294" cy="457200"/>
          </a:xfrm>
          <a:prstGeom prst="rect">
            <a:avLst/>
          </a:prstGeom>
          <a:noFill/>
          <a:ln/>
        </p:spPr>
        <p:txBody>
          <a:bodyPr wrap="square" lIns="0" tIns="0" rIns="0" bIns="0" rtlCol="0" anchor="ctr"/>
          <a:lstStyle/>
          <a:p>
            <a:pPr algn="ctr" indent="0" marL="0">
              <a:lnSpc>
                <a:spcPct val="113000"/>
              </a:lnSpc>
              <a:buNone/>
            </a:pPr>
            <a:r>
              <a:rPr lang="en-US" sz="1500" dirty="0">
                <a:solidFill>
                  <a:schemeClr val="accent3"/>
                </a:solidFill>
              </a:rPr>
              <a:t>쪽지함 이용 입주민</a:t>
            </a:r>
            <a:endParaRPr lang="en-US" sz="1500" dirty="0"/>
          </a:p>
        </p:txBody>
      </p:sp>
      <p:sp>
        <p:nvSpPr>
          <p:cNvPr id="20" name="x"/>
          <p:cNvSpPr txBox="1"/>
          <p:nvPr/>
        </p:nvSpPr>
        <p:spPr>
          <a:xfrm>
            <a:off x="594360" y="3520440"/>
            <a:ext cx="4572000" cy="36576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구체적 개선내용</a:t>
            </a:r>
            <a:endParaRPr lang="en-US" sz="1700" dirty="0"/>
          </a:p>
        </p:txBody>
      </p:sp>
      <p:sp>
        <p:nvSpPr>
          <p:cNvPr id="21" name="glass-white"/>
          <p:cNvSpPr/>
          <p:nvPr/>
        </p:nvSpPr>
        <p:spPr>
          <a:xfrm>
            <a:off x="594360" y="3977640"/>
            <a:ext cx="4846320" cy="2240280"/>
          </a:xfrm>
          <a:prstGeom prst="roundRect">
            <a:avLst>
              <a:gd name="adj" fmla="val 6531"/>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2" name="x"/>
          <p:cNvSpPr txBox="1"/>
          <p:nvPr/>
        </p:nvSpPr>
        <p:spPr>
          <a:xfrm>
            <a:off x="914400" y="4178808"/>
            <a:ext cx="1828800" cy="36576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5"/>
                </a:solidFill>
              </a:rPr>
              <a:t>개선 전</a:t>
            </a:r>
            <a:endParaRPr lang="en-US" sz="1700" dirty="0"/>
          </a:p>
        </p:txBody>
      </p:sp>
      <p:sp>
        <p:nvSpPr>
          <p:cNvPr id="23" name="x"/>
          <p:cNvSpPr txBox="1"/>
          <p:nvPr/>
        </p:nvSpPr>
        <p:spPr>
          <a:xfrm>
            <a:off x="914400" y="4709160"/>
            <a:ext cx="4206240" cy="1371600"/>
          </a:xfrm>
          <a:prstGeom prst="rect">
            <a:avLst/>
          </a:prstGeom>
          <a:noFill/>
          <a:ln/>
        </p:spPr>
        <p:txBody>
          <a:bodyPr wrap="square" lIns="0" tIns="0" rIns="0" bIns="0" rtlCol="0" anchor="t"/>
          <a:lstStyle/>
          <a:p>
            <a:pPr indent="0" marL="0">
              <a:lnSpc>
                <a:spcPct val="113000"/>
              </a:lnSpc>
              <a:buNone/>
            </a:pPr>
            <a:r>
              <a:rPr lang="en-US" sz="1700" spc="-20" kern="0" dirty="0">
                <a:solidFill>
                  <a:schemeClr val="tx1"/>
                </a:solidFill>
              </a:rPr>
              <a:t>민원창구가 대면 및 유선에 한정되어 대면민원 불편세대가 의견을 전달하기 어려움</a:t>
            </a:r>
            <a:endParaRPr lang="en-US" sz="1700" dirty="0"/>
          </a:p>
        </p:txBody>
      </p:sp>
      <p:sp>
        <p:nvSpPr>
          <p:cNvPr id="24" name="arrowCircle"/>
          <p:cNvSpPr/>
          <p:nvPr/>
        </p:nvSpPr>
        <p:spPr>
          <a:xfrm>
            <a:off x="5715000" y="4777740"/>
            <a:ext cx="640080" cy="640080"/>
          </a:xfrm>
          <a:prstGeom prst="ellipse">
            <a:avLst/>
          </a:prstGeom>
          <a:solidFill>
            <a:schemeClr val="accent2"/>
          </a:solidFill>
          <a:ln w="25400">
            <a:solidFill>
              <a:schemeClr val="bg1"/>
            </a:solidFill>
            <a:prstDash val="solid"/>
          </a:ln>
          <a:effectLst>
            <a:outerShdw sx="100000" sy="100000" kx="0" ky="0" algn="bl" rotWithShape="0" blurRad="152400" dist="38100" dir="5400000">
              <a:srgbClr val="0A3F73">
                <a:alpha val="20000"/>
              </a:srgbClr>
            </a:outerShdw>
          </a:effectLst>
        </p:spPr>
      </p:sp>
      <p:pic>
        <p:nvPicPr>
          <p:cNvPr id="25" name="x" descr="개선">    </p:cNvPr>
          <p:cNvPicPr>
            <a:picLocks noChangeAspect="1"/>
          </p:cNvPicPr>
          <p:nvPr/>
        </p:nvPicPr>
        <p:blipFill>
          <a:blip r:embed="rId2"/>
          <a:stretch>
            <a:fillRect/>
          </a:stretch>
        </p:blipFill>
        <p:spPr>
          <a:xfrm>
            <a:off x="5897880" y="4960620"/>
            <a:ext cx="274320" cy="274320"/>
          </a:xfrm>
          <a:prstGeom prst="rect">
            <a:avLst/>
          </a:prstGeom>
        </p:spPr>
      </p:pic>
      <p:sp>
        <p:nvSpPr>
          <p:cNvPr id="26" name="glass-green"/>
          <p:cNvSpPr/>
          <p:nvPr/>
        </p:nvSpPr>
        <p:spPr>
          <a:xfrm>
            <a:off x="6537960" y="3977640"/>
            <a:ext cx="5059375" cy="2240280"/>
          </a:xfrm>
          <a:prstGeom prst="roundRect">
            <a:avLst>
              <a:gd name="adj" fmla="val 6531"/>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7" name="x"/>
          <p:cNvSpPr txBox="1"/>
          <p:nvPr/>
        </p:nvSpPr>
        <p:spPr>
          <a:xfrm>
            <a:off x="6858000" y="4178808"/>
            <a:ext cx="1828800" cy="365760"/>
          </a:xfrm>
          <a:prstGeom prst="rect">
            <a:avLst/>
          </a:prstGeom>
          <a:noFill/>
          <a:ln/>
        </p:spPr>
        <p:txBody>
          <a:bodyPr wrap="square" lIns="0" tIns="0" rIns="0" bIns="0" rtlCol="0" anchor="ctr"/>
          <a:lstStyle/>
          <a:p>
            <a:pPr indent="0" marL="0">
              <a:lnSpc>
                <a:spcPct val="113000"/>
              </a:lnSpc>
              <a:buNone/>
            </a:pPr>
            <a:r>
              <a:rPr lang="en-US" sz="1700" b="1" spc="-20" kern="0" dirty="0">
                <a:solidFill>
                  <a:srgbClr val="2E8A22"/>
                </a:solidFill>
              </a:rPr>
              <a:t>개선 후</a:t>
            </a:r>
            <a:endParaRPr lang="en-US" sz="1700" dirty="0"/>
          </a:p>
        </p:txBody>
      </p:sp>
      <p:sp>
        <p:nvSpPr>
          <p:cNvPr id="28" name="x"/>
          <p:cNvSpPr txBox="1"/>
          <p:nvPr/>
        </p:nvSpPr>
        <p:spPr>
          <a:xfrm>
            <a:off x="6858000" y="4709160"/>
            <a:ext cx="4419295" cy="1371600"/>
          </a:xfrm>
          <a:prstGeom prst="rect">
            <a:avLst/>
          </a:prstGeom>
          <a:noFill/>
          <a:ln/>
        </p:spPr>
        <p:txBody>
          <a:bodyPr wrap="square" lIns="0" tIns="0" rIns="0" bIns="0" rtlCol="0" anchor="t"/>
          <a:lstStyle/>
          <a:p>
            <a:pPr indent="0" marL="0">
              <a:lnSpc>
                <a:spcPct val="113000"/>
              </a:lnSpc>
              <a:buNone/>
            </a:pPr>
            <a:r>
              <a:rPr lang="en-US" sz="1700" spc="-20" kern="0" dirty="0">
                <a:solidFill>
                  <a:schemeClr val="tx1"/>
                </a:solidFill>
              </a:rPr>
              <a:t>관리소 외부에 민원쪽지함을 설치하여 대면·유선 외에 쪽지로 민원을 제출할 수 있게 됨. 일반 입주민도 필요 시 쪽지창구를 이용함</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44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66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88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110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110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110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nodeType="withEffect">
                                  <p:stCondLst>
                                    <p:cond delay="110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132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132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132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11</a:t>
            </a:r>
            <a:pPr indent="0" marL="0">
              <a:lnSpc>
                <a:spcPct val="113000"/>
              </a:lnSpc>
              <a:buNone/>
            </a:pPr>
            <a:r>
              <a:rPr lang="en-US" sz="1200" b="1" spc="200" kern="0" dirty="0">
                <a:solidFill>
                  <a:schemeClr val="accent5"/>
                </a:solidFill>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참여자 의견과 효과 검증 종합 결과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11 / 13</a:t>
            </a:r>
            <a:endParaRPr lang="en-US" sz="1000" dirty="0"/>
          </a:p>
        </p:txBody>
      </p:sp>
      <p:sp>
        <p:nvSpPr>
          <p:cNvPr id="8" name="glass-blue"/>
          <p:cNvSpPr/>
          <p:nvPr/>
        </p:nvSpPr>
        <p:spPr>
          <a:xfrm>
            <a:off x="594360" y="1600200"/>
            <a:ext cx="5120640" cy="2194560"/>
          </a:xfrm>
          <a:prstGeom prst="roundRect">
            <a:avLst>
              <a:gd name="adj" fmla="val 6667"/>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50392" y="1783080"/>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11096"/>
            <a:ext cx="201168" cy="201168"/>
          </a:xfrm>
          <a:prstGeom prst="rect">
            <a:avLst/>
          </a:prstGeom>
        </p:spPr>
      </p:pic>
      <p:sp>
        <p:nvSpPr>
          <p:cNvPr id="11" name="x"/>
          <p:cNvSpPr txBox="1"/>
          <p:nvPr/>
        </p:nvSpPr>
        <p:spPr>
          <a:xfrm>
            <a:off x="1444752" y="1783080"/>
            <a:ext cx="4069080"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참여 직원</a:t>
            </a:r>
            <a:endParaRPr lang="en-US" sz="1700" dirty="0"/>
          </a:p>
        </p:txBody>
      </p:sp>
      <p:sp>
        <p:nvSpPr>
          <p:cNvPr id="12" name="bullets"/>
          <p:cNvSpPr txBox="1"/>
          <p:nvPr/>
        </p:nvSpPr>
        <p:spPr>
          <a:xfrm>
            <a:off x="914400" y="2377440"/>
            <a:ext cx="4526280" cy="1371600"/>
          </a:xfrm>
          <a:prstGeom prst="rect">
            <a:avLst/>
          </a:prstGeom>
          <a:noFill/>
          <a:ln/>
        </p:spPr>
        <p:txBody>
          <a:bodyPr wrap="square" lIns="0" tIns="0" rIns="0" bIns="0" rtlCol="0" anchor="t"/>
          <a:lstStyle/>
          <a:p>
            <a:pPr marL="203200" indent="-203200">
              <a:lnSpc>
                <a:spcPct val="113000"/>
              </a:lnSpc>
              <a:spcAft>
                <a:spcPts val="400"/>
              </a:spcAft>
              <a:buSzPct val="100000"/>
              <a:buChar char="•"/>
            </a:pPr>
            <a:r>
              <a:rPr lang="en-US" sz="1400" dirty="0">
                <a:solidFill>
                  <a:schemeClr val="tx1"/>
                </a:solidFill>
              </a:rPr>
              <a:t>대면이 어려운 민원 소외계층에게 별도의 민원창구를 마련해 준 좋은 기회였다는 의견</a:t>
            </a:r>
            <a:endParaRPr lang="en-US" sz="1400" dirty="0"/>
          </a:p>
          <a:p>
            <a:pPr marL="203200" indent="-203200">
              <a:lnSpc>
                <a:spcPct val="113000"/>
              </a:lnSpc>
              <a:spcAft>
                <a:spcPts val="400"/>
              </a:spcAft>
              <a:buSzPct val="100000"/>
              <a:buChar char="•"/>
            </a:pPr>
            <a:r>
              <a:rPr lang="en-US" sz="1400" dirty="0">
                <a:solidFill>
                  <a:schemeClr val="tx1"/>
                </a:solidFill>
              </a:rPr>
              <a:t>민원 접근성을 높이고 주민과 관리사무소 간 소통방식을 확대했다는 점에서 의미가 있다는 평가</a:t>
            </a:r>
            <a:endParaRPr lang="en-US" sz="1400" dirty="0"/>
          </a:p>
        </p:txBody>
      </p:sp>
      <p:sp>
        <p:nvSpPr>
          <p:cNvPr id="13" name="glass-green"/>
          <p:cNvSpPr/>
          <p:nvPr/>
        </p:nvSpPr>
        <p:spPr>
          <a:xfrm>
            <a:off x="594360" y="4023360"/>
            <a:ext cx="5120640" cy="2194560"/>
          </a:xfrm>
          <a:prstGeom prst="roundRect">
            <a:avLst>
              <a:gd name="adj" fmla="val 6667"/>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850392" y="4206240"/>
            <a:ext cx="457200" cy="457200"/>
          </a:xfrm>
          <a:prstGeom prst="ellipse">
            <a:avLst/>
          </a:prstGeom>
          <a:solidFill>
            <a:srgbClr val="FFFFFF">
              <a:alpha val="75000"/>
            </a:srgbClr>
          </a:solidFill>
          <a:ln w="12700">
            <a:solidFill>
              <a:srgbClr val="2E8A22">
                <a:alpha val="45000"/>
              </a:srgbClr>
            </a:solidFill>
            <a:prstDash val="solid"/>
          </a:ln>
        </p:spPr>
      </p:sp>
      <p:pic>
        <p:nvPicPr>
          <p:cNvPr id="15" name="x" descr="icon">    </p:cNvPr>
          <p:cNvPicPr>
            <a:picLocks noChangeAspect="1"/>
          </p:cNvPicPr>
          <p:nvPr/>
        </p:nvPicPr>
        <p:blipFill>
          <a:blip r:embed="rId3"/>
          <a:stretch>
            <a:fillRect/>
          </a:stretch>
        </p:blipFill>
        <p:spPr>
          <a:xfrm>
            <a:off x="978408" y="4334256"/>
            <a:ext cx="201168" cy="201168"/>
          </a:xfrm>
          <a:prstGeom prst="rect">
            <a:avLst/>
          </a:prstGeom>
        </p:spPr>
      </p:pic>
      <p:sp>
        <p:nvSpPr>
          <p:cNvPr id="16" name="x"/>
          <p:cNvSpPr txBox="1"/>
          <p:nvPr/>
        </p:nvSpPr>
        <p:spPr>
          <a:xfrm>
            <a:off x="1444752" y="4206240"/>
            <a:ext cx="4069080"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이용자·입주민</a:t>
            </a:r>
            <a:endParaRPr lang="en-US" sz="1700" dirty="0"/>
          </a:p>
        </p:txBody>
      </p:sp>
      <p:sp>
        <p:nvSpPr>
          <p:cNvPr id="17" name="bullets"/>
          <p:cNvSpPr txBox="1"/>
          <p:nvPr/>
        </p:nvSpPr>
        <p:spPr>
          <a:xfrm>
            <a:off x="914400" y="4800600"/>
            <a:ext cx="4526280" cy="1371600"/>
          </a:xfrm>
          <a:prstGeom prst="rect">
            <a:avLst/>
          </a:prstGeom>
          <a:noFill/>
          <a:ln/>
        </p:spPr>
        <p:txBody>
          <a:bodyPr wrap="square" lIns="0" tIns="0" rIns="0" bIns="0" rtlCol="0" anchor="t"/>
          <a:lstStyle/>
          <a:p>
            <a:pPr marL="203200" indent="-203200">
              <a:lnSpc>
                <a:spcPct val="113000"/>
              </a:lnSpc>
              <a:spcAft>
                <a:spcPts val="400"/>
              </a:spcAft>
              <a:buSzPct val="100000"/>
              <a:buChar char="•"/>
            </a:pPr>
            <a:r>
              <a:rPr lang="en-US" sz="1400" dirty="0">
                <a:solidFill>
                  <a:schemeClr val="tx1"/>
                </a:solidFill>
              </a:rPr>
              <a:t>“관리소가 신경을 많이 쓰는구만” 등 주민 배려를 긍정적으로 평가하는 의견</a:t>
            </a:r>
            <a:endParaRPr lang="en-US" sz="1400" dirty="0"/>
          </a:p>
          <a:p>
            <a:pPr marL="203200" indent="-203200">
              <a:lnSpc>
                <a:spcPct val="113000"/>
              </a:lnSpc>
              <a:spcAft>
                <a:spcPts val="400"/>
              </a:spcAft>
              <a:buSzPct val="100000"/>
              <a:buChar char="•"/>
            </a:pPr>
            <a:r>
              <a:rPr lang="en-US" sz="1400" dirty="0">
                <a:solidFill>
                  <a:schemeClr val="tx1"/>
                </a:solidFill>
              </a:rPr>
              <a:t>전반적으로 잘했다는 긍정적인 반응</a:t>
            </a:r>
            <a:endParaRPr lang="en-US" sz="1400" dirty="0"/>
          </a:p>
        </p:txBody>
      </p:sp>
      <p:sp>
        <p:nvSpPr>
          <p:cNvPr id="18" name="glass-white"/>
          <p:cNvSpPr/>
          <p:nvPr/>
        </p:nvSpPr>
        <p:spPr>
          <a:xfrm>
            <a:off x="6035040" y="1600200"/>
            <a:ext cx="5562295" cy="4617720"/>
          </a:xfrm>
          <a:prstGeom prst="roundRect">
            <a:avLst>
              <a:gd name="adj" fmla="val 316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9" name="iconChip"/>
          <p:cNvSpPr/>
          <p:nvPr/>
        </p:nvSpPr>
        <p:spPr>
          <a:xfrm>
            <a:off x="6291072" y="1783080"/>
            <a:ext cx="457200" cy="457200"/>
          </a:xfrm>
          <a:prstGeom prst="ellipse">
            <a:avLst/>
          </a:prstGeom>
          <a:solidFill>
            <a:srgbClr val="FFFFFF">
              <a:alpha val="75000"/>
            </a:srgbClr>
          </a:solidFill>
          <a:ln w="12700">
            <a:solidFill>
              <a:srgbClr val="0F64AF">
                <a:alpha val="45000"/>
              </a:srgbClr>
            </a:solidFill>
            <a:prstDash val="solid"/>
          </a:ln>
        </p:spPr>
      </p:sp>
      <p:pic>
        <p:nvPicPr>
          <p:cNvPr id="20" name="x" descr="icon">    </p:cNvPr>
          <p:cNvPicPr>
            <a:picLocks noChangeAspect="1"/>
          </p:cNvPicPr>
          <p:nvPr/>
        </p:nvPicPr>
        <p:blipFill>
          <a:blip r:embed="rId4"/>
          <a:stretch>
            <a:fillRect/>
          </a:stretch>
        </p:blipFill>
        <p:spPr>
          <a:xfrm>
            <a:off x="6419088" y="1911096"/>
            <a:ext cx="201168" cy="201168"/>
          </a:xfrm>
          <a:prstGeom prst="rect">
            <a:avLst/>
          </a:prstGeom>
        </p:spPr>
      </p:pic>
      <p:sp>
        <p:nvSpPr>
          <p:cNvPr id="21" name="x"/>
          <p:cNvSpPr txBox="1"/>
          <p:nvPr/>
        </p:nvSpPr>
        <p:spPr>
          <a:xfrm>
            <a:off x="6885432" y="1783080"/>
            <a:ext cx="4510735"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효과 검증 종합 결과</a:t>
            </a:r>
            <a:endParaRPr lang="en-US" sz="1700" dirty="0"/>
          </a:p>
        </p:txBody>
      </p:sp>
      <p:sp>
        <p:nvSpPr>
          <p:cNvPr id="22" name="x"/>
          <p:cNvSpPr txBox="1"/>
          <p:nvPr/>
        </p:nvSpPr>
        <p:spPr>
          <a:xfrm>
            <a:off x="6291072" y="2514600"/>
            <a:ext cx="1325880" cy="713232"/>
          </a:xfrm>
          <a:prstGeom prst="rect">
            <a:avLst/>
          </a:prstGeom>
          <a:noFill/>
          <a:ln/>
        </p:spPr>
        <p:txBody>
          <a:bodyPr wrap="square" lIns="0" tIns="0" rIns="0" bIns="0" rtlCol="0" anchor="ctr"/>
          <a:lstStyle/>
          <a:p>
            <a:pPr indent="0" marL="0">
              <a:lnSpc>
                <a:spcPct val="113000"/>
              </a:lnSpc>
              <a:buNone/>
            </a:pPr>
            <a:r>
              <a:rPr lang="en-US" sz="1400" b="1" dirty="0">
                <a:solidFill>
                  <a:schemeClr val="accent3"/>
                </a:solidFill>
              </a:rPr>
              <a:t>목표 달성</a:t>
            </a:r>
            <a:endParaRPr lang="en-US" sz="1400" dirty="0"/>
          </a:p>
        </p:txBody>
      </p:sp>
      <p:sp>
        <p:nvSpPr>
          <p:cNvPr id="23" name="ratingPill"/>
          <p:cNvSpPr txBox="1"/>
          <p:nvPr/>
        </p:nvSpPr>
        <p:spPr>
          <a:xfrm>
            <a:off x="7616952" y="2606040"/>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3000"/>
              </a:lnSpc>
              <a:buNone/>
            </a:pPr>
            <a:r>
              <a:rPr lang="en-US" sz="1200" b="1" dirty="0">
                <a:solidFill>
                  <a:schemeClr val="bg1"/>
                </a:solidFill>
              </a:rPr>
              <a:t>달성</a:t>
            </a:r>
            <a:endParaRPr lang="en-US" sz="1200" dirty="0"/>
          </a:p>
        </p:txBody>
      </p:sp>
      <p:sp>
        <p:nvSpPr>
          <p:cNvPr id="24" name="ratingPill"/>
          <p:cNvSpPr txBox="1"/>
          <p:nvPr/>
        </p:nvSpPr>
        <p:spPr>
          <a:xfrm>
            <a:off x="8372795"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일부 달성</a:t>
            </a:r>
            <a:endParaRPr lang="en-US" sz="1200" dirty="0"/>
          </a:p>
        </p:txBody>
      </p:sp>
      <p:sp>
        <p:nvSpPr>
          <p:cNvPr id="25" name="ratingPill"/>
          <p:cNvSpPr txBox="1"/>
          <p:nvPr/>
        </p:nvSpPr>
        <p:spPr>
          <a:xfrm>
            <a:off x="9128638"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미달성</a:t>
            </a:r>
            <a:endParaRPr lang="en-US" sz="1200" dirty="0"/>
          </a:p>
        </p:txBody>
      </p:sp>
      <p:sp>
        <p:nvSpPr>
          <p:cNvPr id="26" name="x"/>
          <p:cNvSpPr txBox="1"/>
          <p:nvPr/>
        </p:nvSpPr>
        <p:spPr>
          <a:xfrm>
            <a:off x="6291072" y="3419856"/>
            <a:ext cx="1325880" cy="713232"/>
          </a:xfrm>
          <a:prstGeom prst="rect">
            <a:avLst/>
          </a:prstGeom>
          <a:noFill/>
          <a:ln/>
        </p:spPr>
        <p:txBody>
          <a:bodyPr wrap="square" lIns="0" tIns="0" rIns="0" bIns="0" rtlCol="0" anchor="ctr"/>
          <a:lstStyle/>
          <a:p>
            <a:pPr indent="0" marL="0">
              <a:lnSpc>
                <a:spcPct val="113000"/>
              </a:lnSpc>
              <a:buNone/>
            </a:pPr>
            <a:r>
              <a:rPr lang="en-US" sz="1400" b="1" dirty="0">
                <a:solidFill>
                  <a:schemeClr val="accent3"/>
                </a:solidFill>
              </a:rPr>
              <a:t>효과성</a:t>
            </a:r>
            <a:endParaRPr lang="en-US" sz="1400" dirty="0"/>
          </a:p>
        </p:txBody>
      </p:sp>
      <p:sp>
        <p:nvSpPr>
          <p:cNvPr id="27" name="ratingPill"/>
          <p:cNvSpPr txBox="1"/>
          <p:nvPr/>
        </p:nvSpPr>
        <p:spPr>
          <a:xfrm>
            <a:off x="7616952"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매우 우수</a:t>
            </a:r>
            <a:endParaRPr lang="en-US" sz="1200" dirty="0"/>
          </a:p>
        </p:txBody>
      </p:sp>
      <p:sp>
        <p:nvSpPr>
          <p:cNvPr id="28" name="ratingPill"/>
          <p:cNvSpPr txBox="1"/>
          <p:nvPr/>
        </p:nvSpPr>
        <p:spPr>
          <a:xfrm>
            <a:off x="8372795" y="3511296"/>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3000"/>
              </a:lnSpc>
              <a:buNone/>
            </a:pPr>
            <a:r>
              <a:rPr lang="en-US" sz="1200" b="1" dirty="0">
                <a:solidFill>
                  <a:schemeClr val="bg1"/>
                </a:solidFill>
              </a:rPr>
              <a:t>우수</a:t>
            </a:r>
            <a:endParaRPr lang="en-US" sz="1200" dirty="0"/>
          </a:p>
        </p:txBody>
      </p:sp>
      <p:sp>
        <p:nvSpPr>
          <p:cNvPr id="29" name="ratingPill"/>
          <p:cNvSpPr txBox="1"/>
          <p:nvPr/>
        </p:nvSpPr>
        <p:spPr>
          <a:xfrm>
            <a:off x="9128638"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보통</a:t>
            </a:r>
            <a:endParaRPr lang="en-US" sz="1200" dirty="0"/>
          </a:p>
        </p:txBody>
      </p:sp>
      <p:sp>
        <p:nvSpPr>
          <p:cNvPr id="30" name="ratingPill"/>
          <p:cNvSpPr txBox="1"/>
          <p:nvPr/>
        </p:nvSpPr>
        <p:spPr>
          <a:xfrm>
            <a:off x="9884481"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미흡</a:t>
            </a:r>
            <a:endParaRPr lang="en-US" sz="1200" dirty="0"/>
          </a:p>
        </p:txBody>
      </p:sp>
      <p:sp>
        <p:nvSpPr>
          <p:cNvPr id="31" name="ratingPill"/>
          <p:cNvSpPr txBox="1"/>
          <p:nvPr/>
        </p:nvSpPr>
        <p:spPr>
          <a:xfrm>
            <a:off x="10640324"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매우 미흡</a:t>
            </a:r>
            <a:endParaRPr lang="en-US" sz="1200" dirty="0"/>
          </a:p>
        </p:txBody>
      </p:sp>
      <p:sp>
        <p:nvSpPr>
          <p:cNvPr id="32" name="x"/>
          <p:cNvSpPr txBox="1"/>
          <p:nvPr/>
        </p:nvSpPr>
        <p:spPr>
          <a:xfrm>
            <a:off x="6291072" y="4325112"/>
            <a:ext cx="1325880" cy="713232"/>
          </a:xfrm>
          <a:prstGeom prst="rect">
            <a:avLst/>
          </a:prstGeom>
          <a:noFill/>
          <a:ln/>
        </p:spPr>
        <p:txBody>
          <a:bodyPr wrap="square" lIns="0" tIns="0" rIns="0" bIns="0" rtlCol="0" anchor="ctr"/>
          <a:lstStyle/>
          <a:p>
            <a:pPr indent="0" marL="0">
              <a:lnSpc>
                <a:spcPct val="113000"/>
              </a:lnSpc>
              <a:buNone/>
            </a:pPr>
            <a:r>
              <a:rPr lang="en-US" sz="1400" b="1" dirty="0">
                <a:solidFill>
                  <a:schemeClr val="accent3"/>
                </a:solidFill>
              </a:rPr>
              <a:t>확대 적용 가능성</a:t>
            </a:r>
            <a:endParaRPr lang="en-US" sz="1400" dirty="0"/>
          </a:p>
        </p:txBody>
      </p:sp>
      <p:sp>
        <p:nvSpPr>
          <p:cNvPr id="33" name="ratingPill"/>
          <p:cNvSpPr txBox="1"/>
          <p:nvPr/>
        </p:nvSpPr>
        <p:spPr>
          <a:xfrm>
            <a:off x="7616952" y="4416552"/>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3000"/>
              </a:lnSpc>
              <a:buNone/>
            </a:pPr>
            <a:r>
              <a:rPr lang="en-US" sz="1200" b="1" dirty="0">
                <a:solidFill>
                  <a:schemeClr val="bg1"/>
                </a:solidFill>
              </a:rPr>
              <a:t>매우 높음</a:t>
            </a:r>
            <a:endParaRPr lang="en-US" sz="1200" dirty="0"/>
          </a:p>
        </p:txBody>
      </p:sp>
      <p:sp>
        <p:nvSpPr>
          <p:cNvPr id="34" name="ratingPill"/>
          <p:cNvSpPr txBox="1"/>
          <p:nvPr/>
        </p:nvSpPr>
        <p:spPr>
          <a:xfrm>
            <a:off x="8372795"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높음</a:t>
            </a:r>
            <a:endParaRPr lang="en-US" sz="1200" dirty="0"/>
          </a:p>
        </p:txBody>
      </p:sp>
      <p:sp>
        <p:nvSpPr>
          <p:cNvPr id="35" name="ratingPill"/>
          <p:cNvSpPr txBox="1"/>
          <p:nvPr/>
        </p:nvSpPr>
        <p:spPr>
          <a:xfrm>
            <a:off x="9128638"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보통</a:t>
            </a:r>
            <a:endParaRPr lang="en-US" sz="1200" dirty="0"/>
          </a:p>
        </p:txBody>
      </p:sp>
      <p:sp>
        <p:nvSpPr>
          <p:cNvPr id="36" name="ratingPill"/>
          <p:cNvSpPr txBox="1"/>
          <p:nvPr/>
        </p:nvSpPr>
        <p:spPr>
          <a:xfrm>
            <a:off x="9884481"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낮음</a:t>
            </a:r>
            <a:endParaRPr lang="en-US" sz="1200" dirty="0"/>
          </a:p>
        </p:txBody>
      </p:sp>
      <p:sp>
        <p:nvSpPr>
          <p:cNvPr id="37" name="ratingPill"/>
          <p:cNvSpPr txBox="1"/>
          <p:nvPr/>
        </p:nvSpPr>
        <p:spPr>
          <a:xfrm>
            <a:off x="10640324"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매우 낮음</a:t>
            </a:r>
            <a:endParaRPr lang="en-US" sz="1200" dirty="0"/>
          </a:p>
        </p:txBody>
      </p:sp>
      <p:sp>
        <p:nvSpPr>
          <p:cNvPr id="38" name="x"/>
          <p:cNvSpPr txBox="1"/>
          <p:nvPr/>
        </p:nvSpPr>
        <p:spPr>
          <a:xfrm>
            <a:off x="6291072" y="5230368"/>
            <a:ext cx="1325880" cy="713232"/>
          </a:xfrm>
          <a:prstGeom prst="rect">
            <a:avLst/>
          </a:prstGeom>
          <a:noFill/>
          <a:ln/>
        </p:spPr>
        <p:txBody>
          <a:bodyPr wrap="square" lIns="0" tIns="0" rIns="0" bIns="0" rtlCol="0" anchor="ctr"/>
          <a:lstStyle/>
          <a:p>
            <a:pPr indent="0" marL="0">
              <a:lnSpc>
                <a:spcPct val="113000"/>
              </a:lnSpc>
              <a:buNone/>
            </a:pPr>
            <a:r>
              <a:rPr lang="en-US" sz="1400" b="1" dirty="0">
                <a:solidFill>
                  <a:schemeClr val="accent3"/>
                </a:solidFill>
              </a:rPr>
              <a:t>참여자 만족도</a:t>
            </a:r>
            <a:endParaRPr lang="en-US" sz="1400" dirty="0"/>
          </a:p>
        </p:txBody>
      </p:sp>
      <p:sp>
        <p:nvSpPr>
          <p:cNvPr id="39" name="ratingPill"/>
          <p:cNvSpPr txBox="1"/>
          <p:nvPr/>
        </p:nvSpPr>
        <p:spPr>
          <a:xfrm>
            <a:off x="7616952"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매우 만족</a:t>
            </a:r>
            <a:endParaRPr lang="en-US" sz="1200" dirty="0"/>
          </a:p>
        </p:txBody>
      </p:sp>
      <p:sp>
        <p:nvSpPr>
          <p:cNvPr id="40" name="ratingPill"/>
          <p:cNvSpPr txBox="1"/>
          <p:nvPr/>
        </p:nvSpPr>
        <p:spPr>
          <a:xfrm>
            <a:off x="8372795" y="5321808"/>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3000"/>
              </a:lnSpc>
              <a:buNone/>
            </a:pPr>
            <a:r>
              <a:rPr lang="en-US" sz="1200" b="1" dirty="0">
                <a:solidFill>
                  <a:schemeClr val="bg1"/>
                </a:solidFill>
              </a:rPr>
              <a:t>만족</a:t>
            </a:r>
            <a:endParaRPr lang="en-US" sz="1200" dirty="0"/>
          </a:p>
        </p:txBody>
      </p:sp>
      <p:sp>
        <p:nvSpPr>
          <p:cNvPr id="41" name="ratingPill"/>
          <p:cNvSpPr txBox="1"/>
          <p:nvPr/>
        </p:nvSpPr>
        <p:spPr>
          <a:xfrm>
            <a:off x="9128638"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보통</a:t>
            </a:r>
            <a:endParaRPr lang="en-US" sz="1200" dirty="0"/>
          </a:p>
        </p:txBody>
      </p:sp>
      <p:sp>
        <p:nvSpPr>
          <p:cNvPr id="42" name="ratingPill"/>
          <p:cNvSpPr txBox="1"/>
          <p:nvPr/>
        </p:nvSpPr>
        <p:spPr>
          <a:xfrm>
            <a:off x="9884481"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불만족</a:t>
            </a:r>
            <a:endParaRPr lang="en-US" sz="1200" dirty="0"/>
          </a:p>
        </p:txBody>
      </p:sp>
      <p:sp>
        <p:nvSpPr>
          <p:cNvPr id="43" name="ratingPill"/>
          <p:cNvSpPr txBox="1"/>
          <p:nvPr/>
        </p:nvSpPr>
        <p:spPr>
          <a:xfrm>
            <a:off x="10640324"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3000"/>
              </a:lnSpc>
              <a:buNone/>
            </a:pPr>
            <a:r>
              <a:rPr lang="en-US" sz="1200" dirty="0">
                <a:solidFill>
                  <a:schemeClr val="accent5"/>
                </a:solidFill>
              </a:rPr>
              <a:t>매우 불만족</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44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44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44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44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44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44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44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44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grpId="0" nodeType="withEffect">
                                  <p:stCondLst>
                                    <p:cond delay="44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44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44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par>
                                <p:cTn id="135" presetID="42" presetClass="entr" presetSubtype="0" fill="hold" grpId="0" nodeType="withEffect">
                                  <p:stCondLst>
                                    <p:cond delay="440"/>
                                  </p:stCondLst>
                                  <p:childTnLst>
                                    <p:set>
                                      <p:cBhvr>
                                        <p:cTn id="136" dur="1" fill="hold">
                                          <p:stCondLst>
                                            <p:cond delay="0"/>
                                          </p:stCondLst>
                                        </p:cTn>
                                        <p:tgtEl>
                                          <p:spTgt spid="34"/>
                                        </p:tgtEl>
                                        <p:attrNameLst>
                                          <p:attrName>style.visibility</p:attrName>
                                        </p:attrNameLst>
                                      </p:cBhvr>
                                      <p:to>
                                        <p:strVal val="visible"/>
                                      </p:to>
                                    </p:set>
                                    <p:anim calcmode="lin" valueType="num">
                                      <p:cBhvr additive="base">
                                        <p:cTn id="137" dur="500" fill="hold"/>
                                        <p:tgtEl>
                                          <p:spTgt spid="34"/>
                                        </p:tgtEl>
                                        <p:attrNameLst>
                                          <p:attrName>ppt_x</p:attrName>
                                        </p:attrNameLst>
                                      </p:cBhvr>
                                      <p:tavLst>
                                        <p:tav tm="0">
                                          <p:val>
                                            <p:strVal val="#ppt_x"/>
                                          </p:val>
                                        </p:tav>
                                        <p:tav tm="100000">
                                          <p:val>
                                            <p:strVal val="#ppt_x"/>
                                          </p:val>
                                        </p:tav>
                                      </p:tavLst>
                                    </p:anim>
                                    <p:anim calcmode="lin" valueType="num">
                                      <p:cBhvr additive="base">
                                        <p:cTn id="138" dur="500" fill="hold"/>
                                        <p:tgtEl>
                                          <p:spTgt spid="34"/>
                                        </p:tgtEl>
                                        <p:attrNameLst>
                                          <p:attrName>ppt_y</p:attrName>
                                        </p:attrNameLst>
                                      </p:cBhvr>
                                      <p:tavLst>
                                        <p:tav tm="0">
                                          <p:val>
                                            <p:strVal val="#ppt_y+.04"/>
                                          </p:val>
                                        </p:tav>
                                        <p:tav tm="100000">
                                          <p:val>
                                            <p:strVal val="#ppt_y"/>
                                          </p:val>
                                        </p:tav>
                                      </p:tavLst>
                                    </p:anim>
                                    <p:animEffect transition="in" filter="fade">
                                      <p:cBhvr>
                                        <p:cTn id="139" dur="500"/>
                                        <p:tgtEl>
                                          <p:spTgt spid="34"/>
                                        </p:tgtEl>
                                      </p:cBhvr>
                                    </p:animEffect>
                                  </p:childTnLst>
                                </p:cTn>
                              </p:par>
                              <p:par>
                                <p:cTn id="140" presetID="42" presetClass="entr" presetSubtype="0" fill="hold" grpId="0" nodeType="withEffect">
                                  <p:stCondLst>
                                    <p:cond delay="440"/>
                                  </p:stCondLst>
                                  <p:childTnLst>
                                    <p:set>
                                      <p:cBhvr>
                                        <p:cTn id="141" dur="1" fill="hold">
                                          <p:stCondLst>
                                            <p:cond delay="0"/>
                                          </p:stCondLst>
                                        </p:cTn>
                                        <p:tgtEl>
                                          <p:spTgt spid="35"/>
                                        </p:tgtEl>
                                        <p:attrNameLst>
                                          <p:attrName>style.visibility</p:attrName>
                                        </p:attrNameLst>
                                      </p:cBhvr>
                                      <p:to>
                                        <p:strVal val="visible"/>
                                      </p:to>
                                    </p:set>
                                    <p:anim calcmode="lin" valueType="num">
                                      <p:cBhvr additive="base">
                                        <p:cTn id="142" dur="500" fill="hold"/>
                                        <p:tgtEl>
                                          <p:spTgt spid="35"/>
                                        </p:tgtEl>
                                        <p:attrNameLst>
                                          <p:attrName>ppt_x</p:attrName>
                                        </p:attrNameLst>
                                      </p:cBhvr>
                                      <p:tavLst>
                                        <p:tav tm="0">
                                          <p:val>
                                            <p:strVal val="#ppt_x"/>
                                          </p:val>
                                        </p:tav>
                                        <p:tav tm="100000">
                                          <p:val>
                                            <p:strVal val="#ppt_x"/>
                                          </p:val>
                                        </p:tav>
                                      </p:tavLst>
                                    </p:anim>
                                    <p:anim calcmode="lin" valueType="num">
                                      <p:cBhvr additive="base">
                                        <p:cTn id="143" dur="500" fill="hold"/>
                                        <p:tgtEl>
                                          <p:spTgt spid="35"/>
                                        </p:tgtEl>
                                        <p:attrNameLst>
                                          <p:attrName>ppt_y</p:attrName>
                                        </p:attrNameLst>
                                      </p:cBhvr>
                                      <p:tavLst>
                                        <p:tav tm="0">
                                          <p:val>
                                            <p:strVal val="#ppt_y+.04"/>
                                          </p:val>
                                        </p:tav>
                                        <p:tav tm="100000">
                                          <p:val>
                                            <p:strVal val="#ppt_y"/>
                                          </p:val>
                                        </p:tav>
                                      </p:tavLst>
                                    </p:anim>
                                    <p:animEffect transition="in" filter="fade">
                                      <p:cBhvr>
                                        <p:cTn id="144" dur="500"/>
                                        <p:tgtEl>
                                          <p:spTgt spid="35"/>
                                        </p:tgtEl>
                                      </p:cBhvr>
                                    </p:animEffect>
                                  </p:childTnLst>
                                </p:cTn>
                              </p:par>
                              <p:par>
                                <p:cTn id="145" presetID="42" presetClass="entr" presetSubtype="0" fill="hold" grpId="0" nodeType="withEffect">
                                  <p:stCondLst>
                                    <p:cond delay="440"/>
                                  </p:stCondLst>
                                  <p:childTnLst>
                                    <p:set>
                                      <p:cBhvr>
                                        <p:cTn id="146" dur="1" fill="hold">
                                          <p:stCondLst>
                                            <p:cond delay="0"/>
                                          </p:stCondLst>
                                        </p:cTn>
                                        <p:tgtEl>
                                          <p:spTgt spid="36"/>
                                        </p:tgtEl>
                                        <p:attrNameLst>
                                          <p:attrName>style.visibility</p:attrName>
                                        </p:attrNameLst>
                                      </p:cBhvr>
                                      <p:to>
                                        <p:strVal val="visible"/>
                                      </p:to>
                                    </p:set>
                                    <p:anim calcmode="lin" valueType="num">
                                      <p:cBhvr additive="base">
                                        <p:cTn id="147" dur="500" fill="hold"/>
                                        <p:tgtEl>
                                          <p:spTgt spid="36"/>
                                        </p:tgtEl>
                                        <p:attrNameLst>
                                          <p:attrName>ppt_x</p:attrName>
                                        </p:attrNameLst>
                                      </p:cBhvr>
                                      <p:tavLst>
                                        <p:tav tm="0">
                                          <p:val>
                                            <p:strVal val="#ppt_x"/>
                                          </p:val>
                                        </p:tav>
                                        <p:tav tm="100000">
                                          <p:val>
                                            <p:strVal val="#ppt_x"/>
                                          </p:val>
                                        </p:tav>
                                      </p:tavLst>
                                    </p:anim>
                                    <p:anim calcmode="lin" valueType="num">
                                      <p:cBhvr additive="base">
                                        <p:cTn id="148" dur="500" fill="hold"/>
                                        <p:tgtEl>
                                          <p:spTgt spid="36"/>
                                        </p:tgtEl>
                                        <p:attrNameLst>
                                          <p:attrName>ppt_y</p:attrName>
                                        </p:attrNameLst>
                                      </p:cBhvr>
                                      <p:tavLst>
                                        <p:tav tm="0">
                                          <p:val>
                                            <p:strVal val="#ppt_y+.04"/>
                                          </p:val>
                                        </p:tav>
                                        <p:tav tm="100000">
                                          <p:val>
                                            <p:strVal val="#ppt_y"/>
                                          </p:val>
                                        </p:tav>
                                      </p:tavLst>
                                    </p:anim>
                                    <p:animEffect transition="in" filter="fade">
                                      <p:cBhvr>
                                        <p:cTn id="149" dur="500"/>
                                        <p:tgtEl>
                                          <p:spTgt spid="36"/>
                                        </p:tgtEl>
                                      </p:cBhvr>
                                    </p:animEffect>
                                  </p:childTnLst>
                                </p:cTn>
                              </p:par>
                              <p:par>
                                <p:cTn id="150" presetID="42" presetClass="entr" presetSubtype="0" fill="hold" grpId="0" nodeType="withEffect">
                                  <p:stCondLst>
                                    <p:cond delay="440"/>
                                  </p:stCondLst>
                                  <p:childTnLst>
                                    <p:set>
                                      <p:cBhvr>
                                        <p:cTn id="151" dur="1" fill="hold">
                                          <p:stCondLst>
                                            <p:cond delay="0"/>
                                          </p:stCondLst>
                                        </p:cTn>
                                        <p:tgtEl>
                                          <p:spTgt spid="37"/>
                                        </p:tgtEl>
                                        <p:attrNameLst>
                                          <p:attrName>style.visibility</p:attrName>
                                        </p:attrNameLst>
                                      </p:cBhvr>
                                      <p:to>
                                        <p:strVal val="visible"/>
                                      </p:to>
                                    </p:set>
                                    <p:anim calcmode="lin" valueType="num">
                                      <p:cBhvr additive="base">
                                        <p:cTn id="152" dur="500" fill="hold"/>
                                        <p:tgtEl>
                                          <p:spTgt spid="37"/>
                                        </p:tgtEl>
                                        <p:attrNameLst>
                                          <p:attrName>ppt_x</p:attrName>
                                        </p:attrNameLst>
                                      </p:cBhvr>
                                      <p:tavLst>
                                        <p:tav tm="0">
                                          <p:val>
                                            <p:strVal val="#ppt_x"/>
                                          </p:val>
                                        </p:tav>
                                        <p:tav tm="100000">
                                          <p:val>
                                            <p:strVal val="#ppt_x"/>
                                          </p:val>
                                        </p:tav>
                                      </p:tavLst>
                                    </p:anim>
                                    <p:anim calcmode="lin" valueType="num">
                                      <p:cBhvr additive="base">
                                        <p:cTn id="153" dur="500" fill="hold"/>
                                        <p:tgtEl>
                                          <p:spTgt spid="37"/>
                                        </p:tgtEl>
                                        <p:attrNameLst>
                                          <p:attrName>ppt_y</p:attrName>
                                        </p:attrNameLst>
                                      </p:cBhvr>
                                      <p:tavLst>
                                        <p:tav tm="0">
                                          <p:val>
                                            <p:strVal val="#ppt_y+.04"/>
                                          </p:val>
                                        </p:tav>
                                        <p:tav tm="100000">
                                          <p:val>
                                            <p:strVal val="#ppt_y"/>
                                          </p:val>
                                        </p:tav>
                                      </p:tavLst>
                                    </p:anim>
                                    <p:animEffect transition="in" filter="fade">
                                      <p:cBhvr>
                                        <p:cTn id="154" dur="500"/>
                                        <p:tgtEl>
                                          <p:spTgt spid="37"/>
                                        </p:tgtEl>
                                      </p:cBhvr>
                                    </p:animEffect>
                                  </p:childTnLst>
                                </p:cTn>
                              </p:par>
                              <p:par>
                                <p:cTn id="155" presetID="42" presetClass="entr" presetSubtype="0" fill="hold" grpId="0" nodeType="withEffect">
                                  <p:stCondLst>
                                    <p:cond delay="440"/>
                                  </p:stCondLst>
                                  <p:childTnLst>
                                    <p:set>
                                      <p:cBhvr>
                                        <p:cTn id="156" dur="1" fill="hold">
                                          <p:stCondLst>
                                            <p:cond delay="0"/>
                                          </p:stCondLst>
                                        </p:cTn>
                                        <p:tgtEl>
                                          <p:spTgt spid="38"/>
                                        </p:tgtEl>
                                        <p:attrNameLst>
                                          <p:attrName>style.visibility</p:attrName>
                                        </p:attrNameLst>
                                      </p:cBhvr>
                                      <p:to>
                                        <p:strVal val="visible"/>
                                      </p:to>
                                    </p:set>
                                    <p:anim calcmode="lin" valueType="num">
                                      <p:cBhvr additive="base">
                                        <p:cTn id="157" dur="500" fill="hold"/>
                                        <p:tgtEl>
                                          <p:spTgt spid="38"/>
                                        </p:tgtEl>
                                        <p:attrNameLst>
                                          <p:attrName>ppt_x</p:attrName>
                                        </p:attrNameLst>
                                      </p:cBhvr>
                                      <p:tavLst>
                                        <p:tav tm="0">
                                          <p:val>
                                            <p:strVal val="#ppt_x"/>
                                          </p:val>
                                        </p:tav>
                                        <p:tav tm="100000">
                                          <p:val>
                                            <p:strVal val="#ppt_x"/>
                                          </p:val>
                                        </p:tav>
                                      </p:tavLst>
                                    </p:anim>
                                    <p:anim calcmode="lin" valueType="num">
                                      <p:cBhvr additive="base">
                                        <p:cTn id="158" dur="500" fill="hold"/>
                                        <p:tgtEl>
                                          <p:spTgt spid="38"/>
                                        </p:tgtEl>
                                        <p:attrNameLst>
                                          <p:attrName>ppt_y</p:attrName>
                                        </p:attrNameLst>
                                      </p:cBhvr>
                                      <p:tavLst>
                                        <p:tav tm="0">
                                          <p:val>
                                            <p:strVal val="#ppt_y+.04"/>
                                          </p:val>
                                        </p:tav>
                                        <p:tav tm="100000">
                                          <p:val>
                                            <p:strVal val="#ppt_y"/>
                                          </p:val>
                                        </p:tav>
                                      </p:tavLst>
                                    </p:anim>
                                    <p:animEffect transition="in" filter="fade">
                                      <p:cBhvr>
                                        <p:cTn id="159" dur="500"/>
                                        <p:tgtEl>
                                          <p:spTgt spid="38"/>
                                        </p:tgtEl>
                                      </p:cBhvr>
                                    </p:animEffect>
                                  </p:childTnLst>
                                </p:cTn>
                              </p:par>
                              <p:par>
                                <p:cTn id="160" presetID="42" presetClass="entr" presetSubtype="0" fill="hold" grpId="0" nodeType="withEffect">
                                  <p:stCondLst>
                                    <p:cond delay="440"/>
                                  </p:stCondLst>
                                  <p:childTnLst>
                                    <p:set>
                                      <p:cBhvr>
                                        <p:cTn id="161" dur="1" fill="hold">
                                          <p:stCondLst>
                                            <p:cond delay="0"/>
                                          </p:stCondLst>
                                        </p:cTn>
                                        <p:tgtEl>
                                          <p:spTgt spid="39"/>
                                        </p:tgtEl>
                                        <p:attrNameLst>
                                          <p:attrName>style.visibility</p:attrName>
                                        </p:attrNameLst>
                                      </p:cBhvr>
                                      <p:to>
                                        <p:strVal val="visible"/>
                                      </p:to>
                                    </p:set>
                                    <p:anim calcmode="lin" valueType="num">
                                      <p:cBhvr additive="base">
                                        <p:cTn id="162" dur="500" fill="hold"/>
                                        <p:tgtEl>
                                          <p:spTgt spid="39"/>
                                        </p:tgtEl>
                                        <p:attrNameLst>
                                          <p:attrName>ppt_x</p:attrName>
                                        </p:attrNameLst>
                                      </p:cBhvr>
                                      <p:tavLst>
                                        <p:tav tm="0">
                                          <p:val>
                                            <p:strVal val="#ppt_x"/>
                                          </p:val>
                                        </p:tav>
                                        <p:tav tm="100000">
                                          <p:val>
                                            <p:strVal val="#ppt_x"/>
                                          </p:val>
                                        </p:tav>
                                      </p:tavLst>
                                    </p:anim>
                                    <p:anim calcmode="lin" valueType="num">
                                      <p:cBhvr additive="base">
                                        <p:cTn id="163" dur="500" fill="hold"/>
                                        <p:tgtEl>
                                          <p:spTgt spid="39"/>
                                        </p:tgtEl>
                                        <p:attrNameLst>
                                          <p:attrName>ppt_y</p:attrName>
                                        </p:attrNameLst>
                                      </p:cBhvr>
                                      <p:tavLst>
                                        <p:tav tm="0">
                                          <p:val>
                                            <p:strVal val="#ppt_y+.04"/>
                                          </p:val>
                                        </p:tav>
                                        <p:tav tm="100000">
                                          <p:val>
                                            <p:strVal val="#ppt_y"/>
                                          </p:val>
                                        </p:tav>
                                      </p:tavLst>
                                    </p:anim>
                                    <p:animEffect transition="in" filter="fade">
                                      <p:cBhvr>
                                        <p:cTn id="164" dur="500"/>
                                        <p:tgtEl>
                                          <p:spTgt spid="39"/>
                                        </p:tgtEl>
                                      </p:cBhvr>
                                    </p:animEffect>
                                  </p:childTnLst>
                                </p:cTn>
                              </p:par>
                              <p:par>
                                <p:cTn id="165" presetID="42" presetClass="entr" presetSubtype="0" fill="hold" grpId="0" nodeType="withEffect">
                                  <p:stCondLst>
                                    <p:cond delay="440"/>
                                  </p:stCondLst>
                                  <p:childTnLst>
                                    <p:set>
                                      <p:cBhvr>
                                        <p:cTn id="166" dur="1" fill="hold">
                                          <p:stCondLst>
                                            <p:cond delay="0"/>
                                          </p:stCondLst>
                                        </p:cTn>
                                        <p:tgtEl>
                                          <p:spTgt spid="40"/>
                                        </p:tgtEl>
                                        <p:attrNameLst>
                                          <p:attrName>style.visibility</p:attrName>
                                        </p:attrNameLst>
                                      </p:cBhvr>
                                      <p:to>
                                        <p:strVal val="visible"/>
                                      </p:to>
                                    </p:set>
                                    <p:anim calcmode="lin" valueType="num">
                                      <p:cBhvr additive="base">
                                        <p:cTn id="167" dur="500" fill="hold"/>
                                        <p:tgtEl>
                                          <p:spTgt spid="40"/>
                                        </p:tgtEl>
                                        <p:attrNameLst>
                                          <p:attrName>ppt_x</p:attrName>
                                        </p:attrNameLst>
                                      </p:cBhvr>
                                      <p:tavLst>
                                        <p:tav tm="0">
                                          <p:val>
                                            <p:strVal val="#ppt_x"/>
                                          </p:val>
                                        </p:tav>
                                        <p:tav tm="100000">
                                          <p:val>
                                            <p:strVal val="#ppt_x"/>
                                          </p:val>
                                        </p:tav>
                                      </p:tavLst>
                                    </p:anim>
                                    <p:anim calcmode="lin" valueType="num">
                                      <p:cBhvr additive="base">
                                        <p:cTn id="168" dur="500" fill="hold"/>
                                        <p:tgtEl>
                                          <p:spTgt spid="40"/>
                                        </p:tgtEl>
                                        <p:attrNameLst>
                                          <p:attrName>ppt_y</p:attrName>
                                        </p:attrNameLst>
                                      </p:cBhvr>
                                      <p:tavLst>
                                        <p:tav tm="0">
                                          <p:val>
                                            <p:strVal val="#ppt_y+.04"/>
                                          </p:val>
                                        </p:tav>
                                        <p:tav tm="100000">
                                          <p:val>
                                            <p:strVal val="#ppt_y"/>
                                          </p:val>
                                        </p:tav>
                                      </p:tavLst>
                                    </p:anim>
                                    <p:animEffect transition="in" filter="fade">
                                      <p:cBhvr>
                                        <p:cTn id="169" dur="500"/>
                                        <p:tgtEl>
                                          <p:spTgt spid="40"/>
                                        </p:tgtEl>
                                      </p:cBhvr>
                                    </p:animEffect>
                                  </p:childTnLst>
                                </p:cTn>
                              </p:par>
                              <p:par>
                                <p:cTn id="170" presetID="42" presetClass="entr" presetSubtype="0" fill="hold" grpId="0" nodeType="withEffect">
                                  <p:stCondLst>
                                    <p:cond delay="440"/>
                                  </p:stCondLst>
                                  <p:childTnLst>
                                    <p:set>
                                      <p:cBhvr>
                                        <p:cTn id="171" dur="1" fill="hold">
                                          <p:stCondLst>
                                            <p:cond delay="0"/>
                                          </p:stCondLst>
                                        </p:cTn>
                                        <p:tgtEl>
                                          <p:spTgt spid="41"/>
                                        </p:tgtEl>
                                        <p:attrNameLst>
                                          <p:attrName>style.visibility</p:attrName>
                                        </p:attrNameLst>
                                      </p:cBhvr>
                                      <p:to>
                                        <p:strVal val="visible"/>
                                      </p:to>
                                    </p:set>
                                    <p:anim calcmode="lin" valueType="num">
                                      <p:cBhvr additive="base">
                                        <p:cTn id="172" dur="500" fill="hold"/>
                                        <p:tgtEl>
                                          <p:spTgt spid="41"/>
                                        </p:tgtEl>
                                        <p:attrNameLst>
                                          <p:attrName>ppt_x</p:attrName>
                                        </p:attrNameLst>
                                      </p:cBhvr>
                                      <p:tavLst>
                                        <p:tav tm="0">
                                          <p:val>
                                            <p:strVal val="#ppt_x"/>
                                          </p:val>
                                        </p:tav>
                                        <p:tav tm="100000">
                                          <p:val>
                                            <p:strVal val="#ppt_x"/>
                                          </p:val>
                                        </p:tav>
                                      </p:tavLst>
                                    </p:anim>
                                    <p:anim calcmode="lin" valueType="num">
                                      <p:cBhvr additive="base">
                                        <p:cTn id="173" dur="500" fill="hold"/>
                                        <p:tgtEl>
                                          <p:spTgt spid="41"/>
                                        </p:tgtEl>
                                        <p:attrNameLst>
                                          <p:attrName>ppt_y</p:attrName>
                                        </p:attrNameLst>
                                      </p:cBhvr>
                                      <p:tavLst>
                                        <p:tav tm="0">
                                          <p:val>
                                            <p:strVal val="#ppt_y+.04"/>
                                          </p:val>
                                        </p:tav>
                                        <p:tav tm="100000">
                                          <p:val>
                                            <p:strVal val="#ppt_y"/>
                                          </p:val>
                                        </p:tav>
                                      </p:tavLst>
                                    </p:anim>
                                    <p:animEffect transition="in" filter="fade">
                                      <p:cBhvr>
                                        <p:cTn id="174" dur="500"/>
                                        <p:tgtEl>
                                          <p:spTgt spid="41"/>
                                        </p:tgtEl>
                                      </p:cBhvr>
                                    </p:animEffect>
                                  </p:childTnLst>
                                </p:cTn>
                              </p:par>
                              <p:par>
                                <p:cTn id="175" presetID="42" presetClass="entr" presetSubtype="0" fill="hold" grpId="0" nodeType="withEffect">
                                  <p:stCondLst>
                                    <p:cond delay="440"/>
                                  </p:stCondLst>
                                  <p:childTnLst>
                                    <p:set>
                                      <p:cBhvr>
                                        <p:cTn id="176" dur="1" fill="hold">
                                          <p:stCondLst>
                                            <p:cond delay="0"/>
                                          </p:stCondLst>
                                        </p:cTn>
                                        <p:tgtEl>
                                          <p:spTgt spid="42"/>
                                        </p:tgtEl>
                                        <p:attrNameLst>
                                          <p:attrName>style.visibility</p:attrName>
                                        </p:attrNameLst>
                                      </p:cBhvr>
                                      <p:to>
                                        <p:strVal val="visible"/>
                                      </p:to>
                                    </p:set>
                                    <p:anim calcmode="lin" valueType="num">
                                      <p:cBhvr additive="base">
                                        <p:cTn id="177" dur="500" fill="hold"/>
                                        <p:tgtEl>
                                          <p:spTgt spid="42"/>
                                        </p:tgtEl>
                                        <p:attrNameLst>
                                          <p:attrName>ppt_x</p:attrName>
                                        </p:attrNameLst>
                                      </p:cBhvr>
                                      <p:tavLst>
                                        <p:tav tm="0">
                                          <p:val>
                                            <p:strVal val="#ppt_x"/>
                                          </p:val>
                                        </p:tav>
                                        <p:tav tm="100000">
                                          <p:val>
                                            <p:strVal val="#ppt_x"/>
                                          </p:val>
                                        </p:tav>
                                      </p:tavLst>
                                    </p:anim>
                                    <p:anim calcmode="lin" valueType="num">
                                      <p:cBhvr additive="base">
                                        <p:cTn id="178" dur="500" fill="hold"/>
                                        <p:tgtEl>
                                          <p:spTgt spid="42"/>
                                        </p:tgtEl>
                                        <p:attrNameLst>
                                          <p:attrName>ppt_y</p:attrName>
                                        </p:attrNameLst>
                                      </p:cBhvr>
                                      <p:tavLst>
                                        <p:tav tm="0">
                                          <p:val>
                                            <p:strVal val="#ppt_y+.04"/>
                                          </p:val>
                                        </p:tav>
                                        <p:tav tm="100000">
                                          <p:val>
                                            <p:strVal val="#ppt_y"/>
                                          </p:val>
                                        </p:tav>
                                      </p:tavLst>
                                    </p:anim>
                                    <p:animEffect transition="in" filter="fade">
                                      <p:cBhvr>
                                        <p:cTn id="179" dur="500"/>
                                        <p:tgtEl>
                                          <p:spTgt spid="42"/>
                                        </p:tgtEl>
                                      </p:cBhvr>
                                    </p:animEffect>
                                  </p:childTnLst>
                                </p:cTn>
                              </p:par>
                              <p:par>
                                <p:cTn id="180" presetID="42" presetClass="entr" presetSubtype="0" fill="hold" grpId="0" nodeType="withEffect">
                                  <p:stCondLst>
                                    <p:cond delay="440"/>
                                  </p:stCondLst>
                                  <p:childTnLst>
                                    <p:set>
                                      <p:cBhvr>
                                        <p:cTn id="181" dur="1" fill="hold">
                                          <p:stCondLst>
                                            <p:cond delay="0"/>
                                          </p:stCondLst>
                                        </p:cTn>
                                        <p:tgtEl>
                                          <p:spTgt spid="43"/>
                                        </p:tgtEl>
                                        <p:attrNameLst>
                                          <p:attrName>style.visibility</p:attrName>
                                        </p:attrNameLst>
                                      </p:cBhvr>
                                      <p:to>
                                        <p:strVal val="visible"/>
                                      </p:to>
                                    </p:set>
                                    <p:anim calcmode="lin" valueType="num">
                                      <p:cBhvr additive="base">
                                        <p:cTn id="182" dur="500" fill="hold"/>
                                        <p:tgtEl>
                                          <p:spTgt spid="43"/>
                                        </p:tgtEl>
                                        <p:attrNameLst>
                                          <p:attrName>ppt_x</p:attrName>
                                        </p:attrNameLst>
                                      </p:cBhvr>
                                      <p:tavLst>
                                        <p:tav tm="0">
                                          <p:val>
                                            <p:strVal val="#ppt_x"/>
                                          </p:val>
                                        </p:tav>
                                        <p:tav tm="100000">
                                          <p:val>
                                            <p:strVal val="#ppt_x"/>
                                          </p:val>
                                        </p:tav>
                                      </p:tavLst>
                                    </p:anim>
                                    <p:anim calcmode="lin" valueType="num">
                                      <p:cBhvr additive="base">
                                        <p:cTn id="183" dur="500" fill="hold"/>
                                        <p:tgtEl>
                                          <p:spTgt spid="43"/>
                                        </p:tgtEl>
                                        <p:attrNameLst>
                                          <p:attrName>ppt_y</p:attrName>
                                        </p:attrNameLst>
                                      </p:cBhvr>
                                      <p:tavLst>
                                        <p:tav tm="0">
                                          <p:val>
                                            <p:strVal val="#ppt_y+.04"/>
                                          </p:val>
                                        </p:tav>
                                        <p:tav tm="100000">
                                          <p:val>
                                            <p:strVal val="#ppt_y"/>
                                          </p:val>
                                        </p:tav>
                                      </p:tavLst>
                                    </p:anim>
                                    <p:animEffect transition="in" filter="fade">
                                      <p:cBhvr>
                                        <p:cTn id="18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3000"/>
              </a:lnSpc>
              <a:buNone/>
            </a:pPr>
            <a:r>
              <a:rPr lang="en-US" sz="1200" b="1" spc="200" kern="0" dirty="0">
                <a:solidFill>
                  <a:schemeClr val="accent2"/>
                </a:solidFill>
              </a:rPr>
              <a:t>12</a:t>
            </a:r>
            <a:pPr indent="0" marL="0">
              <a:lnSpc>
                <a:spcPct val="113000"/>
              </a:lnSpc>
              <a:buNone/>
            </a:pPr>
            <a:r>
              <a:rPr lang="en-US" sz="1200" b="1" spc="200" kern="0" dirty="0">
                <a:solidFill>
                  <a:schemeClr val="accent5"/>
                </a:solidFill>
              </a:rPr>
              <a:t>   종합 평가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6000"/>
              </a:lnSpc>
              <a:buNone/>
            </a:pPr>
            <a:r>
              <a:rPr lang="en-US" sz="3000" b="1" spc="-60" kern="0" dirty="0">
                <a:solidFill>
                  <a:schemeClr val="accent3"/>
                </a:solidFill>
              </a:rPr>
              <a:t>종합 평가 및 향후 계획</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3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3000"/>
              </a:lnSpc>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3000"/>
              </a:lnSpc>
              <a:buNone/>
            </a:pPr>
            <a:r>
              <a:rPr lang="en-US" sz="1000" dirty="0">
                <a:solidFill>
                  <a:schemeClr val="accent5"/>
                </a:solidFill>
              </a:rPr>
              <a:t>12 / 13</a:t>
            </a:r>
            <a:endParaRPr lang="en-US" sz="1000" dirty="0"/>
          </a:p>
        </p:txBody>
      </p:sp>
      <p:sp>
        <p:nvSpPr>
          <p:cNvPr id="8" name="glass-white"/>
          <p:cNvSpPr/>
          <p:nvPr/>
        </p:nvSpPr>
        <p:spPr>
          <a:xfrm>
            <a:off x="594360" y="1600200"/>
            <a:ext cx="5760720" cy="4617720"/>
          </a:xfrm>
          <a:prstGeom prst="roundRect">
            <a:avLst>
              <a:gd name="adj" fmla="val 316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x"/>
          <p:cNvSpPr txBox="1"/>
          <p:nvPr/>
        </p:nvSpPr>
        <p:spPr>
          <a:xfrm>
            <a:off x="1444752" y="1801368"/>
            <a:ext cx="4709160"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활동 종합 평가</a:t>
            </a:r>
            <a:endParaRPr lang="en-US" sz="1700" dirty="0"/>
          </a:p>
        </p:txBody>
      </p:sp>
      <p:sp>
        <p:nvSpPr>
          <p:cNvPr id="12" name="bullets"/>
          <p:cNvSpPr txBox="1"/>
          <p:nvPr/>
        </p:nvSpPr>
        <p:spPr>
          <a:xfrm>
            <a:off x="914400" y="2423160"/>
            <a:ext cx="5166360" cy="3703320"/>
          </a:xfrm>
          <a:prstGeom prst="rect">
            <a:avLst/>
          </a:prstGeom>
          <a:noFill/>
          <a:ln/>
        </p:spPr>
        <p:txBody>
          <a:bodyPr wrap="square" lIns="0" tIns="0" rIns="0" bIns="0" rtlCol="0" anchor="t"/>
          <a:lstStyle/>
          <a:p>
            <a:pPr marL="203200" indent="-203200">
              <a:lnSpc>
                <a:spcPct val="113000"/>
              </a:lnSpc>
              <a:spcAft>
                <a:spcPts val="900"/>
              </a:spcAft>
              <a:buSzPct val="100000"/>
              <a:buChar char="•"/>
            </a:pPr>
            <a:r>
              <a:rPr lang="en-US" sz="1500" dirty="0">
                <a:solidFill>
                  <a:schemeClr val="tx1"/>
                </a:solidFill>
              </a:rPr>
              <a:t>입주민·요양보호사를 통해 대면민원 불편세대의 의견 전달 어려움을 확인하고 기존 민원창구의 사각지대를 구체적으로 도출함</a:t>
            </a:r>
            <a:endParaRPr lang="en-US" sz="1500" dirty="0"/>
          </a:p>
          <a:p>
            <a:pPr marL="203200" indent="-203200">
              <a:lnSpc>
                <a:spcPct val="113000"/>
              </a:lnSpc>
              <a:spcAft>
                <a:spcPts val="900"/>
              </a:spcAft>
              <a:buSzPct val="100000"/>
              <a:buChar char="•"/>
            </a:pPr>
            <a:r>
              <a:rPr lang="en-US" sz="1500" dirty="0">
                <a:solidFill>
                  <a:schemeClr val="tx1"/>
                </a:solidFill>
              </a:rPr>
              <a:t>문제 원인에 맞춰 대면을 요구하지 않는 쪽지 방식 민원창구를 마련함</a:t>
            </a:r>
            <a:endParaRPr lang="en-US" sz="1500" dirty="0"/>
          </a:p>
          <a:p>
            <a:pPr marL="203200" indent="-203200">
              <a:lnSpc>
                <a:spcPct val="113000"/>
              </a:lnSpc>
              <a:spcAft>
                <a:spcPts val="900"/>
              </a:spcAft>
              <a:buSzPct val="100000"/>
              <a:buChar char="•"/>
            </a:pPr>
            <a:r>
              <a:rPr lang="en-US" sz="1500" dirty="0">
                <a:solidFill>
                  <a:schemeClr val="tx1"/>
                </a:solidFill>
              </a:rPr>
              <a:t>별도 예산 없이 관리소 소모품으로 신속·경제적으로 개선함</a:t>
            </a:r>
            <a:endParaRPr lang="en-US" sz="1500" dirty="0"/>
          </a:p>
          <a:p>
            <a:pPr marL="203200" indent="-203200">
              <a:lnSpc>
                <a:spcPct val="113000"/>
              </a:lnSpc>
              <a:spcAft>
                <a:spcPts val="900"/>
              </a:spcAft>
              <a:buSzPct val="100000"/>
              <a:buChar char="•"/>
            </a:pPr>
            <a:r>
              <a:rPr lang="en-US" sz="1500" dirty="0">
                <a:solidFill>
                  <a:schemeClr val="tx1"/>
                </a:solidFill>
              </a:rPr>
              <a:t>약 30명이 실제 이용하고 대면 대신 쪽지를 쓰는 사례가 나타나 새로운 소통창구로 정착 중</a:t>
            </a:r>
            <a:endParaRPr lang="en-US" sz="1500" dirty="0"/>
          </a:p>
          <a:p>
            <a:pPr marL="203200" indent="-203200">
              <a:lnSpc>
                <a:spcPct val="113000"/>
              </a:lnSpc>
              <a:spcAft>
                <a:spcPts val="900"/>
              </a:spcAft>
              <a:buSzPct val="100000"/>
              <a:buChar char="•"/>
            </a:pPr>
            <a:r>
              <a:rPr lang="en-US" sz="1500" dirty="0">
                <a:solidFill>
                  <a:schemeClr val="tx1"/>
                </a:solidFill>
              </a:rPr>
              <a:t>주민의 긍정적 반응으로 민원 접근성 개선과 관리사무소에 대한 긍정적 인식 제고에 도움이 됨</a:t>
            </a:r>
            <a:endParaRPr lang="en-US" sz="1500" dirty="0"/>
          </a:p>
        </p:txBody>
      </p:sp>
      <p:sp>
        <p:nvSpPr>
          <p:cNvPr id="13" name="glass-blue"/>
          <p:cNvSpPr/>
          <p:nvPr/>
        </p:nvSpPr>
        <p:spPr>
          <a:xfrm>
            <a:off x="6629400" y="1600200"/>
            <a:ext cx="4967935" cy="2377440"/>
          </a:xfrm>
          <a:prstGeom prst="roundRect">
            <a:avLst>
              <a:gd name="adj" fmla="val 6154"/>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6885432" y="1783080"/>
            <a:ext cx="457200" cy="457200"/>
          </a:xfrm>
          <a:prstGeom prst="ellipse">
            <a:avLst/>
          </a:prstGeom>
          <a:solidFill>
            <a:srgbClr val="FFFFFF">
              <a:alpha val="75000"/>
            </a:srgbClr>
          </a:solidFill>
          <a:ln w="12700">
            <a:solidFill>
              <a:srgbClr val="0F64AF">
                <a:alpha val="45000"/>
              </a:srgbClr>
            </a:solidFill>
            <a:prstDash val="solid"/>
          </a:ln>
        </p:spPr>
      </p:sp>
      <p:pic>
        <p:nvPicPr>
          <p:cNvPr id="15" name="x" descr="icon">    </p:cNvPr>
          <p:cNvPicPr>
            <a:picLocks noChangeAspect="1"/>
          </p:cNvPicPr>
          <p:nvPr/>
        </p:nvPicPr>
        <p:blipFill>
          <a:blip r:embed="rId3"/>
          <a:stretch>
            <a:fillRect/>
          </a:stretch>
        </p:blipFill>
        <p:spPr>
          <a:xfrm>
            <a:off x="7013448" y="1911096"/>
            <a:ext cx="201168" cy="201168"/>
          </a:xfrm>
          <a:prstGeom prst="rect">
            <a:avLst/>
          </a:prstGeom>
        </p:spPr>
      </p:pic>
      <p:sp>
        <p:nvSpPr>
          <p:cNvPr id="16" name="x"/>
          <p:cNvSpPr txBox="1"/>
          <p:nvPr/>
        </p:nvSpPr>
        <p:spPr>
          <a:xfrm>
            <a:off x="7479792" y="1783080"/>
            <a:ext cx="3916375"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미흡한 점 및 보완사항</a:t>
            </a:r>
            <a:endParaRPr lang="en-US" sz="1700" dirty="0"/>
          </a:p>
        </p:txBody>
      </p:sp>
      <p:sp>
        <p:nvSpPr>
          <p:cNvPr id="17" name="bullets"/>
          <p:cNvSpPr txBox="1"/>
          <p:nvPr/>
        </p:nvSpPr>
        <p:spPr>
          <a:xfrm>
            <a:off x="6949440" y="2350008"/>
            <a:ext cx="4419295" cy="1600200"/>
          </a:xfrm>
          <a:prstGeom prst="rect">
            <a:avLst/>
          </a:prstGeom>
          <a:noFill/>
          <a:ln/>
        </p:spPr>
        <p:txBody>
          <a:bodyPr wrap="square" lIns="0" tIns="0" rIns="0" bIns="0" rtlCol="0" anchor="t"/>
          <a:lstStyle/>
          <a:p>
            <a:pPr marL="203200" indent="-203200">
              <a:lnSpc>
                <a:spcPct val="113000"/>
              </a:lnSpc>
              <a:spcAft>
                <a:spcPts val="300"/>
              </a:spcAft>
              <a:buSzPct val="100000"/>
              <a:buChar char="•"/>
            </a:pPr>
            <a:r>
              <a:rPr lang="en-US" sz="1400" dirty="0">
                <a:solidFill>
                  <a:schemeClr val="tx1"/>
                </a:solidFill>
              </a:rPr>
              <a:t>관리사무소 외부 1개소만 설치되어 거동이 불편한 입주민은 이용에 제약이 있을 수 있음</a:t>
            </a:r>
            <a:endParaRPr lang="en-US" sz="1400" dirty="0"/>
          </a:p>
          <a:p>
            <a:pPr marL="203200" indent="-203200">
              <a:lnSpc>
                <a:spcPct val="113000"/>
              </a:lnSpc>
              <a:spcAft>
                <a:spcPts val="300"/>
              </a:spcAft>
              <a:buSzPct val="100000"/>
              <a:buChar char="•"/>
            </a:pPr>
            <a:r>
              <a:rPr lang="en-US" sz="1400" dirty="0">
                <a:solidFill>
                  <a:schemeClr val="tx1"/>
                </a:solidFill>
              </a:rPr>
              <a:t>각 동 또는 주민 이동이 많은 지점 설치 검토</a:t>
            </a:r>
            <a:endParaRPr lang="en-US" sz="1400" dirty="0"/>
          </a:p>
          <a:p>
            <a:pPr marL="203200" indent="-203200">
              <a:lnSpc>
                <a:spcPct val="113000"/>
              </a:lnSpc>
              <a:spcAft>
                <a:spcPts val="300"/>
              </a:spcAft>
              <a:buSzPct val="100000"/>
              <a:buChar char="•"/>
            </a:pPr>
            <a:r>
              <a:rPr lang="en-US" sz="1400" dirty="0">
                <a:solidFill>
                  <a:schemeClr val="tx1"/>
                </a:solidFill>
              </a:rPr>
              <a:t>타 단지 확대 시 쪽지함 규격·디자인 표준화로 운영·홍보 용이</a:t>
            </a:r>
            <a:endParaRPr lang="en-US" sz="1400" dirty="0"/>
          </a:p>
        </p:txBody>
      </p:sp>
      <p:sp>
        <p:nvSpPr>
          <p:cNvPr id="18" name="glass-green"/>
          <p:cNvSpPr/>
          <p:nvPr/>
        </p:nvSpPr>
        <p:spPr>
          <a:xfrm>
            <a:off x="6629400" y="4206240"/>
            <a:ext cx="4967935" cy="2011680"/>
          </a:xfrm>
          <a:prstGeom prst="roundRect">
            <a:avLst>
              <a:gd name="adj" fmla="val 7273"/>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9" name="iconChip"/>
          <p:cNvSpPr/>
          <p:nvPr/>
        </p:nvSpPr>
        <p:spPr>
          <a:xfrm>
            <a:off x="6885432" y="4389120"/>
            <a:ext cx="457200" cy="457200"/>
          </a:xfrm>
          <a:prstGeom prst="ellipse">
            <a:avLst/>
          </a:prstGeom>
          <a:solidFill>
            <a:srgbClr val="FFFFFF">
              <a:alpha val="75000"/>
            </a:srgbClr>
          </a:solidFill>
          <a:ln w="12700">
            <a:solidFill>
              <a:srgbClr val="2E8A22">
                <a:alpha val="45000"/>
              </a:srgbClr>
            </a:solidFill>
            <a:prstDash val="solid"/>
          </a:ln>
        </p:spPr>
      </p:sp>
      <p:pic>
        <p:nvPicPr>
          <p:cNvPr id="20" name="x" descr="icon">    </p:cNvPr>
          <p:cNvPicPr>
            <a:picLocks noChangeAspect="1"/>
          </p:cNvPicPr>
          <p:nvPr/>
        </p:nvPicPr>
        <p:blipFill>
          <a:blip r:embed="rId4"/>
          <a:stretch>
            <a:fillRect/>
          </a:stretch>
        </p:blipFill>
        <p:spPr>
          <a:xfrm>
            <a:off x="7013448" y="4517136"/>
            <a:ext cx="201168" cy="201168"/>
          </a:xfrm>
          <a:prstGeom prst="rect">
            <a:avLst/>
          </a:prstGeom>
        </p:spPr>
      </p:pic>
      <p:sp>
        <p:nvSpPr>
          <p:cNvPr id="21" name="x"/>
          <p:cNvSpPr txBox="1"/>
          <p:nvPr/>
        </p:nvSpPr>
        <p:spPr>
          <a:xfrm>
            <a:off x="7479792" y="4389120"/>
            <a:ext cx="3916375" cy="457200"/>
          </a:xfrm>
          <a:prstGeom prst="rect">
            <a:avLst/>
          </a:prstGeom>
          <a:noFill/>
          <a:ln/>
        </p:spPr>
        <p:txBody>
          <a:bodyPr wrap="square" lIns="0" tIns="0" rIns="0" bIns="0" rtlCol="0" anchor="ctr"/>
          <a:lstStyle/>
          <a:p>
            <a:pPr indent="0" marL="0">
              <a:lnSpc>
                <a:spcPct val="113000"/>
              </a:lnSpc>
              <a:buNone/>
            </a:pPr>
            <a:r>
              <a:rPr lang="en-US" sz="1700" b="1" spc="-20" kern="0" dirty="0">
                <a:solidFill>
                  <a:schemeClr val="accent3"/>
                </a:solidFill>
              </a:rPr>
              <a:t>향후 계획</a:t>
            </a:r>
            <a:endParaRPr lang="en-US" sz="1700" dirty="0"/>
          </a:p>
        </p:txBody>
      </p:sp>
      <p:sp>
        <p:nvSpPr>
          <p:cNvPr id="22" name="bullets"/>
          <p:cNvSpPr txBox="1"/>
          <p:nvPr/>
        </p:nvSpPr>
        <p:spPr>
          <a:xfrm>
            <a:off x="6949440" y="4956048"/>
            <a:ext cx="4419295" cy="1234440"/>
          </a:xfrm>
          <a:prstGeom prst="rect">
            <a:avLst/>
          </a:prstGeom>
          <a:noFill/>
          <a:ln/>
        </p:spPr>
        <p:txBody>
          <a:bodyPr wrap="square" lIns="0" tIns="0" rIns="0" bIns="0" rtlCol="0" anchor="t"/>
          <a:lstStyle/>
          <a:p>
            <a:pPr marL="203200" indent="-203200">
              <a:lnSpc>
                <a:spcPct val="113000"/>
              </a:lnSpc>
              <a:spcAft>
                <a:spcPts val="300"/>
              </a:spcAft>
              <a:buSzPct val="100000"/>
              <a:buChar char="•"/>
            </a:pPr>
            <a:r>
              <a:rPr lang="en-US" sz="1400" dirty="0">
                <a:solidFill>
                  <a:schemeClr val="tx1"/>
                </a:solidFill>
              </a:rPr>
              <a:t>쪽지함 이용 현황과 주민 의견을 지속 확인</a:t>
            </a:r>
            <a:endParaRPr lang="en-US" sz="1400" dirty="0"/>
          </a:p>
          <a:p>
            <a:pPr marL="203200" indent="-203200">
              <a:lnSpc>
                <a:spcPct val="113000"/>
              </a:lnSpc>
              <a:spcAft>
                <a:spcPts val="300"/>
              </a:spcAft>
              <a:buSzPct val="100000"/>
              <a:buChar char="•"/>
            </a:pPr>
            <a:r>
              <a:rPr lang="en-US" sz="1400" dirty="0">
                <a:solidFill>
                  <a:schemeClr val="tx1"/>
                </a:solidFill>
              </a:rPr>
              <a:t>필요 시 설치 장소를 확대하여 비대면 민원창구의 접근성 제고</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x"/>
          <p:cNvSpPr txBox="1"/>
          <p:nvPr/>
        </p:nvSpPr>
        <p:spPr>
          <a:xfrm>
            <a:off x="914400" y="640080"/>
            <a:ext cx="3657600" cy="365760"/>
          </a:xfrm>
          <a:prstGeom prst="rect">
            <a:avLst/>
          </a:prstGeom>
          <a:noFill/>
          <a:ln/>
        </p:spPr>
        <p:txBody>
          <a:bodyPr wrap="square" lIns="0" tIns="0" rIns="0" bIns="0" rtlCol="0" anchor="ctr"/>
          <a:lstStyle/>
          <a:p>
            <a:pPr indent="0" marL="0">
              <a:lnSpc>
                <a:spcPct val="113000"/>
              </a:lnSpc>
              <a:buNone/>
            </a:pPr>
            <a:r>
              <a:rPr lang="en-US" sz="1400" b="1" spc="300" kern="0" dirty="0">
                <a:solidFill>
                  <a:srgbClr val="C9F0C2"/>
                </a:solidFill>
              </a:rPr>
              <a:t>맺음말</a:t>
            </a:r>
            <a:endParaRPr lang="en-US" sz="1400" dirty="0"/>
          </a:p>
        </p:txBody>
      </p:sp>
      <p:sp>
        <p:nvSpPr>
          <p:cNvPr id="3" name="title"/>
          <p:cNvSpPr txBox="1"/>
          <p:nvPr/>
        </p:nvSpPr>
        <p:spPr>
          <a:xfrm>
            <a:off x="914400" y="1097280"/>
            <a:ext cx="10058400" cy="1463040"/>
          </a:xfrm>
          <a:prstGeom prst="rect">
            <a:avLst/>
          </a:prstGeom>
          <a:noFill/>
          <a:ln/>
        </p:spPr>
        <p:txBody>
          <a:bodyPr wrap="square" lIns="0" tIns="0" rIns="0" bIns="0" rtlCol="0" anchor="ctr"/>
          <a:lstStyle/>
          <a:p>
            <a:pPr indent="0" marL="0">
              <a:lnSpc>
                <a:spcPct val="106000"/>
              </a:lnSpc>
              <a:buNone/>
            </a:pPr>
            <a:r>
              <a:rPr lang="en-US" sz="3600" b="1" spc="-60" kern="0" dirty="0">
                <a:solidFill>
                  <a:schemeClr val="bg1"/>
                </a:solidFill>
              </a:rPr>
              <a:t>주민의 작은 목소리가</a:t>
            </a:r>
            <a:endParaRPr lang="en-US" sz="3600" dirty="0"/>
          </a:p>
          <a:p>
            <a:pPr indent="0" marL="0">
              <a:lnSpc>
                <a:spcPct val="106000"/>
              </a:lnSpc>
              <a:buNone/>
            </a:pPr>
            <a:r>
              <a:rPr lang="en-US" sz="3600" b="1" spc="-60" kern="0" dirty="0">
                <a:solidFill>
                  <a:schemeClr val="bg1"/>
                </a:solidFill>
              </a:rPr>
              <a:t>단지의 새로운 소통창구가 되었습니다</a:t>
            </a:r>
            <a:endParaRPr lang="en-US" sz="3600" dirty="0"/>
          </a:p>
        </p:txBody>
      </p:sp>
      <p:sp>
        <p:nvSpPr>
          <p:cNvPr id="4" name="glass-dark"/>
          <p:cNvSpPr/>
          <p:nvPr/>
        </p:nvSpPr>
        <p:spPr>
          <a:xfrm>
            <a:off x="914400" y="2834640"/>
            <a:ext cx="3383280" cy="2514600"/>
          </a:xfrm>
          <a:prstGeom prst="roundRect">
            <a:avLst>
              <a:gd name="adj" fmla="val 6545"/>
            </a:avLst>
          </a:prstGeom>
          <a:solidFill>
            <a:srgbClr val="FFFFFF">
              <a:alpha val="14000"/>
            </a:srgbClr>
          </a:solidFill>
          <a:ln w="15875">
            <a:solidFill>
              <a:srgbClr val="FFFFFF">
                <a:alpha val="45000"/>
              </a:srgbClr>
            </a:solidFill>
            <a:prstDash val="solid"/>
          </a:ln>
        </p:spPr>
      </p:sp>
      <p:sp>
        <p:nvSpPr>
          <p:cNvPr id="5" name="iconChip"/>
          <p:cNvSpPr/>
          <p:nvPr/>
        </p:nvSpPr>
        <p:spPr>
          <a:xfrm>
            <a:off x="1188720" y="3108960"/>
            <a:ext cx="594360" cy="594360"/>
          </a:xfrm>
          <a:prstGeom prst="ellipse">
            <a:avLst/>
          </a:prstGeom>
          <a:solidFill>
            <a:srgbClr val="FFFFFF">
              <a:alpha val="20000"/>
            </a:srgbClr>
          </a:solidFill>
          <a:ln w="12700">
            <a:solidFill>
              <a:srgbClr val="FFFFFF">
                <a:alpha val="60000"/>
              </a:srgbClr>
            </a:solidFill>
            <a:prstDash val="solid"/>
          </a:ln>
        </p:spPr>
      </p:sp>
      <p:pic>
        <p:nvPicPr>
          <p:cNvPr id="6" name="x" descr="icon">    </p:cNvPr>
          <p:cNvPicPr>
            <a:picLocks noChangeAspect="1"/>
          </p:cNvPicPr>
          <p:nvPr/>
        </p:nvPicPr>
        <p:blipFill>
          <a:blip r:embed="rId2"/>
          <a:stretch>
            <a:fillRect/>
          </a:stretch>
        </p:blipFill>
        <p:spPr>
          <a:xfrm>
            <a:off x="1355141" y="3275381"/>
            <a:ext cx="261518" cy="261518"/>
          </a:xfrm>
          <a:prstGeom prst="rect">
            <a:avLst/>
          </a:prstGeom>
        </p:spPr>
      </p:pic>
      <p:sp>
        <p:nvSpPr>
          <p:cNvPr id="7" name="x"/>
          <p:cNvSpPr txBox="1"/>
          <p:nvPr/>
        </p:nvSpPr>
        <p:spPr>
          <a:xfrm>
            <a:off x="1188720" y="3840480"/>
            <a:ext cx="2834640" cy="1417320"/>
          </a:xfrm>
          <a:prstGeom prst="rect">
            <a:avLst/>
          </a:prstGeom>
          <a:noFill/>
          <a:ln/>
        </p:spPr>
        <p:txBody>
          <a:bodyPr wrap="square" lIns="0" tIns="0" rIns="0" bIns="0" rtlCol="0" anchor="t"/>
          <a:lstStyle/>
          <a:p>
            <a:pPr indent="0" marL="0">
              <a:lnSpc>
                <a:spcPct val="113000"/>
              </a:lnSpc>
              <a:spcAft>
                <a:spcPts val="400"/>
              </a:spcAft>
              <a:buNone/>
            </a:pPr>
            <a:r>
              <a:rPr lang="en-US" sz="1800" b="1" spc="-20" kern="0" dirty="0">
                <a:solidFill>
                  <a:schemeClr val="bg1"/>
                </a:solidFill>
              </a:rPr>
              <a:t>주민이 발견하고 제안</a:t>
            </a:r>
            <a:endParaRPr lang="en-US" sz="1800" dirty="0"/>
          </a:p>
          <a:p>
            <a:pPr indent="0" marL="0">
              <a:lnSpc>
                <a:spcPct val="113000"/>
              </a:lnSpc>
              <a:spcAft>
                <a:spcPts val="400"/>
              </a:spcAft>
              <a:buNone/>
            </a:pPr>
            <a:r>
              <a:rPr lang="en-US" sz="1400" spc="-20" kern="0" dirty="0">
                <a:solidFill>
                  <a:srgbClr val="E3EEF9"/>
                </a:solidFill>
              </a:rPr>
              <a:t>노인회장·이장·요양보호사가 소외된 민원창구의 사각지대를 알림</a:t>
            </a:r>
            <a:endParaRPr lang="en-US" sz="1800" dirty="0"/>
          </a:p>
        </p:txBody>
      </p:sp>
      <p:sp>
        <p:nvSpPr>
          <p:cNvPr id="8" name="glass-dark"/>
          <p:cNvSpPr/>
          <p:nvPr/>
        </p:nvSpPr>
        <p:spPr>
          <a:xfrm>
            <a:off x="4572000" y="2834640"/>
            <a:ext cx="3383280" cy="2514600"/>
          </a:xfrm>
          <a:prstGeom prst="roundRect">
            <a:avLst>
              <a:gd name="adj" fmla="val 6545"/>
            </a:avLst>
          </a:prstGeom>
          <a:solidFill>
            <a:srgbClr val="FFFFFF">
              <a:alpha val="14000"/>
            </a:srgbClr>
          </a:solidFill>
          <a:ln w="15875">
            <a:solidFill>
              <a:srgbClr val="FFFFFF">
                <a:alpha val="45000"/>
              </a:srgbClr>
            </a:solidFill>
            <a:prstDash val="solid"/>
          </a:ln>
        </p:spPr>
      </p:sp>
      <p:sp>
        <p:nvSpPr>
          <p:cNvPr id="9" name="iconChip"/>
          <p:cNvSpPr/>
          <p:nvPr/>
        </p:nvSpPr>
        <p:spPr>
          <a:xfrm>
            <a:off x="4846320" y="3108960"/>
            <a:ext cx="594360" cy="594360"/>
          </a:xfrm>
          <a:prstGeom prst="ellipse">
            <a:avLst/>
          </a:prstGeom>
          <a:solidFill>
            <a:srgbClr val="FFFFFF">
              <a:alpha val="20000"/>
            </a:srgbClr>
          </a:solidFill>
          <a:ln w="12700">
            <a:solidFill>
              <a:srgbClr val="FFFFFF">
                <a:alpha val="60000"/>
              </a:srgbClr>
            </a:solidFill>
            <a:prstDash val="solid"/>
          </a:ln>
        </p:spPr>
      </p:sp>
      <p:pic>
        <p:nvPicPr>
          <p:cNvPr id="10" name="x" descr="icon">    </p:cNvPr>
          <p:cNvPicPr>
            <a:picLocks noChangeAspect="1"/>
          </p:cNvPicPr>
          <p:nvPr/>
        </p:nvPicPr>
        <p:blipFill>
          <a:blip r:embed="rId3"/>
          <a:stretch>
            <a:fillRect/>
          </a:stretch>
        </p:blipFill>
        <p:spPr>
          <a:xfrm>
            <a:off x="5012741" y="3275381"/>
            <a:ext cx="261518" cy="261518"/>
          </a:xfrm>
          <a:prstGeom prst="rect">
            <a:avLst/>
          </a:prstGeom>
        </p:spPr>
      </p:pic>
      <p:sp>
        <p:nvSpPr>
          <p:cNvPr id="11" name="x"/>
          <p:cNvSpPr txBox="1"/>
          <p:nvPr/>
        </p:nvSpPr>
        <p:spPr>
          <a:xfrm>
            <a:off x="4846320" y="3840480"/>
            <a:ext cx="2834640" cy="1417320"/>
          </a:xfrm>
          <a:prstGeom prst="rect">
            <a:avLst/>
          </a:prstGeom>
          <a:noFill/>
          <a:ln/>
        </p:spPr>
        <p:txBody>
          <a:bodyPr wrap="square" lIns="0" tIns="0" rIns="0" bIns="0" rtlCol="0" anchor="t"/>
          <a:lstStyle/>
          <a:p>
            <a:pPr indent="0" marL="0">
              <a:lnSpc>
                <a:spcPct val="113000"/>
              </a:lnSpc>
              <a:spcAft>
                <a:spcPts val="400"/>
              </a:spcAft>
              <a:buNone/>
            </a:pPr>
            <a:r>
              <a:rPr lang="en-US" sz="1800" b="1" spc="-20" kern="0" dirty="0">
                <a:solidFill>
                  <a:schemeClr val="bg1"/>
                </a:solidFill>
              </a:rPr>
              <a:t>함께 만들고 운영</a:t>
            </a:r>
            <a:endParaRPr lang="en-US" sz="1800" dirty="0"/>
          </a:p>
          <a:p>
            <a:pPr indent="0" marL="0">
              <a:lnSpc>
                <a:spcPct val="113000"/>
              </a:lnSpc>
              <a:spcAft>
                <a:spcPts val="400"/>
              </a:spcAft>
              <a:buNone/>
            </a:pPr>
            <a:r>
              <a:rPr lang="en-US" sz="1400" spc="-20" kern="0" dirty="0">
                <a:solidFill>
                  <a:srgbClr val="E3EEF9"/>
                </a:solidFill>
              </a:rPr>
              <a:t>입주민 3명과 직원 4명이 비용 0원으로 쪽지함을 제작·설치하고 매일 확인</a:t>
            </a:r>
            <a:endParaRPr lang="en-US" sz="1800" dirty="0"/>
          </a:p>
        </p:txBody>
      </p:sp>
      <p:sp>
        <p:nvSpPr>
          <p:cNvPr id="12" name="glass-dark"/>
          <p:cNvSpPr/>
          <p:nvPr/>
        </p:nvSpPr>
        <p:spPr>
          <a:xfrm>
            <a:off x="8229600" y="2834640"/>
            <a:ext cx="3383280" cy="2514600"/>
          </a:xfrm>
          <a:prstGeom prst="roundRect">
            <a:avLst>
              <a:gd name="adj" fmla="val 6545"/>
            </a:avLst>
          </a:prstGeom>
          <a:solidFill>
            <a:srgbClr val="FFFFFF">
              <a:alpha val="14000"/>
            </a:srgbClr>
          </a:solidFill>
          <a:ln w="15875">
            <a:solidFill>
              <a:srgbClr val="FFFFFF">
                <a:alpha val="45000"/>
              </a:srgbClr>
            </a:solidFill>
            <a:prstDash val="solid"/>
          </a:ln>
        </p:spPr>
      </p:sp>
      <p:sp>
        <p:nvSpPr>
          <p:cNvPr id="13" name="iconChip"/>
          <p:cNvSpPr/>
          <p:nvPr/>
        </p:nvSpPr>
        <p:spPr>
          <a:xfrm>
            <a:off x="8503920" y="3108960"/>
            <a:ext cx="594360" cy="594360"/>
          </a:xfrm>
          <a:prstGeom prst="ellipse">
            <a:avLst/>
          </a:prstGeom>
          <a:solidFill>
            <a:srgbClr val="FFFFFF">
              <a:alpha val="20000"/>
            </a:srgbClr>
          </a:solidFill>
          <a:ln w="12700">
            <a:solidFill>
              <a:srgbClr val="FFFFFF">
                <a:alpha val="60000"/>
              </a:srgbClr>
            </a:solidFill>
            <a:prstDash val="solid"/>
          </a:ln>
        </p:spPr>
      </p:sp>
      <p:pic>
        <p:nvPicPr>
          <p:cNvPr id="14" name="x" descr="icon">    </p:cNvPr>
          <p:cNvPicPr>
            <a:picLocks noChangeAspect="1"/>
          </p:cNvPicPr>
          <p:nvPr/>
        </p:nvPicPr>
        <p:blipFill>
          <a:blip r:embed="rId4"/>
          <a:stretch>
            <a:fillRect/>
          </a:stretch>
        </p:blipFill>
        <p:spPr>
          <a:xfrm>
            <a:off x="8670341" y="3275381"/>
            <a:ext cx="261518" cy="261518"/>
          </a:xfrm>
          <a:prstGeom prst="rect">
            <a:avLst/>
          </a:prstGeom>
        </p:spPr>
      </p:pic>
      <p:sp>
        <p:nvSpPr>
          <p:cNvPr id="15" name="x"/>
          <p:cNvSpPr txBox="1"/>
          <p:nvPr/>
        </p:nvSpPr>
        <p:spPr>
          <a:xfrm>
            <a:off x="8503920" y="3840480"/>
            <a:ext cx="2834640" cy="1417320"/>
          </a:xfrm>
          <a:prstGeom prst="rect">
            <a:avLst/>
          </a:prstGeom>
          <a:noFill/>
          <a:ln/>
        </p:spPr>
        <p:txBody>
          <a:bodyPr wrap="square" lIns="0" tIns="0" rIns="0" bIns="0" rtlCol="0" anchor="t"/>
          <a:lstStyle/>
          <a:p>
            <a:pPr indent="0" marL="0">
              <a:lnSpc>
                <a:spcPct val="113000"/>
              </a:lnSpc>
              <a:spcAft>
                <a:spcPts val="400"/>
              </a:spcAft>
              <a:buNone/>
            </a:pPr>
            <a:r>
              <a:rPr lang="en-US" sz="1800" b="1" spc="-20" kern="0" dirty="0">
                <a:solidFill>
                  <a:schemeClr val="bg1"/>
                </a:solidFill>
              </a:rPr>
              <a:t>확대 가능한 모델</a:t>
            </a:r>
            <a:endParaRPr lang="en-US" sz="1800" dirty="0"/>
          </a:p>
          <a:p>
            <a:pPr indent="0" marL="0">
              <a:lnSpc>
                <a:spcPct val="113000"/>
              </a:lnSpc>
              <a:spcAft>
                <a:spcPts val="400"/>
              </a:spcAft>
              <a:buNone/>
            </a:pPr>
            <a:r>
              <a:rPr lang="en-US" sz="1400" spc="-20" kern="0" dirty="0">
                <a:solidFill>
                  <a:srgbClr val="E3EEF9"/>
                </a:solidFill>
              </a:rPr>
              <a:t>약 30명 이용, 확대 적용 가능성 ‘매우 높음’ – 설치 장소 확대와 표준화 추진</a:t>
            </a:r>
            <a:endParaRPr lang="en-US" sz="1800" dirty="0"/>
          </a:p>
        </p:txBody>
      </p:sp>
      <p:sp>
        <p:nvSpPr>
          <p:cNvPr id="16" name="x"/>
          <p:cNvSpPr txBox="1"/>
          <p:nvPr/>
        </p:nvSpPr>
        <p:spPr>
          <a:xfrm>
            <a:off x="914400" y="5669280"/>
            <a:ext cx="7315200" cy="548640"/>
          </a:xfrm>
          <a:prstGeom prst="rect">
            <a:avLst/>
          </a:prstGeom>
          <a:noFill/>
          <a:ln/>
        </p:spPr>
        <p:txBody>
          <a:bodyPr wrap="square" lIns="0" tIns="0" rIns="0" bIns="0" rtlCol="0" anchor="ctr"/>
          <a:lstStyle/>
          <a:p>
            <a:pPr indent="0" marL="0">
              <a:lnSpc>
                <a:spcPct val="113000"/>
              </a:lnSpc>
              <a:buNone/>
            </a:pPr>
            <a:r>
              <a:rPr lang="en-US" sz="2400" b="1" spc="-20" kern="0" dirty="0">
                <a:solidFill>
                  <a:schemeClr val="bg1"/>
                </a:solidFill>
              </a:rPr>
              <a:t>경청해 주셔서 감사합니다</a:t>
            </a:r>
            <a:endParaRPr lang="en-US" sz="2400" dirty="0"/>
          </a:p>
        </p:txBody>
      </p:sp>
      <p:sp>
        <p:nvSpPr>
          <p:cNvPr id="17" name="x"/>
          <p:cNvSpPr txBox="1"/>
          <p:nvPr/>
        </p:nvSpPr>
        <p:spPr>
          <a:xfrm>
            <a:off x="7132320" y="5760720"/>
            <a:ext cx="4114800" cy="411480"/>
          </a:xfrm>
          <a:prstGeom prst="rect">
            <a:avLst/>
          </a:prstGeom>
          <a:noFill/>
          <a:ln/>
        </p:spPr>
        <p:txBody>
          <a:bodyPr wrap="square" lIns="0" tIns="0" rIns="0" bIns="0" rtlCol="0" anchor="ctr"/>
          <a:lstStyle/>
          <a:p>
            <a:pPr algn="r" indent="0" marL="0">
              <a:lnSpc>
                <a:spcPct val="113000"/>
              </a:lnSpc>
              <a:buNone/>
            </a:pPr>
            <a:r>
              <a:rPr lang="en-US" sz="1400" dirty="0">
                <a:solidFill>
                  <a:srgbClr val="C9F0C2"/>
                </a:solidFill>
              </a:rPr>
              <a:t>주택관리공단 괴산증평3</a:t>
            </a:r>
            <a:endParaRPr lang="en-US"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ppt_y+.04"/>
                                          </p:val>
                                        </p:tav>
                                        <p:tav tm="100000">
                                          <p:val>
                                            <p:strVal val="#ppt_y"/>
                                          </p:val>
                                        </p:tav>
                                      </p:tavLst>
                                    </p:anim>
                                    <p:animEffect transition="in" filter="fade">
                                      <p:cBhvr>
                                        <p:cTn id="9" dur="500"/>
                                        <p:tgtEl>
                                          <p:spTgt spid="2"/>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ppt_y+.04"/>
                                          </p:val>
                                        </p:tav>
                                        <p:tav tm="100000">
                                          <p:val>
                                            <p:strVal val="#ppt_y"/>
                                          </p:val>
                                        </p:tav>
                                      </p:tavLst>
                                    </p:anim>
                                    <p:animEffect transition="in" filter="fade">
                                      <p:cBhvr>
                                        <p:cTn id="14" dur="500"/>
                                        <p:tgtEl>
                                          <p:spTgt spid="3"/>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ppt_y+.04"/>
                                          </p:val>
                                        </p:tav>
                                        <p:tav tm="100000">
                                          <p:val>
                                            <p:strVal val="#ppt_y"/>
                                          </p:val>
                                        </p:tav>
                                      </p:tavLst>
                                    </p:anim>
                                    <p:animEffect transition="in" filter="fade">
                                      <p:cBhvr>
                                        <p:cTn id="19" dur="500"/>
                                        <p:tgtEl>
                                          <p:spTgt spid="4"/>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ppt_y+.04"/>
                                          </p:val>
                                        </p:tav>
                                        <p:tav tm="100000">
                                          <p:val>
                                            <p:strVal val="#ppt_y"/>
                                          </p:val>
                                        </p:tav>
                                      </p:tavLst>
                                    </p:anim>
                                    <p:animEffect transition="in" filter="fade">
                                      <p:cBhvr>
                                        <p:cTn id="24" dur="500"/>
                                        <p:tgtEl>
                                          <p:spTgt spid="5"/>
                                        </p:tgtEl>
                                      </p:cBhvr>
                                    </p:animEffect>
                                  </p:childTnLst>
                                </p:cTn>
                              </p:par>
                              <p:par>
                                <p:cTn id="25" presetID="42" presetClass="entr" presetSubtype="0" fill="hold" nodeType="withEffect">
                                  <p:stCondLst>
                                    <p:cond delay="22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ppt_y+.04"/>
                                          </p:val>
                                        </p:tav>
                                        <p:tav tm="100000">
                                          <p:val>
                                            <p:strVal val="#ppt_y"/>
                                          </p:val>
                                        </p:tav>
                                      </p:tavLst>
                                    </p:anim>
                                    <p:animEffect transition="in" filter="fade">
                                      <p:cBhvr>
                                        <p:cTn id="29" dur="500"/>
                                        <p:tgtEl>
                                          <p:spTgt spid="6"/>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ppt_y+.04"/>
                                          </p:val>
                                        </p:tav>
                                        <p:tav tm="100000">
                                          <p:val>
                                            <p:strVal val="#ppt_y"/>
                                          </p:val>
                                        </p:tav>
                                      </p:tavLst>
                                    </p:anim>
                                    <p:animEffect transition="in" filter="fade">
                                      <p:cBhvr>
                                        <p:cTn id="34" dur="500"/>
                                        <p:tgtEl>
                                          <p:spTgt spid="7"/>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ppt_y+.04"/>
                                          </p:val>
                                        </p:tav>
                                        <p:tav tm="100000">
                                          <p:val>
                                            <p:strVal val="#ppt_y"/>
                                          </p:val>
                                        </p:tav>
                                      </p:tavLst>
                                    </p:anim>
                                    <p:animEffect transition="in" filter="fade">
                                      <p:cBhvr>
                                        <p:cTn id="39" dur="500"/>
                                        <p:tgtEl>
                                          <p:spTgt spid="8"/>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ppt_y+.04"/>
                                          </p:val>
                                        </p:tav>
                                        <p:tav tm="100000">
                                          <p:val>
                                            <p:strVal val="#ppt_y"/>
                                          </p:val>
                                        </p:tav>
                                      </p:tavLst>
                                    </p:anim>
                                    <p:animEffect transition="in" filter="fade">
                                      <p:cBhvr>
                                        <p:cTn id="44" dur="500"/>
                                        <p:tgtEl>
                                          <p:spTgt spid="9"/>
                                        </p:tgtEl>
                                      </p:cBhvr>
                                    </p:animEffect>
                                  </p:childTnLst>
                                </p:cTn>
                              </p:par>
                              <p:par>
                                <p:cTn id="45" presetID="42" presetClass="entr" presetSubtype="0" fill="hold" nodeType="withEffect">
                                  <p:stCondLst>
                                    <p:cond delay="44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ppt_y+.04"/>
                                          </p:val>
                                        </p:tav>
                                        <p:tav tm="100000">
                                          <p:val>
                                            <p:strVal val="#ppt_y"/>
                                          </p:val>
                                        </p:tav>
                                      </p:tavLst>
                                    </p:anim>
                                    <p:animEffect transition="in" filter="fade">
                                      <p:cBhvr>
                                        <p:cTn id="49" dur="500"/>
                                        <p:tgtEl>
                                          <p:spTgt spid="10"/>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500" fill="hold"/>
                                        <p:tgtEl>
                                          <p:spTgt spid="11"/>
                                        </p:tgtEl>
                                        <p:attrNameLst>
                                          <p:attrName>ppt_x</p:attrName>
                                        </p:attrNameLst>
                                      </p:cBhvr>
                                      <p:tavLst>
                                        <p:tav tm="0">
                                          <p:val>
                                            <p:strVal val="#ppt_x"/>
                                          </p:val>
                                        </p:tav>
                                        <p:tav tm="100000">
                                          <p:val>
                                            <p:strVal val="#ppt_x"/>
                                          </p:val>
                                        </p:tav>
                                      </p:tavLst>
                                    </p:anim>
                                    <p:anim calcmode="lin" valueType="num">
                                      <p:cBhvr additive="base">
                                        <p:cTn id="53" dur="500" fill="hold"/>
                                        <p:tgtEl>
                                          <p:spTgt spid="11"/>
                                        </p:tgtEl>
                                        <p:attrNameLst>
                                          <p:attrName>ppt_y</p:attrName>
                                        </p:attrNameLst>
                                      </p:cBhvr>
                                      <p:tavLst>
                                        <p:tav tm="0">
                                          <p:val>
                                            <p:strVal val="#ppt_y+.04"/>
                                          </p:val>
                                        </p:tav>
                                        <p:tav tm="100000">
                                          <p:val>
                                            <p:strVal val="#ppt_y"/>
                                          </p:val>
                                        </p:tav>
                                      </p:tavLst>
                                    </p:anim>
                                    <p:animEffect transition="in" filter="fade">
                                      <p:cBhvr>
                                        <p:cTn id="54" dur="500"/>
                                        <p:tgtEl>
                                          <p:spTgt spid="11"/>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ppt_x</p:attrName>
                                        </p:attrNameLst>
                                      </p:cBhvr>
                                      <p:tavLst>
                                        <p:tav tm="0">
                                          <p:val>
                                            <p:strVal val="#ppt_x"/>
                                          </p:val>
                                        </p:tav>
                                        <p:tav tm="100000">
                                          <p:val>
                                            <p:strVal val="#ppt_x"/>
                                          </p:val>
                                        </p:tav>
                                      </p:tavLst>
                                    </p:anim>
                                    <p:anim calcmode="lin" valueType="num">
                                      <p:cBhvr additive="base">
                                        <p:cTn id="58" dur="500" fill="hold"/>
                                        <p:tgtEl>
                                          <p:spTgt spid="12"/>
                                        </p:tgtEl>
                                        <p:attrNameLst>
                                          <p:attrName>ppt_y</p:attrName>
                                        </p:attrNameLst>
                                      </p:cBhvr>
                                      <p:tavLst>
                                        <p:tav tm="0">
                                          <p:val>
                                            <p:strVal val="#ppt_y+.04"/>
                                          </p:val>
                                        </p:tav>
                                        <p:tav tm="100000">
                                          <p:val>
                                            <p:strVal val="#ppt_y"/>
                                          </p:val>
                                        </p:tav>
                                      </p:tavLst>
                                    </p:anim>
                                    <p:animEffect transition="in" filter="fade">
                                      <p:cBhvr>
                                        <p:cTn id="59" dur="500"/>
                                        <p:tgtEl>
                                          <p:spTgt spid="12"/>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ppt_y+.04"/>
                                          </p:val>
                                        </p:tav>
                                        <p:tav tm="100000">
                                          <p:val>
                                            <p:strVal val="#ppt_y"/>
                                          </p:val>
                                        </p:tav>
                                      </p:tavLst>
                                    </p:anim>
                                    <p:animEffect transition="in" filter="fade">
                                      <p:cBhvr>
                                        <p:cTn id="64" dur="500"/>
                                        <p:tgtEl>
                                          <p:spTgt spid="13"/>
                                        </p:tgtEl>
                                      </p:cBhvr>
                                    </p:animEffect>
                                  </p:childTnLst>
                                </p:cTn>
                              </p:par>
                              <p:par>
                                <p:cTn id="65" presetID="42" presetClass="entr" presetSubtype="0" fill="hold" nodeType="withEffect">
                                  <p:stCondLst>
                                    <p:cond delay="66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ppt_x"/>
                                          </p:val>
                                        </p:tav>
                                        <p:tav tm="100000">
                                          <p:val>
                                            <p:strVal val="#ppt_x"/>
                                          </p:val>
                                        </p:tav>
                                      </p:tavLst>
                                    </p:anim>
                                    <p:anim calcmode="lin" valueType="num">
                                      <p:cBhvr additive="base">
                                        <p:cTn id="68" dur="500" fill="hold"/>
                                        <p:tgtEl>
                                          <p:spTgt spid="14"/>
                                        </p:tgtEl>
                                        <p:attrNameLst>
                                          <p:attrName>ppt_y</p:attrName>
                                        </p:attrNameLst>
                                      </p:cBhvr>
                                      <p:tavLst>
                                        <p:tav tm="0">
                                          <p:val>
                                            <p:strVal val="#ppt_y+.04"/>
                                          </p:val>
                                        </p:tav>
                                        <p:tav tm="100000">
                                          <p:val>
                                            <p:strVal val="#ppt_y"/>
                                          </p:val>
                                        </p:tav>
                                      </p:tavLst>
                                    </p:anim>
                                    <p:animEffect transition="in" filter="fade">
                                      <p:cBhvr>
                                        <p:cTn id="69" dur="500"/>
                                        <p:tgtEl>
                                          <p:spTgt spid="14"/>
                                        </p:tgtEl>
                                      </p:cBhvr>
                                    </p:animEffect>
                                  </p:childTnLst>
                                </p:cTn>
                              </p:par>
                              <p:par>
                                <p:cTn id="70" presetID="42" presetClass="entr" presetSubtype="0" fill="hold" grpId="0" nodeType="withEffect">
                                  <p:stCondLst>
                                    <p:cond delay="66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ppt_y+.04"/>
                                          </p:val>
                                        </p:tav>
                                        <p:tav tm="100000">
                                          <p:val>
                                            <p:strVal val="#ppt_y"/>
                                          </p:val>
                                        </p:tav>
                                      </p:tavLst>
                                    </p:anim>
                                    <p:animEffect transition="in" filter="fade">
                                      <p:cBhvr>
                                        <p:cTn id="74" dur="500"/>
                                        <p:tgtEl>
                                          <p:spTgt spid="15"/>
                                        </p:tgtEl>
                                      </p:cBhvr>
                                    </p:animEffect>
                                  </p:childTnLst>
                                </p:cTn>
                              </p:par>
                              <p:par>
                                <p:cTn id="75" presetID="42" presetClass="entr" presetSubtype="0" fill="hold" grpId="0" nodeType="withEffect">
                                  <p:stCondLst>
                                    <p:cond delay="88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ppt_y+.04"/>
                                          </p:val>
                                        </p:tav>
                                        <p:tav tm="100000">
                                          <p:val>
                                            <p:strVal val="#ppt_y"/>
                                          </p:val>
                                        </p:tav>
                                      </p:tavLst>
                                    </p:anim>
                                    <p:animEffect transition="in" filter="fade">
                                      <p:cBhvr>
                                        <p:cTn id="79" dur="500"/>
                                        <p:tgtEl>
                                          <p:spTgt spid="16"/>
                                        </p:tgtEl>
                                      </p:cBhvr>
                                    </p:animEffect>
                                  </p:childTnLst>
                                </p:cTn>
                              </p:par>
                              <p:par>
                                <p:cTn id="80" presetID="42" presetClass="entr" presetSubtype="0" fill="hold" grpId="0" nodeType="withEffect">
                                  <p:stCondLst>
                                    <p:cond delay="880"/>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500" fill="hold"/>
                                        <p:tgtEl>
                                          <p:spTgt spid="17"/>
                                        </p:tgtEl>
                                        <p:attrNameLst>
                                          <p:attrName>ppt_x</p:attrName>
                                        </p:attrNameLst>
                                      </p:cBhvr>
                                      <p:tavLst>
                                        <p:tav tm="0">
                                          <p:val>
                                            <p:strVal val="#ppt_x"/>
                                          </p:val>
                                        </p:tav>
                                        <p:tav tm="100000">
                                          <p:val>
                                            <p:strVal val="#ppt_x"/>
                                          </p:val>
                                        </p:tav>
                                      </p:tavLst>
                                    </p:anim>
                                    <p:anim calcmode="lin" valueType="num">
                                      <p:cBhvr additive="base">
                                        <p:cTn id="83" dur="500" fill="hold"/>
                                        <p:tgtEl>
                                          <p:spTgt spid="17"/>
                                        </p:tgtEl>
                                        <p:attrNameLst>
                                          <p:attrName>ppt_y</p:attrName>
                                        </p:attrNameLst>
                                      </p:cBhvr>
                                      <p:tavLst>
                                        <p:tav tm="0">
                                          <p:val>
                                            <p:strVal val="#ppt_y+.04"/>
                                          </p:val>
                                        </p:tav>
                                        <p:tav tm="100000">
                                          <p:val>
                                            <p:strVal val="#ppt_y"/>
                                          </p:val>
                                        </p:tav>
                                      </p:tavLst>
                                    </p:anim>
                                    <p:animEffect transition="in" filter="fade">
                                      <p:cBhvr>
                                        <p:cTn id="8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Lst>
  </p:timing>
</p:sld>
</file>

<file path=ppt/theme/theme1.xml><?xml version="1.0" encoding="utf-8"?>
<a:theme xmlns:a="http://schemas.openxmlformats.org/drawingml/2006/main" name="주택관리공단 공동체 글래스">
  <a:themeElements>
    <a:clrScheme name="주택관리공단 공동체 글래스">
      <a:dk1>
        <a:srgbClr val="16263A"/>
      </a:dk1>
      <a:lt1>
        <a:srgbClr val="FFFFFF"/>
      </a:lt1>
      <a:dk2>
        <a:srgbClr val="0F64AF"/>
      </a:dk2>
      <a:lt2>
        <a:srgbClr val="EAF3FB"/>
      </a:lt2>
      <a:accent1>
        <a:srgbClr val="0F64AF"/>
      </a:accent1>
      <a:accent2>
        <a:srgbClr val="41AF32"/>
      </a:accent2>
      <a:accent3>
        <a:srgbClr val="0A3F73"/>
      </a:accent3>
      <a:accent4>
        <a:srgbClr val="EEF8EC"/>
      </a:accent4>
      <a:accent5>
        <a:srgbClr val="5B6B7C"/>
      </a:accent5>
      <a:accent6>
        <a:srgbClr val="F4F8FC"/>
      </a:accent6>
      <a:hlink>
        <a:srgbClr val="0F64AF"/>
      </a:hlink>
      <a:folHlink>
        <a:srgbClr val="0A3F73"/>
      </a:folHlink>
    </a:clrScheme>
    <a:fontScheme name="주택관리공단 공동체 글래스">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2026년 주민주도 문제해결 대표 사례 - 민원소외세대 쪽지함 설치</dc:title>
  <dc:subject>PptxGenJS Presentation</dc:subject>
  <dc:creator>주택관리공단 괴산증평3</dc:creator>
  <cp:lastModifiedBy>주택관리공단 괴산증평3</cp:lastModifiedBy>
  <cp:revision>1</cp:revision>
  <dcterms:created xsi:type="dcterms:W3CDTF">2026-10-08T05:17:06Z</dcterms:created>
  <dcterms:modified xsi:type="dcterms:W3CDTF">2026-10-08T05:17:06Z</dcterms:modified>
</cp:coreProperties>
</file>